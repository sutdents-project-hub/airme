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78"/>
  </p:normalViewPr>
  <p:slideViewPr>
    <p:cSldViewPr snapToGrid="0">
      <p:cViewPr varScale="1">
        <p:scale>
          <a:sx n="150" d="100"/>
          <a:sy n="150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直線接點 37">
            <a:extLst>
              <a:ext uri="{FF2B5EF4-FFF2-40B4-BE49-F238E27FC236}">
                <a16:creationId xmlns:a16="http://schemas.microsoft.com/office/drawing/2014/main" id="{FA10E9F6-7A35-464D-B7BB-CB2680631F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" name="直線接點 1">
            <a:extLst>
              <a:ext uri="{FF2B5EF4-FFF2-40B4-BE49-F238E27FC236}">
                <a16:creationId xmlns:a16="http://schemas.microsoft.com/office/drawing/2014/main" id="{295AEB13-458C-4825-9CF1-8C96C547F274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23DFB51D-2F6F-43A5-8CF6-166D33B9BBB7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D2308EE3-86D4-4FFA-B125-AD567A2BE445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5" name="直線接點 4">
            <a:extLst>
              <a:ext uri="{FF2B5EF4-FFF2-40B4-BE49-F238E27FC236}">
                <a16:creationId xmlns:a16="http://schemas.microsoft.com/office/drawing/2014/main" id="{1B25B3AF-EDBC-4D35-BFE9-87C546834407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6" name="直線接點 5">
            <a:extLst>
              <a:ext uri="{FF2B5EF4-FFF2-40B4-BE49-F238E27FC236}">
                <a16:creationId xmlns:a16="http://schemas.microsoft.com/office/drawing/2014/main" id="{6398051A-049E-436B-8469-4D7DE810C00E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7" name="直線接點 6">
            <a:extLst>
              <a:ext uri="{FF2B5EF4-FFF2-40B4-BE49-F238E27FC236}">
                <a16:creationId xmlns:a16="http://schemas.microsoft.com/office/drawing/2014/main" id="{31BF587B-C8A2-4552-B79C-A9F52036A017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8" name="直線接點 7">
            <a:extLst>
              <a:ext uri="{FF2B5EF4-FFF2-40B4-BE49-F238E27FC236}">
                <a16:creationId xmlns:a16="http://schemas.microsoft.com/office/drawing/2014/main" id="{E0AC790F-81E1-4F4C-A0AB-DBE7A464FB3C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9" name="直線接點 8">
            <a:extLst>
              <a:ext uri="{FF2B5EF4-FFF2-40B4-BE49-F238E27FC236}">
                <a16:creationId xmlns:a16="http://schemas.microsoft.com/office/drawing/2014/main" id="{937B3CCF-985C-4594-B44A-B6F7D8830280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E2E54D11-6555-47FF-B81C-010D1E2CC604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1" name="直線接點 10">
            <a:extLst>
              <a:ext uri="{FF2B5EF4-FFF2-40B4-BE49-F238E27FC236}">
                <a16:creationId xmlns:a16="http://schemas.microsoft.com/office/drawing/2014/main" id="{D90E062D-9839-4122-89A7-06B89B750A5B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2" name="直線接點 11">
            <a:extLst>
              <a:ext uri="{FF2B5EF4-FFF2-40B4-BE49-F238E27FC236}">
                <a16:creationId xmlns:a16="http://schemas.microsoft.com/office/drawing/2014/main" id="{E9D88D06-98A5-47BA-B149-642B3E3F3B05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3" name="直線接點 12">
            <a:extLst>
              <a:ext uri="{FF2B5EF4-FFF2-40B4-BE49-F238E27FC236}">
                <a16:creationId xmlns:a16="http://schemas.microsoft.com/office/drawing/2014/main" id="{99D6DF1B-EF3F-4A26-B164-2F083189F81A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4" name="直線接點 13">
            <a:extLst>
              <a:ext uri="{FF2B5EF4-FFF2-40B4-BE49-F238E27FC236}">
                <a16:creationId xmlns:a16="http://schemas.microsoft.com/office/drawing/2014/main" id="{DBEDA5C5-F7DB-4803-B5DA-909AB0BCB25D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5" name="直線接點 14">
            <a:extLst>
              <a:ext uri="{FF2B5EF4-FFF2-40B4-BE49-F238E27FC236}">
                <a16:creationId xmlns:a16="http://schemas.microsoft.com/office/drawing/2014/main" id="{59E986DE-FDF5-40C4-9AF0-EF9C4C441B13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4E1F40C3-895A-4A27-BB3D-D862B7EE487F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7" name="直線接點 16">
            <a:extLst>
              <a:ext uri="{FF2B5EF4-FFF2-40B4-BE49-F238E27FC236}">
                <a16:creationId xmlns:a16="http://schemas.microsoft.com/office/drawing/2014/main" id="{891BF79F-3848-423C-AB6F-87791788A882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8" name="直線接點 17">
            <a:extLst>
              <a:ext uri="{FF2B5EF4-FFF2-40B4-BE49-F238E27FC236}">
                <a16:creationId xmlns:a16="http://schemas.microsoft.com/office/drawing/2014/main" id="{59B3D7D3-E5E8-4610-AC22-8444EA3B79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9" name="直線接點 18">
            <a:extLst>
              <a:ext uri="{FF2B5EF4-FFF2-40B4-BE49-F238E27FC236}">
                <a16:creationId xmlns:a16="http://schemas.microsoft.com/office/drawing/2014/main" id="{21949B16-2220-495F-87E7-01FD332A162C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0" name="直線接點 19">
            <a:extLst>
              <a:ext uri="{FF2B5EF4-FFF2-40B4-BE49-F238E27FC236}">
                <a16:creationId xmlns:a16="http://schemas.microsoft.com/office/drawing/2014/main" id="{81742823-86CD-4B1E-8D35-C46C91E13D83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1" name="直線接點 20">
            <a:extLst>
              <a:ext uri="{FF2B5EF4-FFF2-40B4-BE49-F238E27FC236}">
                <a16:creationId xmlns:a16="http://schemas.microsoft.com/office/drawing/2014/main" id="{0D6E398F-963E-4B89-AE68-C2F0F9D78309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2" name="直線接點 21">
            <a:extLst>
              <a:ext uri="{FF2B5EF4-FFF2-40B4-BE49-F238E27FC236}">
                <a16:creationId xmlns:a16="http://schemas.microsoft.com/office/drawing/2014/main" id="{057DBC60-BEA3-435A-8696-9FBAECEB3BE7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3" name="直線接點 22">
            <a:extLst>
              <a:ext uri="{FF2B5EF4-FFF2-40B4-BE49-F238E27FC236}">
                <a16:creationId xmlns:a16="http://schemas.microsoft.com/office/drawing/2014/main" id="{E491CDC9-0ACA-4BD4-BAED-20A3F5A6EC37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E92A2675-1335-4675-9D34-02C097DA0AAA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5" name="直線接點 24">
            <a:extLst>
              <a:ext uri="{FF2B5EF4-FFF2-40B4-BE49-F238E27FC236}">
                <a16:creationId xmlns:a16="http://schemas.microsoft.com/office/drawing/2014/main" id="{086C8DEE-2881-4D72-9573-8D1C0464D7E3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6" name="直線接點 25">
            <a:extLst>
              <a:ext uri="{FF2B5EF4-FFF2-40B4-BE49-F238E27FC236}">
                <a16:creationId xmlns:a16="http://schemas.microsoft.com/office/drawing/2014/main" id="{F997DE22-1E76-4CEA-9585-A198A46AE09B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7" name="直線接點 26">
            <a:extLst>
              <a:ext uri="{FF2B5EF4-FFF2-40B4-BE49-F238E27FC236}">
                <a16:creationId xmlns:a16="http://schemas.microsoft.com/office/drawing/2014/main" id="{75078A90-3B4E-4ADE-89D8-47D6BAFC861F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8" name="decor-bottom-left">
            <a:extLst>
              <a:ext uri="{FF2B5EF4-FFF2-40B4-BE49-F238E27FC236}">
                <a16:creationId xmlns:a16="http://schemas.microsoft.com/office/drawing/2014/main" id="{92D984F8-E209-4239-9078-A33D3D100515}"/>
              </a:ext>
            </a:extLst>
          </p:cNvPr>
          <p:cNvSpPr>
            <a:spLocks noGrp="1"/>
          </p:cNvSpPr>
          <p:nvPr/>
        </p:nvSpPr>
        <p:spPr>
          <a:xfrm>
            <a:off x="0" y="5619750"/>
            <a:ext cx="1428750" cy="1238250"/>
          </a:xfrm>
          <a:prstGeom prst="ellipse">
            <a:avLst/>
          </a:prstGeom>
          <a:solidFill>
            <a:srgbClr val="DDF4E7"/>
          </a:solidFill>
          <a:ln w="0">
            <a:noFill/>
            <a:prstDash val="solid"/>
          </a:ln>
        </p:spPr>
      </p:sp>
      <p:sp>
        <p:nvSpPr>
          <p:cNvPr id="29" name="decor-top-right">
            <a:extLst>
              <a:ext uri="{FF2B5EF4-FFF2-40B4-BE49-F238E27FC236}">
                <a16:creationId xmlns:a16="http://schemas.microsoft.com/office/drawing/2014/main" id="{4B6822EC-0D2E-41F4-93E4-04CB8939E65E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1143000" cy="1428750"/>
          </a:xfrm>
          <a:prstGeom prst="ellipse">
            <a:avLst/>
          </a:prstGeom>
          <a:solidFill>
            <a:srgbClr val="EAF8F0"/>
          </a:solidFill>
          <a:ln w="0">
            <a:noFill/>
            <a:prstDash val="solid"/>
          </a:ln>
        </p:spPr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577E43F5-B9A9-4979-A461-FABE5FFE755B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2362200" cy="400050"/>
          </a:xfrm>
          <a:prstGeom prst="roundRect">
            <a:avLst>
              <a:gd name="adj" fmla="val 50000"/>
            </a:avLst>
          </a:prstGeom>
          <a:solidFill>
            <a:srgbClr val="DDF4E7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35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雛形試作日｜概念驗證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37FA97-CBE9-4D00-B8FF-3F14853BA4C8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AirMe 空氣健康小管家</a:t>
            </a:r>
          </a:p>
        </p:txBody>
      </p:sp>
      <p:sp>
        <p:nvSpPr>
          <p:cNvPr id="32" name="deck-title">
            <a:extLst>
              <a:ext uri="{FF2B5EF4-FFF2-40B4-BE49-F238E27FC236}">
                <a16:creationId xmlns:a16="http://schemas.microsoft.com/office/drawing/2014/main" id="{66FCDDD2-8C55-4342-8E91-A3B09371E194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7239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buNone/>
              <a:defRPr sz="54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核心雲端服務</a:t>
            </a:r>
          </a:p>
          <a:p>
            <a:pPr algn="l">
              <a:lnSpc>
                <a:spcPct val="96000"/>
              </a:lnSpc>
              <a:buNone/>
              <a:defRPr sz="54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概念驗證報告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A46974-5ACE-405C-97F3-1553BFE28671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666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950" b="0">
                <a:solidFill>
                  <a:srgbClr val="5F7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F7669"/>
                </a:solidFill>
                <a:latin typeface="Arial Unicode MS"/>
                <a:ea typeface="Arial Unicode MS"/>
                <a:cs typeface="Arial Unicode MS"/>
              </a:rPr>
              <a:t>從活動描述、官方環境資料到受安全底線約束的行動卡</a:t>
            </a:r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14400693-EB61-415C-90DA-599505E1AD82}"/>
              </a:ext>
            </a:extLst>
          </p:cNvPr>
          <p:cNvSpPr>
            <a:spLocks noGrp="1"/>
          </p:cNvSpPr>
          <p:nvPr/>
        </p:nvSpPr>
        <p:spPr>
          <a:xfrm>
            <a:off x="647700" y="5000625"/>
            <a:ext cx="638175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1FE47C0-5647-42FA-AADE-B82E60850F64}"/>
              </a:ext>
            </a:extLst>
          </p:cNvPr>
          <p:cNvSpPr>
            <a:spLocks noGrp="1"/>
          </p:cNvSpPr>
          <p:nvPr/>
        </p:nvSpPr>
        <p:spPr>
          <a:xfrm>
            <a:off x="895350" y="5210175"/>
            <a:ext cx="590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PoC 核心：AI 先理解情境，再由規則與 Schema 把輸出收斂成可執行、可追溯、可拒答的方案。</a:t>
            </a:r>
          </a:p>
        </p:txBody>
      </p:sp>
      <p:pic>
        <p:nvPicPr>
          <p:cNvPr id="73" name="圖片 7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39125" y="1600200"/>
            <a:ext cx="2667000" cy="2667000"/>
          </a:xfrm>
          <a:prstGeom prst="roundRect">
            <a:avLst>
              <a:gd name="adj" fmla="val 8571"/>
            </a:avLst>
          </a:prstGeom>
        </p:spPr>
      </p:pic>
      <p:sp>
        <p:nvSpPr>
          <p:cNvPr id="37" name="圓角矩形 36">
            <a:extLst>
              <a:ext uri="{FF2B5EF4-FFF2-40B4-BE49-F238E27FC236}">
                <a16:creationId xmlns:a16="http://schemas.microsoft.com/office/drawing/2014/main" id="{E971AC86-AE53-4B04-9DC7-CCBE2E7DA5C4}"/>
              </a:ext>
            </a:extLst>
          </p:cNvPr>
          <p:cNvSpPr>
            <a:spLocks noGrp="1"/>
          </p:cNvSpPr>
          <p:nvPr/>
        </p:nvSpPr>
        <p:spPr>
          <a:xfrm>
            <a:off x="8172450" y="4667250"/>
            <a:ext cx="2819400" cy="457200"/>
          </a:xfrm>
          <a:prstGeom prst="roundRect">
            <a:avLst>
              <a:gd name="adj" fmla="val 50000"/>
            </a:avLst>
          </a:prstGeom>
          <a:solidFill>
            <a:srgbClr val="FFF0B8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500" b="1">
                <a:solidFill>
                  <a:srgbClr val="1456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4563A"/>
                </a:solidFill>
                <a:latin typeface="Arial Unicode MS"/>
                <a:ea typeface="Arial Unicode MS"/>
                <a:cs typeface="Arial Unicode MS"/>
              </a:rPr>
              <a:t>AI × 空品 × 行動安全</a:t>
            </a:r>
          </a:p>
        </p:txBody>
      </p:sp>
    </p:spTree>
    <p:extLst>
      <p:ext uri="{BB962C8B-B14F-4D97-AF65-F5344CB8AC3E}">
        <p14:creationId xmlns:p14="http://schemas.microsoft.com/office/powerpoint/2010/main" val="1293343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直線接點 57">
            <a:extLst>
              <a:ext uri="{FF2B5EF4-FFF2-40B4-BE49-F238E27FC236}">
                <a16:creationId xmlns:a16="http://schemas.microsoft.com/office/drawing/2014/main" id="{410D3CE6-E647-46E2-B6F3-126B1BD84D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" name="直線接點 1">
            <a:extLst>
              <a:ext uri="{FF2B5EF4-FFF2-40B4-BE49-F238E27FC236}">
                <a16:creationId xmlns:a16="http://schemas.microsoft.com/office/drawing/2014/main" id="{595FBE57-E8B4-41D9-A4E7-4A1A1A287759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E47A84F8-D7C4-41A2-BCA0-724092183F8B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24C45E3D-C6E5-4F81-89AA-7D15296D439F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5" name="直線接點 4">
            <a:extLst>
              <a:ext uri="{FF2B5EF4-FFF2-40B4-BE49-F238E27FC236}">
                <a16:creationId xmlns:a16="http://schemas.microsoft.com/office/drawing/2014/main" id="{4D4FB565-7D52-4368-9F54-D7F6A8017541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6" name="直線接點 5">
            <a:extLst>
              <a:ext uri="{FF2B5EF4-FFF2-40B4-BE49-F238E27FC236}">
                <a16:creationId xmlns:a16="http://schemas.microsoft.com/office/drawing/2014/main" id="{AE4BC83E-80BE-42BC-9EDC-0BE0F43B8FAE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7" name="直線接點 6">
            <a:extLst>
              <a:ext uri="{FF2B5EF4-FFF2-40B4-BE49-F238E27FC236}">
                <a16:creationId xmlns:a16="http://schemas.microsoft.com/office/drawing/2014/main" id="{7904FAEC-0E8D-4D3C-83EA-D2D7FC548F45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8" name="直線接點 7">
            <a:extLst>
              <a:ext uri="{FF2B5EF4-FFF2-40B4-BE49-F238E27FC236}">
                <a16:creationId xmlns:a16="http://schemas.microsoft.com/office/drawing/2014/main" id="{58CD78BA-7EB8-4AE1-90BB-F54FC6A33174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9" name="直線接點 8">
            <a:extLst>
              <a:ext uri="{FF2B5EF4-FFF2-40B4-BE49-F238E27FC236}">
                <a16:creationId xmlns:a16="http://schemas.microsoft.com/office/drawing/2014/main" id="{A8E8257C-AE10-48CC-B2E1-947EF7866080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421CF2CB-821A-43B3-8180-6D67155705DB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1" name="直線接點 10">
            <a:extLst>
              <a:ext uri="{FF2B5EF4-FFF2-40B4-BE49-F238E27FC236}">
                <a16:creationId xmlns:a16="http://schemas.microsoft.com/office/drawing/2014/main" id="{190A0A39-8CA5-4F63-9E77-A09F039B0989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2" name="直線接點 11">
            <a:extLst>
              <a:ext uri="{FF2B5EF4-FFF2-40B4-BE49-F238E27FC236}">
                <a16:creationId xmlns:a16="http://schemas.microsoft.com/office/drawing/2014/main" id="{89DE2FFD-542A-41DE-A935-95CF18D6A0A9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3" name="直線接點 12">
            <a:extLst>
              <a:ext uri="{FF2B5EF4-FFF2-40B4-BE49-F238E27FC236}">
                <a16:creationId xmlns:a16="http://schemas.microsoft.com/office/drawing/2014/main" id="{FA8CA9C8-9E69-4B1C-856C-AB7EFBDBA647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4" name="直線接點 13">
            <a:extLst>
              <a:ext uri="{FF2B5EF4-FFF2-40B4-BE49-F238E27FC236}">
                <a16:creationId xmlns:a16="http://schemas.microsoft.com/office/drawing/2014/main" id="{6D94853B-3128-4E8F-8B56-BE713E8E84BA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5" name="直線接點 14">
            <a:extLst>
              <a:ext uri="{FF2B5EF4-FFF2-40B4-BE49-F238E27FC236}">
                <a16:creationId xmlns:a16="http://schemas.microsoft.com/office/drawing/2014/main" id="{0A33B634-EB48-428C-BEC9-7C831AB85007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4AE3773B-AFCB-4A59-8758-3F6856725D66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7" name="直線接點 16">
            <a:extLst>
              <a:ext uri="{FF2B5EF4-FFF2-40B4-BE49-F238E27FC236}">
                <a16:creationId xmlns:a16="http://schemas.microsoft.com/office/drawing/2014/main" id="{B1274BCB-D00D-494C-854B-1C6D5E8F7F75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8" name="直線接點 17">
            <a:extLst>
              <a:ext uri="{FF2B5EF4-FFF2-40B4-BE49-F238E27FC236}">
                <a16:creationId xmlns:a16="http://schemas.microsoft.com/office/drawing/2014/main" id="{F91B08FB-2EB6-4D45-B2AC-5F80F413F6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9" name="直線接點 18">
            <a:extLst>
              <a:ext uri="{FF2B5EF4-FFF2-40B4-BE49-F238E27FC236}">
                <a16:creationId xmlns:a16="http://schemas.microsoft.com/office/drawing/2014/main" id="{E96A0FD0-CC13-4CA7-BEC3-75132F6291E5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0" name="直線接點 19">
            <a:extLst>
              <a:ext uri="{FF2B5EF4-FFF2-40B4-BE49-F238E27FC236}">
                <a16:creationId xmlns:a16="http://schemas.microsoft.com/office/drawing/2014/main" id="{B89DEB55-59D4-428D-A567-B10905FA2099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1" name="直線接點 20">
            <a:extLst>
              <a:ext uri="{FF2B5EF4-FFF2-40B4-BE49-F238E27FC236}">
                <a16:creationId xmlns:a16="http://schemas.microsoft.com/office/drawing/2014/main" id="{8434B2F1-2219-4912-9157-F7263120DBD7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2" name="直線接點 21">
            <a:extLst>
              <a:ext uri="{FF2B5EF4-FFF2-40B4-BE49-F238E27FC236}">
                <a16:creationId xmlns:a16="http://schemas.microsoft.com/office/drawing/2014/main" id="{DF327D57-93DE-4B0E-811C-29AAE760A23B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3" name="直線接點 22">
            <a:extLst>
              <a:ext uri="{FF2B5EF4-FFF2-40B4-BE49-F238E27FC236}">
                <a16:creationId xmlns:a16="http://schemas.microsoft.com/office/drawing/2014/main" id="{A5A894F2-ACB5-4811-AEB9-84A7D746BD34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6088F672-70DF-4177-A895-5A9EABB18BB9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5" name="直線接點 24">
            <a:extLst>
              <a:ext uri="{FF2B5EF4-FFF2-40B4-BE49-F238E27FC236}">
                <a16:creationId xmlns:a16="http://schemas.microsoft.com/office/drawing/2014/main" id="{C8ACE7E4-F784-433D-AA69-CA411A282B23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6" name="直線接點 25">
            <a:extLst>
              <a:ext uri="{FF2B5EF4-FFF2-40B4-BE49-F238E27FC236}">
                <a16:creationId xmlns:a16="http://schemas.microsoft.com/office/drawing/2014/main" id="{90F84204-4B2E-45CB-8573-1E074B332FC3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7" name="直線接點 26">
            <a:extLst>
              <a:ext uri="{FF2B5EF4-FFF2-40B4-BE49-F238E27FC236}">
                <a16:creationId xmlns:a16="http://schemas.microsoft.com/office/drawing/2014/main" id="{A7D8F5E4-CA56-4A3F-82DC-A26ED21CD4B4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8" name="decor-bottom-left">
            <a:extLst>
              <a:ext uri="{FF2B5EF4-FFF2-40B4-BE49-F238E27FC236}">
                <a16:creationId xmlns:a16="http://schemas.microsoft.com/office/drawing/2014/main" id="{B3C0810D-E8EE-4BB6-8B31-1173229E1771}"/>
              </a:ext>
            </a:extLst>
          </p:cNvPr>
          <p:cNvSpPr>
            <a:spLocks noGrp="1"/>
          </p:cNvSpPr>
          <p:nvPr/>
        </p:nvSpPr>
        <p:spPr>
          <a:xfrm>
            <a:off x="0" y="5619750"/>
            <a:ext cx="1428750" cy="1238250"/>
          </a:xfrm>
          <a:prstGeom prst="ellipse">
            <a:avLst/>
          </a:prstGeom>
          <a:solidFill>
            <a:srgbClr val="DDF4E7"/>
          </a:solidFill>
          <a:ln w="0">
            <a:noFill/>
            <a:prstDash val="solid"/>
          </a:ln>
        </p:spPr>
      </p:sp>
      <p:sp>
        <p:nvSpPr>
          <p:cNvPr id="29" name="decor-top-right">
            <a:extLst>
              <a:ext uri="{FF2B5EF4-FFF2-40B4-BE49-F238E27FC236}">
                <a16:creationId xmlns:a16="http://schemas.microsoft.com/office/drawing/2014/main" id="{38875AA6-AA51-4187-915E-8EEEC67C61BC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1143000" cy="1428750"/>
          </a:xfrm>
          <a:prstGeom prst="ellipse">
            <a:avLst/>
          </a:prstGeom>
          <a:solidFill>
            <a:srgbClr val="EAF8F0"/>
          </a:solidFill>
          <a:ln w="0">
            <a:noFill/>
            <a:prstDash val="solid"/>
          </a:ln>
        </p:spPr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AE6C6983-8D48-4F0F-923D-A3752B679D76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DDF4E7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POC CHECKLIST</a:t>
            </a:r>
          </a:p>
        </p:txBody>
      </p:sp>
      <p:sp>
        <p:nvSpPr>
          <p:cNvPr id="31" name="slide-title">
            <a:extLst>
              <a:ext uri="{FF2B5EF4-FFF2-40B4-BE49-F238E27FC236}">
                <a16:creationId xmlns:a16="http://schemas.microsoft.com/office/drawing/2014/main" id="{F2A1331B-E8A0-434C-8024-557B10B2E0D5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四項服務組成最短可驗證路徑</a:t>
            </a: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BA320ACD-3D5F-4999-9B41-B5702104E37A}"/>
              </a:ext>
            </a:extLst>
          </p:cNvPr>
          <p:cNvSpPr>
            <a:spLocks noGrp="1"/>
          </p:cNvSpPr>
          <p:nvPr/>
        </p:nvSpPr>
        <p:spPr>
          <a:xfrm>
            <a:off x="571500" y="1438275"/>
            <a:ext cx="800100" cy="57150"/>
          </a:xfrm>
          <a:prstGeom prst="roundRect">
            <a:avLst>
              <a:gd name="adj" fmla="val 50000"/>
            </a:avLst>
          </a:prstGeom>
          <a:solidFill>
            <a:srgbClr val="237A50"/>
          </a:solidFill>
          <a:ln w="0">
            <a:noFill/>
            <a:prstDash val="solid"/>
          </a:ln>
        </p:spPr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0D0C6BBA-4A49-4CE6-BC53-917E0A7BAC40}"/>
              </a:ext>
            </a:extLst>
          </p:cNvPr>
          <p:cNvSpPr>
            <a:spLocks noGrp="1"/>
          </p:cNvSpPr>
          <p:nvPr/>
        </p:nvSpPr>
        <p:spPr>
          <a:xfrm>
            <a:off x="1466850" y="1438275"/>
            <a:ext cx="266700" cy="57150"/>
          </a:xfrm>
          <a:prstGeom prst="roundRect">
            <a:avLst>
              <a:gd name="adj" fmla="val 50000"/>
            </a:avLst>
          </a:prstGeom>
          <a:solidFill>
            <a:srgbClr val="9FD9B9"/>
          </a:solidFill>
          <a:ln w="0">
            <a:noFill/>
            <a:prstDash val="solid"/>
          </a:ln>
        </p:spPr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E5B0B263-0393-492F-9A2C-10ED4AB08148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715250" cy="8001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82DEB605-EA38-46B9-A060-531F36C9C6A0}"/>
              </a:ext>
            </a:extLst>
          </p:cNvPr>
          <p:cNvSpPr>
            <a:spLocks noGrp="1"/>
          </p:cNvSpPr>
          <p:nvPr/>
        </p:nvSpPr>
        <p:spPr>
          <a:xfrm>
            <a:off x="742950" y="1981200"/>
            <a:ext cx="590550" cy="457200"/>
          </a:xfrm>
          <a:prstGeom prst="roundRect">
            <a:avLst>
              <a:gd name="adj" fmla="val 50000"/>
            </a:avLst>
          </a:prstGeom>
          <a:solidFill>
            <a:srgbClr val="DDF4E7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35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9A94AEA-C0DC-41D5-9765-1AA38D27CCBD}"/>
              </a:ext>
            </a:extLst>
          </p:cNvPr>
          <p:cNvSpPr>
            <a:spLocks noGrp="1"/>
          </p:cNvSpPr>
          <p:nvPr/>
        </p:nvSpPr>
        <p:spPr>
          <a:xfrm>
            <a:off x="1562100" y="1933575"/>
            <a:ext cx="6429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Azure OpenAI Service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C52415D-4233-465F-8F1D-50C30F43D0CD}"/>
              </a:ext>
            </a:extLst>
          </p:cNvPr>
          <p:cNvSpPr>
            <a:spLocks noGrp="1"/>
          </p:cNvSpPr>
          <p:nvPr/>
        </p:nvSpPr>
        <p:spPr>
          <a:xfrm>
            <a:off x="1562100" y="2266950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5F7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F7669"/>
                </a:solidFill>
                <a:latin typeface="Arial Unicode MS"/>
                <a:ea typeface="Arial Unicode MS"/>
                <a:cs typeface="Arial Unicode MS"/>
              </a:rPr>
              <a:t>理解活動情境，產生固定格式行動卡與限定追問</a:t>
            </a:r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A8588F11-1D12-47B9-BC98-38077B24FB25}"/>
              </a:ext>
            </a:extLst>
          </p:cNvPr>
          <p:cNvSpPr>
            <a:spLocks noGrp="1"/>
          </p:cNvSpPr>
          <p:nvPr/>
        </p:nvSpPr>
        <p:spPr>
          <a:xfrm>
            <a:off x="571500" y="2809875"/>
            <a:ext cx="7715250" cy="8001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5344042F-ED1B-47D2-8F32-76CF814662A5}"/>
              </a:ext>
            </a:extLst>
          </p:cNvPr>
          <p:cNvSpPr>
            <a:spLocks noGrp="1"/>
          </p:cNvSpPr>
          <p:nvPr/>
        </p:nvSpPr>
        <p:spPr>
          <a:xfrm>
            <a:off x="742950" y="2981325"/>
            <a:ext cx="590550" cy="457200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350" b="1">
                <a:solidFill>
                  <a:srgbClr val="246B9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46B91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D47E41D-B781-4B72-98D4-BCD7D7BD25E0}"/>
              </a:ext>
            </a:extLst>
          </p:cNvPr>
          <p:cNvSpPr>
            <a:spLocks noGrp="1"/>
          </p:cNvSpPr>
          <p:nvPr/>
        </p:nvSpPr>
        <p:spPr>
          <a:xfrm>
            <a:off x="1562100" y="2933700"/>
            <a:ext cx="6429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Azure App Service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96E06CB-483C-49C9-B7B3-512475DF1D6D}"/>
              </a:ext>
            </a:extLst>
          </p:cNvPr>
          <p:cNvSpPr>
            <a:spLocks noGrp="1"/>
          </p:cNvSpPr>
          <p:nvPr/>
        </p:nvSpPr>
        <p:spPr>
          <a:xfrm>
            <a:off x="1562100" y="3267075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5F7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F7669"/>
                </a:solidFill>
                <a:latin typeface="Arial Unicode MS"/>
                <a:ea typeface="Arial Unicode MS"/>
                <a:cs typeface="Arial Unicode MS"/>
              </a:rPr>
              <a:t>承接 Web／App 共用的 Fastify API 與安全邊界</a:t>
            </a:r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739929A6-61FD-4C67-B4CC-C30F93EA90DA}"/>
              </a:ext>
            </a:extLst>
          </p:cNvPr>
          <p:cNvSpPr>
            <a:spLocks noGrp="1"/>
          </p:cNvSpPr>
          <p:nvPr/>
        </p:nvSpPr>
        <p:spPr>
          <a:xfrm>
            <a:off x="571500" y="3810000"/>
            <a:ext cx="7715250" cy="8001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3FE02B28-B9DD-4D59-9FB2-6D6AEC69842F}"/>
              </a:ext>
            </a:extLst>
          </p:cNvPr>
          <p:cNvSpPr>
            <a:spLocks noGrp="1"/>
          </p:cNvSpPr>
          <p:nvPr/>
        </p:nvSpPr>
        <p:spPr>
          <a:xfrm>
            <a:off x="742950" y="3981450"/>
            <a:ext cx="590550" cy="457200"/>
          </a:xfrm>
          <a:prstGeom prst="roundRect">
            <a:avLst>
              <a:gd name="adj" fmla="val 50000"/>
            </a:avLst>
          </a:prstGeom>
          <a:solidFill>
            <a:srgbClr val="FFF0B8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350" b="1">
                <a:solidFill>
                  <a:srgbClr val="D89B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D89B18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3B20351-025E-4690-A317-AEBD81EFD27D}"/>
              </a:ext>
            </a:extLst>
          </p:cNvPr>
          <p:cNvSpPr>
            <a:spLocks noGrp="1"/>
          </p:cNvSpPr>
          <p:nvPr/>
        </p:nvSpPr>
        <p:spPr>
          <a:xfrm>
            <a:off x="1562100" y="3933825"/>
            <a:ext cx="6429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Azure Static Web Apps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03BE118-E638-488E-9A18-5565736A707B}"/>
              </a:ext>
            </a:extLst>
          </p:cNvPr>
          <p:cNvSpPr>
            <a:spLocks noGrp="1"/>
          </p:cNvSpPr>
          <p:nvPr/>
        </p:nvSpPr>
        <p:spPr>
          <a:xfrm>
            <a:off x="1562100" y="4267200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5F7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F7669"/>
                </a:solidFill>
                <a:latin typeface="Arial Unicode MS"/>
                <a:ea typeface="Arial Unicode MS"/>
                <a:cs typeface="Arial Unicode MS"/>
              </a:rPr>
              <a:t>只託管 Expo Web 靜態入口；原生 App 不經此服務</a:t>
            </a:r>
          </a:p>
        </p:txBody>
      </p:sp>
      <p:sp>
        <p:nvSpPr>
          <p:cNvPr id="46" name="圓角矩形 45">
            <a:extLst>
              <a:ext uri="{FF2B5EF4-FFF2-40B4-BE49-F238E27FC236}">
                <a16:creationId xmlns:a16="http://schemas.microsoft.com/office/drawing/2014/main" id="{8A140A3E-92D9-4B3F-A594-1CD82BCF0024}"/>
              </a:ext>
            </a:extLst>
          </p:cNvPr>
          <p:cNvSpPr>
            <a:spLocks noGrp="1"/>
          </p:cNvSpPr>
          <p:nvPr/>
        </p:nvSpPr>
        <p:spPr>
          <a:xfrm>
            <a:off x="571500" y="4810125"/>
            <a:ext cx="7715250" cy="8001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7AF166AC-23C6-491B-AE34-71130C8E9CFF}"/>
              </a:ext>
            </a:extLst>
          </p:cNvPr>
          <p:cNvSpPr>
            <a:spLocks noGrp="1"/>
          </p:cNvSpPr>
          <p:nvPr/>
        </p:nvSpPr>
        <p:spPr>
          <a:xfrm>
            <a:off x="742950" y="4981575"/>
            <a:ext cx="590550" cy="457200"/>
          </a:xfrm>
          <a:prstGeom prst="roundRect">
            <a:avLst>
              <a:gd name="adj" fmla="val 50000"/>
            </a:avLst>
          </a:prstGeom>
          <a:solidFill>
            <a:srgbClr val="F7D9CE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350" b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A33A3EB-2109-4884-86BE-461C72766762}"/>
              </a:ext>
            </a:extLst>
          </p:cNvPr>
          <p:cNvSpPr>
            <a:spLocks noGrp="1"/>
          </p:cNvSpPr>
          <p:nvPr/>
        </p:nvSpPr>
        <p:spPr>
          <a:xfrm>
            <a:off x="1562100" y="4933950"/>
            <a:ext cx="6429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Azure Database for PostgreSQL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497FBEE-41C9-42B0-ABB2-3D3E86732DBD}"/>
              </a:ext>
            </a:extLst>
          </p:cNvPr>
          <p:cNvSpPr>
            <a:spLocks noGrp="1"/>
          </p:cNvSpPr>
          <p:nvPr/>
        </p:nvSpPr>
        <p:spPr>
          <a:xfrm>
            <a:off x="1562100" y="5267325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5F7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F7669"/>
                </a:solidFill>
                <a:latin typeface="Arial Unicode MS"/>
                <a:ea typeface="Arial Unicode MS"/>
                <a:cs typeface="Arial Unicode MS"/>
              </a:rPr>
              <a:t>保存共享環境快取與匿名技術事件，不存個人活動</a:t>
            </a:r>
          </a:p>
        </p:txBody>
      </p:sp>
      <p:sp>
        <p:nvSpPr>
          <p:cNvPr id="50" name="圓角矩形 49">
            <a:extLst>
              <a:ext uri="{FF2B5EF4-FFF2-40B4-BE49-F238E27FC236}">
                <a16:creationId xmlns:a16="http://schemas.microsoft.com/office/drawing/2014/main" id="{AA4C373A-B43C-436A-828E-70A63DD351C0}"/>
              </a:ext>
            </a:extLst>
          </p:cNvPr>
          <p:cNvSpPr>
            <a:spLocks noGrp="1"/>
          </p:cNvSpPr>
          <p:nvPr/>
        </p:nvSpPr>
        <p:spPr>
          <a:xfrm>
            <a:off x="8667750" y="1809750"/>
            <a:ext cx="2952750" cy="3800475"/>
          </a:xfrm>
          <a:prstGeom prst="roundRect">
            <a:avLst>
              <a:gd name="adj" fmla="val 5161"/>
            </a:avLst>
          </a:prstGeom>
          <a:solidFill>
            <a:srgbClr val="14563A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94EBB4C-42EE-4725-9FE0-78215655127E}"/>
              </a:ext>
            </a:extLst>
          </p:cNvPr>
          <p:cNvSpPr>
            <a:spLocks noGrp="1"/>
          </p:cNvSpPr>
          <p:nvPr/>
        </p:nvSpPr>
        <p:spPr>
          <a:xfrm>
            <a:off x="8972550" y="2133600"/>
            <a:ext cx="2381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Web 與 App</a:t>
            </a:r>
          </a:p>
          <a:p>
            <a:pPr algn="l">
              <a:lnSpc>
                <a:spcPct val="98000"/>
              </a:lnSpc>
              <a:buNone/>
              <a:def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不是兩套產品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5918B86-1583-4E53-9165-E1E19885244C}"/>
              </a:ext>
            </a:extLst>
          </p:cNvPr>
          <p:cNvSpPr>
            <a:spLocks noGrp="1"/>
          </p:cNvSpPr>
          <p:nvPr/>
        </p:nvSpPr>
        <p:spPr>
          <a:xfrm>
            <a:off x="8991600" y="32004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AEE6C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AEE6C5"/>
                </a:solidFill>
                <a:latin typeface="Arial Unicode MS"/>
                <a:ea typeface="Arial Unicode MS"/>
                <a:cs typeface="Arial Unicode MS"/>
              </a:rPr>
              <a:t>Web 專屬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37B344D-1E5E-4AA1-B444-EE52E1651C41}"/>
              </a:ext>
            </a:extLst>
          </p:cNvPr>
          <p:cNvSpPr>
            <a:spLocks noGrp="1"/>
          </p:cNvSpPr>
          <p:nvPr/>
        </p:nvSpPr>
        <p:spPr>
          <a:xfrm>
            <a:off x="8991600" y="3505200"/>
            <a:ext cx="2143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Static Web Apps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319185E-3AAC-49E1-9C8D-752BCD86AEFA}"/>
              </a:ext>
            </a:extLst>
          </p:cNvPr>
          <p:cNvSpPr>
            <a:spLocks noGrp="1"/>
          </p:cNvSpPr>
          <p:nvPr/>
        </p:nvSpPr>
        <p:spPr>
          <a:xfrm>
            <a:off x="8991600" y="409575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AEE6C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AEE6C5"/>
                </a:solidFill>
                <a:latin typeface="Arial Unicode MS"/>
                <a:ea typeface="Arial Unicode MS"/>
                <a:cs typeface="Arial Unicode MS"/>
              </a:rPr>
              <a:t>Web／iOS／Android 共用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99A4C5D-7C35-4CA3-8ED5-0FA0FF09AA41}"/>
              </a:ext>
            </a:extLst>
          </p:cNvPr>
          <p:cNvSpPr>
            <a:spLocks noGrp="1"/>
          </p:cNvSpPr>
          <p:nvPr/>
        </p:nvSpPr>
        <p:spPr>
          <a:xfrm>
            <a:off x="8991600" y="4400550"/>
            <a:ext cx="23050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App Service API</a:t>
            </a:r>
          </a:p>
          <a:p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OpenAI｜PostgreSQL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7A76367-A0AF-4A5B-8ED1-2AD12FC470E5}"/>
              </a:ext>
            </a:extLst>
          </p:cNvPr>
          <p:cNvSpPr>
            <a:spLocks noGrp="1"/>
          </p:cNvSpPr>
          <p:nvPr/>
        </p:nvSpPr>
        <p:spPr>
          <a:xfrm>
            <a:off x="8991600" y="521970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D6EFE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6EFE1"/>
                </a:solidFill>
                <a:latin typeface="Arial Unicode MS"/>
                <a:ea typeface="Arial Unicode MS"/>
                <a:cs typeface="Arial Unicode MS"/>
              </a:rPr>
              <a:t>共用資料契約、規則與安全政策</a:t>
            </a:r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547324B7-58B9-4572-AD77-A5A33DBC55CC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4095750" cy="381000"/>
          </a:xfrm>
          <a:prstGeom prst="roundRect">
            <a:avLst>
              <a:gd name="adj" fmla="val 50000"/>
            </a:avLst>
          </a:prstGeom>
          <a:solidFill>
            <a:srgbClr val="DDF4E7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35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評估重點：核心流程，不是服務數量</a:t>
            </a:r>
          </a:p>
        </p:txBody>
      </p:sp>
    </p:spTree>
    <p:extLst>
      <p:ext uri="{BB962C8B-B14F-4D97-AF65-F5344CB8AC3E}">
        <p14:creationId xmlns:p14="http://schemas.microsoft.com/office/powerpoint/2010/main" val="673699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直線接點 50">
            <a:extLst>
              <a:ext uri="{FF2B5EF4-FFF2-40B4-BE49-F238E27FC236}">
                <a16:creationId xmlns:a16="http://schemas.microsoft.com/office/drawing/2014/main" id="{FD6AF948-5812-46A4-B9F8-C1C5463BEE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" name="直線接點 1">
            <a:extLst>
              <a:ext uri="{FF2B5EF4-FFF2-40B4-BE49-F238E27FC236}">
                <a16:creationId xmlns:a16="http://schemas.microsoft.com/office/drawing/2014/main" id="{98F813A6-257C-4B4B-9EC5-3FF4E69CB5AD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FDE9AE31-5BAB-4FCE-862C-F2C45ACACDC1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7D18B841-29BE-473F-B281-B6B4F1B690B3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5" name="直線接點 4">
            <a:extLst>
              <a:ext uri="{FF2B5EF4-FFF2-40B4-BE49-F238E27FC236}">
                <a16:creationId xmlns:a16="http://schemas.microsoft.com/office/drawing/2014/main" id="{3766CD19-07A2-4C79-8E20-B228E3F1B75D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6" name="直線接點 5">
            <a:extLst>
              <a:ext uri="{FF2B5EF4-FFF2-40B4-BE49-F238E27FC236}">
                <a16:creationId xmlns:a16="http://schemas.microsoft.com/office/drawing/2014/main" id="{9FAF3736-FD2C-4F43-AFA4-62D9FEA65D40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7" name="直線接點 6">
            <a:extLst>
              <a:ext uri="{FF2B5EF4-FFF2-40B4-BE49-F238E27FC236}">
                <a16:creationId xmlns:a16="http://schemas.microsoft.com/office/drawing/2014/main" id="{03F75A2D-877D-4D4D-BFE1-697B5DA20AF1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8" name="直線接點 7">
            <a:extLst>
              <a:ext uri="{FF2B5EF4-FFF2-40B4-BE49-F238E27FC236}">
                <a16:creationId xmlns:a16="http://schemas.microsoft.com/office/drawing/2014/main" id="{771BB07F-C12F-4723-9108-E8FD3294EE81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9" name="直線接點 8">
            <a:extLst>
              <a:ext uri="{FF2B5EF4-FFF2-40B4-BE49-F238E27FC236}">
                <a16:creationId xmlns:a16="http://schemas.microsoft.com/office/drawing/2014/main" id="{1CE6D960-EB65-434C-BB5A-451EE39D7646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BFAC2944-C6AE-4A5A-886D-1A3634C28435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1" name="直線接點 10">
            <a:extLst>
              <a:ext uri="{FF2B5EF4-FFF2-40B4-BE49-F238E27FC236}">
                <a16:creationId xmlns:a16="http://schemas.microsoft.com/office/drawing/2014/main" id="{59284C83-7BA7-4DE3-8A01-8E0FFDD1BE5A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2" name="直線接點 11">
            <a:extLst>
              <a:ext uri="{FF2B5EF4-FFF2-40B4-BE49-F238E27FC236}">
                <a16:creationId xmlns:a16="http://schemas.microsoft.com/office/drawing/2014/main" id="{3BD12AD2-A9C2-4920-A9B1-E61A3AB0749C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3" name="直線接點 12">
            <a:extLst>
              <a:ext uri="{FF2B5EF4-FFF2-40B4-BE49-F238E27FC236}">
                <a16:creationId xmlns:a16="http://schemas.microsoft.com/office/drawing/2014/main" id="{3B67C783-509A-41CC-82C3-69766A8F729D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4" name="直線接點 13">
            <a:extLst>
              <a:ext uri="{FF2B5EF4-FFF2-40B4-BE49-F238E27FC236}">
                <a16:creationId xmlns:a16="http://schemas.microsoft.com/office/drawing/2014/main" id="{037E7D2E-287D-4CBD-BD9E-5EFA59F487A3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5" name="直線接點 14">
            <a:extLst>
              <a:ext uri="{FF2B5EF4-FFF2-40B4-BE49-F238E27FC236}">
                <a16:creationId xmlns:a16="http://schemas.microsoft.com/office/drawing/2014/main" id="{D3B70B61-C564-4576-988B-DDD22E21AC8F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343E3F92-948D-4BF4-B2E3-356E5D6F516D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7" name="直線接點 16">
            <a:extLst>
              <a:ext uri="{FF2B5EF4-FFF2-40B4-BE49-F238E27FC236}">
                <a16:creationId xmlns:a16="http://schemas.microsoft.com/office/drawing/2014/main" id="{04AC1B69-7EC5-46CD-8A88-0C8ABCDF9AAA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8" name="直線接點 17">
            <a:extLst>
              <a:ext uri="{FF2B5EF4-FFF2-40B4-BE49-F238E27FC236}">
                <a16:creationId xmlns:a16="http://schemas.microsoft.com/office/drawing/2014/main" id="{DBBD33EB-9C44-441B-AFAC-AE25CDD428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9" name="直線接點 18">
            <a:extLst>
              <a:ext uri="{FF2B5EF4-FFF2-40B4-BE49-F238E27FC236}">
                <a16:creationId xmlns:a16="http://schemas.microsoft.com/office/drawing/2014/main" id="{7976CAA4-C651-4855-A07B-D16590B08BF5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0" name="直線接點 19">
            <a:extLst>
              <a:ext uri="{FF2B5EF4-FFF2-40B4-BE49-F238E27FC236}">
                <a16:creationId xmlns:a16="http://schemas.microsoft.com/office/drawing/2014/main" id="{26350DFF-FD40-4F68-9179-1D14406B5AE2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1" name="直線接點 20">
            <a:extLst>
              <a:ext uri="{FF2B5EF4-FFF2-40B4-BE49-F238E27FC236}">
                <a16:creationId xmlns:a16="http://schemas.microsoft.com/office/drawing/2014/main" id="{30C7D191-1097-4FE6-810A-EFE3C0BDD1A9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2" name="直線接點 21">
            <a:extLst>
              <a:ext uri="{FF2B5EF4-FFF2-40B4-BE49-F238E27FC236}">
                <a16:creationId xmlns:a16="http://schemas.microsoft.com/office/drawing/2014/main" id="{760E4CAA-D0C8-4B15-8D00-0C0973212078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3" name="直線接點 22">
            <a:extLst>
              <a:ext uri="{FF2B5EF4-FFF2-40B4-BE49-F238E27FC236}">
                <a16:creationId xmlns:a16="http://schemas.microsoft.com/office/drawing/2014/main" id="{CD0D65F7-BDBD-4CE9-AA52-2A856BA689D7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676BF142-ECB7-4033-BD93-776A26419E62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5" name="直線接點 24">
            <a:extLst>
              <a:ext uri="{FF2B5EF4-FFF2-40B4-BE49-F238E27FC236}">
                <a16:creationId xmlns:a16="http://schemas.microsoft.com/office/drawing/2014/main" id="{BDF134AA-521A-49C0-8016-4F421934C4DD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6" name="直線接點 25">
            <a:extLst>
              <a:ext uri="{FF2B5EF4-FFF2-40B4-BE49-F238E27FC236}">
                <a16:creationId xmlns:a16="http://schemas.microsoft.com/office/drawing/2014/main" id="{900F4111-7AA0-495C-B4BA-3F01919263A6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7" name="直線接點 26">
            <a:extLst>
              <a:ext uri="{FF2B5EF4-FFF2-40B4-BE49-F238E27FC236}">
                <a16:creationId xmlns:a16="http://schemas.microsoft.com/office/drawing/2014/main" id="{C232AF81-9B85-41A6-B3F7-609B02F74392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8" name="decor-bottom-left">
            <a:extLst>
              <a:ext uri="{FF2B5EF4-FFF2-40B4-BE49-F238E27FC236}">
                <a16:creationId xmlns:a16="http://schemas.microsoft.com/office/drawing/2014/main" id="{083C733C-014E-46DA-9957-04815671F7E3}"/>
              </a:ext>
            </a:extLst>
          </p:cNvPr>
          <p:cNvSpPr>
            <a:spLocks noGrp="1"/>
          </p:cNvSpPr>
          <p:nvPr/>
        </p:nvSpPr>
        <p:spPr>
          <a:xfrm>
            <a:off x="0" y="5619750"/>
            <a:ext cx="1428750" cy="1238250"/>
          </a:xfrm>
          <a:prstGeom prst="ellipse">
            <a:avLst/>
          </a:prstGeom>
          <a:solidFill>
            <a:srgbClr val="DDF4E7"/>
          </a:solidFill>
          <a:ln w="0">
            <a:noFill/>
            <a:prstDash val="solid"/>
          </a:ln>
        </p:spPr>
      </p:sp>
      <p:sp>
        <p:nvSpPr>
          <p:cNvPr id="29" name="decor-top-right">
            <a:extLst>
              <a:ext uri="{FF2B5EF4-FFF2-40B4-BE49-F238E27FC236}">
                <a16:creationId xmlns:a16="http://schemas.microsoft.com/office/drawing/2014/main" id="{E5495A4F-DAE0-4085-84FF-DDCB9550C5A6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1143000" cy="1428750"/>
          </a:xfrm>
          <a:prstGeom prst="ellipse">
            <a:avLst/>
          </a:prstGeom>
          <a:solidFill>
            <a:srgbClr val="EAF8F0"/>
          </a:solidFill>
          <a:ln w="0">
            <a:noFill/>
            <a:prstDash val="solid"/>
          </a:ln>
        </p:spPr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41B2B0F0-AF07-4E4D-A9AE-9A0AAF875308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DDF4E7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SYSTEM MAP</a:t>
            </a:r>
          </a:p>
        </p:txBody>
      </p:sp>
      <p:sp>
        <p:nvSpPr>
          <p:cNvPr id="31" name="slide-title">
            <a:extLst>
              <a:ext uri="{FF2B5EF4-FFF2-40B4-BE49-F238E27FC236}">
                <a16:creationId xmlns:a16="http://schemas.microsoft.com/office/drawing/2014/main" id="{1DBF4408-1B55-4E49-B784-E1022846AEFE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Web 與 App 共用同一組後端、AI 與資料契約</a:t>
            </a: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C17F415D-E7ED-4340-84AC-42E432302D8E}"/>
              </a:ext>
            </a:extLst>
          </p:cNvPr>
          <p:cNvSpPr>
            <a:spLocks noGrp="1"/>
          </p:cNvSpPr>
          <p:nvPr/>
        </p:nvSpPr>
        <p:spPr>
          <a:xfrm>
            <a:off x="571500" y="1438275"/>
            <a:ext cx="800100" cy="57150"/>
          </a:xfrm>
          <a:prstGeom prst="roundRect">
            <a:avLst>
              <a:gd name="adj" fmla="val 50000"/>
            </a:avLst>
          </a:prstGeom>
          <a:solidFill>
            <a:srgbClr val="237A50"/>
          </a:solidFill>
          <a:ln w="0">
            <a:noFill/>
            <a:prstDash val="solid"/>
          </a:ln>
        </p:spPr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BABC03A3-21C0-4428-9075-F8656AFB2EA5}"/>
              </a:ext>
            </a:extLst>
          </p:cNvPr>
          <p:cNvSpPr>
            <a:spLocks noGrp="1"/>
          </p:cNvSpPr>
          <p:nvPr/>
        </p:nvSpPr>
        <p:spPr>
          <a:xfrm>
            <a:off x="1466850" y="1438275"/>
            <a:ext cx="266700" cy="57150"/>
          </a:xfrm>
          <a:prstGeom prst="roundRect">
            <a:avLst>
              <a:gd name="adj" fmla="val 50000"/>
            </a:avLst>
          </a:prstGeom>
          <a:solidFill>
            <a:srgbClr val="9FD9B9"/>
          </a:solidFill>
          <a:ln w="0">
            <a:noFill/>
            <a:prstDash val="solid"/>
          </a:ln>
        </p:spPr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677C46C3-8F57-47CE-9126-C51D5E4DB576}"/>
              </a:ext>
            </a:extLst>
          </p:cNvPr>
          <p:cNvSpPr>
            <a:spLocks noGrp="1"/>
          </p:cNvSpPr>
          <p:nvPr/>
        </p:nvSpPr>
        <p:spPr>
          <a:xfrm>
            <a:off x="571500" y="2952750"/>
            <a:ext cx="142875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  <p:txBody>
          <a:bodyPr lIns="38100" tIns="0" rIns="38100" bIns="0" anchor="ctr"/>
          <a:lstStyle/>
          <a:p>
            <a:pPr algn="ctr">
              <a:defRPr sz="1875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使用者</a:t>
            </a:r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A416A847-1F92-414E-B9DC-4B5E28F33B22}"/>
              </a:ext>
            </a:extLst>
          </p:cNvPr>
          <p:cNvSpPr>
            <a:spLocks noGrp="1"/>
          </p:cNvSpPr>
          <p:nvPr/>
        </p:nvSpPr>
        <p:spPr>
          <a:xfrm>
            <a:off x="2619375" y="2095500"/>
            <a:ext cx="2095500" cy="952500"/>
          </a:xfrm>
          <a:prstGeom prst="roundRect">
            <a:avLst>
              <a:gd name="adj" fmla="val 12000"/>
            </a:avLst>
          </a:prstGeom>
          <a:solidFill>
            <a:srgbClr val="FFF0B8"/>
          </a:solidFill>
          <a:ln w="9525">
            <a:solidFill>
              <a:srgbClr val="E7C95A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5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Azure Static Web Apps</a:t>
            </a:r>
          </a:p>
          <a:p>
            <a:pPr algn="ctr">
              <a:defRPr sz="15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只負責 Web 靜態入口</a:t>
            </a:r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3D992C39-41EE-4B9E-BA9C-B9DD842AFB93}"/>
              </a:ext>
            </a:extLst>
          </p:cNvPr>
          <p:cNvSpPr>
            <a:spLocks noGrp="1"/>
          </p:cNvSpPr>
          <p:nvPr/>
        </p:nvSpPr>
        <p:spPr>
          <a:xfrm>
            <a:off x="2619375" y="3810000"/>
            <a:ext cx="2095500" cy="952500"/>
          </a:xfrm>
          <a:prstGeom prst="roundRect">
            <a:avLst>
              <a:gd name="adj" fmla="val 12000"/>
            </a:avLst>
          </a:prstGeom>
          <a:solidFill>
            <a:srgbClr val="DDF4E7"/>
          </a:solidFill>
          <a:ln w="9525">
            <a:solidFill>
              <a:srgbClr val="A9D5BC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5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Expo iOS／Android</a:t>
            </a:r>
          </a:p>
          <a:p>
            <a:pPr algn="ctr">
              <a:defRPr sz="15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原生 App 直接呼叫 API</a:t>
            </a:r>
          </a:p>
        </p:txBody>
      </p: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4F163E00-18AF-48C1-BF88-3A6AA65BC25E}"/>
              </a:ext>
            </a:extLst>
          </p:cNvPr>
          <p:cNvSpPr>
            <a:spLocks noGrp="1"/>
          </p:cNvSpPr>
          <p:nvPr/>
        </p:nvSpPr>
        <p:spPr>
          <a:xfrm>
            <a:off x="5524500" y="2857500"/>
            <a:ext cx="2381250" cy="1219200"/>
          </a:xfrm>
          <a:prstGeom prst="roundRect">
            <a:avLst>
              <a:gd name="adj" fmla="val 12500"/>
            </a:avLst>
          </a:prstGeom>
          <a:solidFill>
            <a:srgbClr val="14563A"/>
          </a:solidFill>
          <a:ln w="0">
            <a:noFill/>
            <a:prstDash val="solid"/>
          </a:ln>
        </p:spPr>
        <p:txBody>
          <a:bodyPr lIns="95250" tIns="76200" rIns="95250" bIns="76200" anchor="ctr"/>
          <a:lstStyle/>
          <a:p>
            <a:pPr algn="ctr">
              <a:def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Azure App Service</a:t>
            </a:r>
          </a:p>
          <a:p>
            <a:pPr algn="ctr">
              <a:def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Fastify 共用 API</a:t>
            </a:r>
          </a:p>
          <a:p>
            <a:pPr algn="ctr">
              <a:def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驗證｜規則｜安全後處理</a:t>
            </a:r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295BE868-E1B4-4D48-A54E-E80405A28982}"/>
              </a:ext>
            </a:extLst>
          </p:cNvPr>
          <p:cNvSpPr>
            <a:spLocks noGrp="1"/>
          </p:cNvSpPr>
          <p:nvPr/>
        </p:nvSpPr>
        <p:spPr>
          <a:xfrm>
            <a:off x="8810625" y="1762125"/>
            <a:ext cx="2714625" cy="876300"/>
          </a:xfrm>
          <a:prstGeom prst="roundRect">
            <a:avLst>
              <a:gd name="adj" fmla="val 13043"/>
            </a:avLst>
          </a:prstGeom>
          <a:solidFill>
            <a:srgbClr val="E9E2F8"/>
          </a:solidFill>
          <a:ln w="9525">
            <a:solidFill>
              <a:srgbClr val="CCBDE9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500" b="1">
                <a:solidFill>
                  <a:srgbClr val="694B9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694B93"/>
                </a:solidFill>
                <a:latin typeface="Arial Unicode MS"/>
                <a:ea typeface="Arial Unicode MS"/>
                <a:cs typeface="Arial Unicode MS"/>
              </a:rPr>
              <a:t>Azure OpenAI Service</a:t>
            </a:r>
          </a:p>
          <a:p>
            <a:pPr algn="ctr">
              <a:defRPr sz="1500" b="1">
                <a:solidFill>
                  <a:srgbClr val="694B9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694B93"/>
                </a:solidFill>
                <a:latin typeface="Arial Unicode MS"/>
                <a:ea typeface="Arial Unicode MS"/>
                <a:cs typeface="Arial Unicode MS"/>
              </a:rPr>
              <a:t>結構化行動卡草稿</a:t>
            </a:r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21F3D8BC-B2C4-4224-BC6C-BC1A9DFC401C}"/>
              </a:ext>
            </a:extLst>
          </p:cNvPr>
          <p:cNvSpPr>
            <a:spLocks noGrp="1"/>
          </p:cNvSpPr>
          <p:nvPr/>
        </p:nvSpPr>
        <p:spPr>
          <a:xfrm>
            <a:off x="8810625" y="3067050"/>
            <a:ext cx="2714625" cy="876300"/>
          </a:xfrm>
          <a:prstGeom prst="roundRect">
            <a:avLst>
              <a:gd name="adj" fmla="val 13043"/>
            </a:avLst>
          </a:prstGeom>
          <a:solidFill>
            <a:srgbClr val="DCEFFC"/>
          </a:solidFill>
          <a:ln w="9525">
            <a:solidFill>
              <a:srgbClr val="B7DBEF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425" b="1">
                <a:solidFill>
                  <a:srgbClr val="246B9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246B91"/>
                </a:solidFill>
                <a:latin typeface="Arial Unicode MS"/>
                <a:ea typeface="Arial Unicode MS"/>
                <a:cs typeface="Arial Unicode MS"/>
              </a:rPr>
              <a:t>環境部 AQI／中央氣象署</a:t>
            </a:r>
          </a:p>
          <a:p>
            <a:pPr algn="ctr">
              <a:defRPr sz="1425" b="1">
                <a:solidFill>
                  <a:srgbClr val="246B9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246B91"/>
                </a:solidFill>
                <a:latin typeface="Arial Unicode MS"/>
                <a:ea typeface="Arial Unicode MS"/>
                <a:cs typeface="Arial Unicode MS"/>
              </a:rPr>
              <a:t>具來源、時間與新鮮度</a:t>
            </a: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D51EDF5C-4BFF-4C37-AB2D-B932D50252B9}"/>
              </a:ext>
            </a:extLst>
          </p:cNvPr>
          <p:cNvSpPr>
            <a:spLocks noGrp="1"/>
          </p:cNvSpPr>
          <p:nvPr/>
        </p:nvSpPr>
        <p:spPr>
          <a:xfrm>
            <a:off x="8810625" y="4371975"/>
            <a:ext cx="2714625" cy="876300"/>
          </a:xfrm>
          <a:prstGeom prst="roundRect">
            <a:avLst>
              <a:gd name="adj" fmla="val 13043"/>
            </a:avLst>
          </a:prstGeom>
          <a:solidFill>
            <a:srgbClr val="F7D9CE"/>
          </a:solidFill>
          <a:ln w="9525">
            <a:solidFill>
              <a:srgbClr val="EDC5B7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350" b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rPr>
              <a:t>Azure Database for PostgreSQL</a:t>
            </a:r>
          </a:p>
          <a:p>
            <a:pPr algn="ctr">
              <a:defRPr sz="1350" b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rPr>
              <a:t>環境快取｜匿名技術事件</a:t>
            </a:r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214EB08B-8B60-44AF-9488-45B26B77684A}"/>
              </a:ext>
            </a:extLst>
          </p:cNvPr>
          <p:cNvSpPr>
            <a:spLocks noGrp="1"/>
          </p:cNvSpPr>
          <p:nvPr/>
        </p:nvSpPr>
        <p:spPr>
          <a:xfrm>
            <a:off x="3571875" y="5572125"/>
            <a:ext cx="43815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237A50"/>
            </a:solidFill>
            <a:prstDash val="dash"/>
          </a:ln>
        </p:spPr>
        <p:txBody>
          <a:bodyPr lIns="76200" tIns="0" rIns="76200" bIns="0" anchor="ctr"/>
          <a:lstStyle/>
          <a:p>
            <a:pPr algn="ctr">
              <a:defRPr sz="1575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裝置端：個人設定、Air 日誌與回饋</a:t>
            </a:r>
          </a:p>
        </p:txBody>
      </p:sp>
      <p:cxnSp>
        <p:nvCxnSpPr>
          <p:cNvPr id="92" name="肘形接點 91"/>
          <p:cNvCxnSpPr>
            <a:stCxn id="34" idx="3"/>
            <a:endCxn id="35" idx="1"/>
          </p:cNvCxnSpPr>
          <p:nvPr/>
        </p:nvCxnSpPr>
        <p:spPr>
          <a:xfrm flipV="1">
            <a:off x="2000250" y="2571750"/>
            <a:ext cx="619125" cy="819150"/>
          </a:xfrm>
          <a:prstGeom prst="bentConnector3">
            <a:avLst>
              <a:gd name="adj1" fmla="val 50000"/>
            </a:avLst>
          </a:prstGeom>
          <a:ln w="19050">
            <a:solidFill>
              <a:srgbClr val="237A50"/>
            </a:solidFill>
            <a:prstDash val="solid"/>
            <a:tailEnd type="arrow" w="med" len="med"/>
          </a:ln>
        </p:spPr>
      </p:cxnSp>
      <p:cxnSp>
        <p:nvCxnSpPr>
          <p:cNvPr id="93" name="肘形接點 92"/>
          <p:cNvCxnSpPr>
            <a:stCxn id="34" idx="3"/>
            <a:endCxn id="36" idx="1"/>
          </p:cNvCxnSpPr>
          <p:nvPr/>
        </p:nvCxnSpPr>
        <p:spPr>
          <a:xfrm>
            <a:off x="2000250" y="3390900"/>
            <a:ext cx="619125" cy="895350"/>
          </a:xfrm>
          <a:prstGeom prst="bentConnector3">
            <a:avLst>
              <a:gd name="adj1" fmla="val 50000"/>
            </a:avLst>
          </a:prstGeom>
          <a:ln w="19050">
            <a:solidFill>
              <a:srgbClr val="237A50"/>
            </a:solidFill>
            <a:prstDash val="solid"/>
            <a:tailEnd type="arrow" w="med" len="med"/>
          </a:ln>
        </p:spPr>
      </p:cxnSp>
      <p:cxnSp>
        <p:nvCxnSpPr>
          <p:cNvPr id="94" name="肘形接點 93"/>
          <p:cNvCxnSpPr>
            <a:stCxn id="35" idx="3"/>
            <a:endCxn id="37" idx="1"/>
          </p:cNvCxnSpPr>
          <p:nvPr/>
        </p:nvCxnSpPr>
        <p:spPr>
          <a:xfrm>
            <a:off x="4714875" y="2571750"/>
            <a:ext cx="809625" cy="895350"/>
          </a:xfrm>
          <a:prstGeom prst="bentConnector3">
            <a:avLst>
              <a:gd name="adj1" fmla="val 50000"/>
            </a:avLst>
          </a:prstGeom>
          <a:ln w="19050">
            <a:solidFill>
              <a:srgbClr val="237A50"/>
            </a:solidFill>
            <a:prstDash val="solid"/>
            <a:tailEnd type="arrow" w="med" len="med"/>
          </a:ln>
        </p:spPr>
      </p:cxnSp>
      <p:cxnSp>
        <p:nvCxnSpPr>
          <p:cNvPr id="95" name="肘形接點 94"/>
          <p:cNvCxnSpPr>
            <a:stCxn id="36" idx="3"/>
            <a:endCxn id="37" idx="1"/>
          </p:cNvCxnSpPr>
          <p:nvPr/>
        </p:nvCxnSpPr>
        <p:spPr>
          <a:xfrm flipV="1">
            <a:off x="4714875" y="3467100"/>
            <a:ext cx="809625" cy="819150"/>
          </a:xfrm>
          <a:prstGeom prst="bentConnector3">
            <a:avLst>
              <a:gd name="adj1" fmla="val 50000"/>
            </a:avLst>
          </a:prstGeom>
          <a:ln w="19050">
            <a:solidFill>
              <a:srgbClr val="237A50"/>
            </a:solidFill>
            <a:prstDash val="solid"/>
            <a:tailEnd type="arrow" w="med" len="med"/>
          </a:ln>
        </p:spPr>
      </p:cxnSp>
      <p:cxnSp>
        <p:nvCxnSpPr>
          <p:cNvPr id="96" name="肘形接點 95"/>
          <p:cNvCxnSpPr>
            <a:stCxn id="37" idx="3"/>
            <a:endCxn id="38" idx="1"/>
          </p:cNvCxnSpPr>
          <p:nvPr/>
        </p:nvCxnSpPr>
        <p:spPr>
          <a:xfrm flipV="1">
            <a:off x="7905750" y="2200275"/>
            <a:ext cx="904875" cy="1266825"/>
          </a:xfrm>
          <a:prstGeom prst="bentConnector3">
            <a:avLst>
              <a:gd name="adj1" fmla="val 50000"/>
            </a:avLst>
          </a:prstGeom>
          <a:ln w="19050">
            <a:solidFill>
              <a:srgbClr val="694B93"/>
            </a:solidFill>
            <a:prstDash val="solid"/>
            <a:tailEnd type="arrow" w="med" len="med"/>
          </a:ln>
        </p:spPr>
      </p:cxnSp>
      <p:cxnSp>
        <p:nvCxnSpPr>
          <p:cNvPr id="97" name="直線箭頭接點 96"/>
          <p:cNvCxnSpPr>
            <a:stCxn id="37" idx="3"/>
            <a:endCxn id="39" idx="1"/>
          </p:cNvCxnSpPr>
          <p:nvPr/>
        </p:nvCxnSpPr>
        <p:spPr>
          <a:xfrm>
            <a:off x="7905750" y="3467100"/>
            <a:ext cx="904875" cy="38100"/>
          </a:xfrm>
          <a:prstGeom prst="straightConnector1">
            <a:avLst/>
          </a:prstGeom>
          <a:ln w="19050">
            <a:solidFill>
              <a:srgbClr val="246B91"/>
            </a:solidFill>
            <a:prstDash val="solid"/>
            <a:tailEnd type="arrow" w="med" len="med"/>
          </a:ln>
        </p:spPr>
      </p:cxnSp>
      <p:cxnSp>
        <p:nvCxnSpPr>
          <p:cNvPr id="98" name="肘形接點 97"/>
          <p:cNvCxnSpPr>
            <a:stCxn id="37" idx="3"/>
            <a:endCxn id="40" idx="1"/>
          </p:cNvCxnSpPr>
          <p:nvPr/>
        </p:nvCxnSpPr>
        <p:spPr>
          <a:xfrm>
            <a:off x="7905750" y="3467100"/>
            <a:ext cx="904875" cy="1343025"/>
          </a:xfrm>
          <a:prstGeom prst="bentConnector3">
            <a:avLst>
              <a:gd name="adj1" fmla="val 50000"/>
            </a:avLst>
          </a:prstGeom>
          <a:ln w="19050">
            <a:solidFill>
              <a:srgbClr val="A94C2E"/>
            </a:solidFill>
            <a:prstDash val="solid"/>
            <a:tailEnd type="arrow" w="med" len="med"/>
          </a:ln>
        </p:spPr>
      </p:cxnSp>
      <p:cxnSp>
        <p:nvCxnSpPr>
          <p:cNvPr id="99" name="肘形接點 98"/>
          <p:cNvCxnSpPr>
            <a:cxnSpLocks/>
            <a:stCxn id="36" idx="2"/>
            <a:endCxn id="41" idx="1"/>
          </p:cNvCxnSpPr>
          <p:nvPr/>
        </p:nvCxnSpPr>
        <p:spPr>
          <a:xfrm rot="5400000">
            <a:off x="3048000" y="5286375"/>
            <a:ext cx="1143000" cy="95250"/>
          </a:xfrm>
          <a:prstGeom prst="bentConnector4">
            <a:avLst>
              <a:gd name="adj1" fmla="val 34676"/>
              <a:gd name="adj2" fmla="val 659999"/>
            </a:avLst>
          </a:prstGeom>
          <a:ln w="19050">
            <a:solidFill>
              <a:srgbClr val="237A50"/>
            </a:solidFill>
            <a:prstDash val="dash"/>
            <a:tailEnd type="arrow" w="sm" len="sm"/>
          </a:ln>
        </p:spPr>
      </p:cxnSp>
      <p:cxnSp>
        <p:nvCxnSpPr>
          <p:cNvPr id="54" name="肘形接點 53">
            <a:extLst>
              <a:ext uri="{FF2B5EF4-FFF2-40B4-BE49-F238E27FC236}">
                <a16:creationId xmlns:a16="http://schemas.microsoft.com/office/drawing/2014/main" id="{E495C86E-6136-4573-3F1D-46B649A87E3D}"/>
              </a:ext>
            </a:extLst>
          </p:cNvPr>
          <p:cNvCxnSpPr>
            <a:cxnSpLocks/>
            <a:stCxn id="35" idx="2"/>
            <a:endCxn id="41" idx="1"/>
          </p:cNvCxnSpPr>
          <p:nvPr/>
        </p:nvCxnSpPr>
        <p:spPr>
          <a:xfrm rot="5400000">
            <a:off x="2190750" y="4429125"/>
            <a:ext cx="2857500" cy="95250"/>
          </a:xfrm>
          <a:prstGeom prst="bentConnector4">
            <a:avLst>
              <a:gd name="adj1" fmla="val 19278"/>
              <a:gd name="adj2" fmla="val 1300000"/>
            </a:avLst>
          </a:prstGeom>
          <a:ln w="19050">
            <a:solidFill>
              <a:srgbClr val="237A50"/>
            </a:solidFill>
            <a:prstDash val="dash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372466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直線接點 57">
            <a:extLst>
              <a:ext uri="{FF2B5EF4-FFF2-40B4-BE49-F238E27FC236}">
                <a16:creationId xmlns:a16="http://schemas.microsoft.com/office/drawing/2014/main" id="{E383899A-556E-47CE-9F30-C49EFF4E2F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" name="直線接點 1">
            <a:extLst>
              <a:ext uri="{FF2B5EF4-FFF2-40B4-BE49-F238E27FC236}">
                <a16:creationId xmlns:a16="http://schemas.microsoft.com/office/drawing/2014/main" id="{83152BB1-8240-47ED-83CB-BDD8D7201082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3508AED1-6254-4EF9-BF96-05D144495447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E7189D9B-CD38-4A47-B889-7D2C42719D1D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5" name="直線接點 4">
            <a:extLst>
              <a:ext uri="{FF2B5EF4-FFF2-40B4-BE49-F238E27FC236}">
                <a16:creationId xmlns:a16="http://schemas.microsoft.com/office/drawing/2014/main" id="{A3790AF1-3721-4B9E-BB8A-374A12D9D802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6" name="直線接點 5">
            <a:extLst>
              <a:ext uri="{FF2B5EF4-FFF2-40B4-BE49-F238E27FC236}">
                <a16:creationId xmlns:a16="http://schemas.microsoft.com/office/drawing/2014/main" id="{F3F2336C-7669-469C-8814-4C9808BA10B9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7" name="直線接點 6">
            <a:extLst>
              <a:ext uri="{FF2B5EF4-FFF2-40B4-BE49-F238E27FC236}">
                <a16:creationId xmlns:a16="http://schemas.microsoft.com/office/drawing/2014/main" id="{DDF43969-46C4-4FBC-B605-52A156F79309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8" name="直線接點 7">
            <a:extLst>
              <a:ext uri="{FF2B5EF4-FFF2-40B4-BE49-F238E27FC236}">
                <a16:creationId xmlns:a16="http://schemas.microsoft.com/office/drawing/2014/main" id="{DA9FDD44-1AFD-4C9D-884B-03EE76BDF8BE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9" name="直線接點 8">
            <a:extLst>
              <a:ext uri="{FF2B5EF4-FFF2-40B4-BE49-F238E27FC236}">
                <a16:creationId xmlns:a16="http://schemas.microsoft.com/office/drawing/2014/main" id="{4BB7A98D-6AF8-4B7D-8883-078E0D36165C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6B674965-1998-41EE-8F0B-7C3108B0C41D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1" name="直線接點 10">
            <a:extLst>
              <a:ext uri="{FF2B5EF4-FFF2-40B4-BE49-F238E27FC236}">
                <a16:creationId xmlns:a16="http://schemas.microsoft.com/office/drawing/2014/main" id="{72467020-760D-4A9E-842C-3C784BAAFB2A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2" name="直線接點 11">
            <a:extLst>
              <a:ext uri="{FF2B5EF4-FFF2-40B4-BE49-F238E27FC236}">
                <a16:creationId xmlns:a16="http://schemas.microsoft.com/office/drawing/2014/main" id="{47EF3BF0-CDA6-4095-9E32-39AAA5CAA28A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3" name="直線接點 12">
            <a:extLst>
              <a:ext uri="{FF2B5EF4-FFF2-40B4-BE49-F238E27FC236}">
                <a16:creationId xmlns:a16="http://schemas.microsoft.com/office/drawing/2014/main" id="{1EDB5111-C0AF-4114-A133-DF76BA7C1AF2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4" name="直線接點 13">
            <a:extLst>
              <a:ext uri="{FF2B5EF4-FFF2-40B4-BE49-F238E27FC236}">
                <a16:creationId xmlns:a16="http://schemas.microsoft.com/office/drawing/2014/main" id="{5F6DB285-8A8F-4948-B257-C8534FDB0E39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5" name="直線接點 14">
            <a:extLst>
              <a:ext uri="{FF2B5EF4-FFF2-40B4-BE49-F238E27FC236}">
                <a16:creationId xmlns:a16="http://schemas.microsoft.com/office/drawing/2014/main" id="{594698F8-80A8-4C3D-B26C-3F883A70EC20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BAF0B63E-8683-44F9-95AF-3DEB68DD08E5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7" name="直線接點 16">
            <a:extLst>
              <a:ext uri="{FF2B5EF4-FFF2-40B4-BE49-F238E27FC236}">
                <a16:creationId xmlns:a16="http://schemas.microsoft.com/office/drawing/2014/main" id="{865B57F7-4344-4C9D-9DE1-0B5DC86D1B0C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8" name="直線接點 17">
            <a:extLst>
              <a:ext uri="{FF2B5EF4-FFF2-40B4-BE49-F238E27FC236}">
                <a16:creationId xmlns:a16="http://schemas.microsoft.com/office/drawing/2014/main" id="{B6B5AD18-3A5D-4CB8-B714-1186221250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9" name="直線接點 18">
            <a:extLst>
              <a:ext uri="{FF2B5EF4-FFF2-40B4-BE49-F238E27FC236}">
                <a16:creationId xmlns:a16="http://schemas.microsoft.com/office/drawing/2014/main" id="{FCC3F8BD-9DAC-4300-B7B0-5B10E6AD2060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0" name="直線接點 19">
            <a:extLst>
              <a:ext uri="{FF2B5EF4-FFF2-40B4-BE49-F238E27FC236}">
                <a16:creationId xmlns:a16="http://schemas.microsoft.com/office/drawing/2014/main" id="{C33A990B-0213-4F76-B2B1-9DAEB774227A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1" name="直線接點 20">
            <a:extLst>
              <a:ext uri="{FF2B5EF4-FFF2-40B4-BE49-F238E27FC236}">
                <a16:creationId xmlns:a16="http://schemas.microsoft.com/office/drawing/2014/main" id="{618226CD-93CF-496E-B3DD-660F23678365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2" name="直線接點 21">
            <a:extLst>
              <a:ext uri="{FF2B5EF4-FFF2-40B4-BE49-F238E27FC236}">
                <a16:creationId xmlns:a16="http://schemas.microsoft.com/office/drawing/2014/main" id="{06B67C99-9982-46B6-BAB4-29F0F378B555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3" name="直線接點 22">
            <a:extLst>
              <a:ext uri="{FF2B5EF4-FFF2-40B4-BE49-F238E27FC236}">
                <a16:creationId xmlns:a16="http://schemas.microsoft.com/office/drawing/2014/main" id="{1BFA7759-C449-4062-A29B-ADDF410D65C5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C4235057-7C26-47B5-AA25-C2202A1939F6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5" name="直線接點 24">
            <a:extLst>
              <a:ext uri="{FF2B5EF4-FFF2-40B4-BE49-F238E27FC236}">
                <a16:creationId xmlns:a16="http://schemas.microsoft.com/office/drawing/2014/main" id="{B02B459F-569A-4EC6-9E79-EAEC7877CB11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6" name="直線接點 25">
            <a:extLst>
              <a:ext uri="{FF2B5EF4-FFF2-40B4-BE49-F238E27FC236}">
                <a16:creationId xmlns:a16="http://schemas.microsoft.com/office/drawing/2014/main" id="{FEEB9F29-0520-4E86-AD8D-FDD49B5556EE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7" name="直線接點 26">
            <a:extLst>
              <a:ext uri="{FF2B5EF4-FFF2-40B4-BE49-F238E27FC236}">
                <a16:creationId xmlns:a16="http://schemas.microsoft.com/office/drawing/2014/main" id="{81CA5C13-7172-4247-BD3F-3AC702AC515C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8" name="decor-bottom-left">
            <a:extLst>
              <a:ext uri="{FF2B5EF4-FFF2-40B4-BE49-F238E27FC236}">
                <a16:creationId xmlns:a16="http://schemas.microsoft.com/office/drawing/2014/main" id="{11E7C471-A53C-449C-8573-F26CA60283E3}"/>
              </a:ext>
            </a:extLst>
          </p:cNvPr>
          <p:cNvSpPr>
            <a:spLocks noGrp="1"/>
          </p:cNvSpPr>
          <p:nvPr/>
        </p:nvSpPr>
        <p:spPr>
          <a:xfrm>
            <a:off x="0" y="5619750"/>
            <a:ext cx="1428750" cy="1238250"/>
          </a:xfrm>
          <a:prstGeom prst="ellipse">
            <a:avLst/>
          </a:prstGeom>
          <a:solidFill>
            <a:srgbClr val="DDF4E7"/>
          </a:solidFill>
          <a:ln w="0">
            <a:noFill/>
            <a:prstDash val="solid"/>
          </a:ln>
        </p:spPr>
      </p:sp>
      <p:sp>
        <p:nvSpPr>
          <p:cNvPr id="29" name="decor-top-right">
            <a:extLst>
              <a:ext uri="{FF2B5EF4-FFF2-40B4-BE49-F238E27FC236}">
                <a16:creationId xmlns:a16="http://schemas.microsoft.com/office/drawing/2014/main" id="{D0155A93-A3FE-47D1-96C9-3E401F253B4F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1143000" cy="1428750"/>
          </a:xfrm>
          <a:prstGeom prst="ellipse">
            <a:avLst/>
          </a:prstGeom>
          <a:solidFill>
            <a:srgbClr val="EAF8F0"/>
          </a:solidFill>
          <a:ln w="0">
            <a:noFill/>
            <a:prstDash val="solid"/>
          </a:ln>
        </p:spPr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77C42F8E-96CF-40AE-9DA2-BD40E812D512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DDF4E7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694B9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94B93"/>
                </a:solidFill>
                <a:latin typeface="Arial Unicode MS"/>
                <a:ea typeface="Arial Unicode MS"/>
                <a:cs typeface="Arial Unicode MS"/>
              </a:rPr>
              <a:t>01 · AI CORE</a:t>
            </a:r>
          </a:p>
        </p:txBody>
      </p:sp>
      <p:sp>
        <p:nvSpPr>
          <p:cNvPr id="31" name="slide-title">
            <a:extLst>
              <a:ext uri="{FF2B5EF4-FFF2-40B4-BE49-F238E27FC236}">
                <a16:creationId xmlns:a16="http://schemas.microsoft.com/office/drawing/2014/main" id="{58FC843E-262D-4179-8C04-BD476619AB5E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Azure OpenAI：AI 只生成可驗證的行動卡草稿</a:t>
            </a: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90B24CA0-6F06-47D6-BAAF-FA021FB22082}"/>
              </a:ext>
            </a:extLst>
          </p:cNvPr>
          <p:cNvSpPr>
            <a:spLocks noGrp="1"/>
          </p:cNvSpPr>
          <p:nvPr/>
        </p:nvSpPr>
        <p:spPr>
          <a:xfrm>
            <a:off x="571500" y="1438275"/>
            <a:ext cx="800100" cy="57150"/>
          </a:xfrm>
          <a:prstGeom prst="roundRect">
            <a:avLst>
              <a:gd name="adj" fmla="val 50000"/>
            </a:avLst>
          </a:prstGeom>
          <a:solidFill>
            <a:srgbClr val="694B93"/>
          </a:solidFill>
          <a:ln w="0">
            <a:noFill/>
            <a:prstDash val="solid"/>
          </a:ln>
        </p:spPr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ED7B9DFF-60D0-49D8-A855-B294F9B0B043}"/>
              </a:ext>
            </a:extLst>
          </p:cNvPr>
          <p:cNvSpPr>
            <a:spLocks noGrp="1"/>
          </p:cNvSpPr>
          <p:nvPr/>
        </p:nvSpPr>
        <p:spPr>
          <a:xfrm>
            <a:off x="1466850" y="1438275"/>
            <a:ext cx="266700" cy="57150"/>
          </a:xfrm>
          <a:prstGeom prst="roundRect">
            <a:avLst>
              <a:gd name="adj" fmla="val 50000"/>
            </a:avLst>
          </a:prstGeom>
          <a:solidFill>
            <a:srgbClr val="9FD9B9"/>
          </a:solidFill>
          <a:ln w="0">
            <a:noFill/>
            <a:prstDash val="solid"/>
          </a:ln>
        </p:spPr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F11D72C7-9B84-4C94-8EB4-C060A8E891D1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E9E2F8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694B9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94B93"/>
                </a:solidFill>
                <a:latin typeface="Arial Unicode MS"/>
                <a:ea typeface="Arial Unicode MS"/>
                <a:cs typeface="Arial Unicode MS"/>
              </a:rPr>
              <a:t>驗證目標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9C5CD36-E329-4D3A-8C5E-D9C4A974A14E}"/>
              </a:ext>
            </a:extLst>
          </p:cNvPr>
          <p:cNvSpPr>
            <a:spLocks noGrp="1"/>
          </p:cNvSpPr>
          <p:nvPr/>
        </p:nvSpPr>
        <p:spPr>
          <a:xfrm>
            <a:off x="571500" y="2238375"/>
            <a:ext cx="357187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把自然語言活動、環境與最低限度個人條件整理成固定格式方案；模型不得降低官方規則底線。</a:t>
            </a:r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CF1CB397-3173-48C7-9D49-E0958FB24062}"/>
              </a:ext>
            </a:extLst>
          </p:cNvPr>
          <p:cNvSpPr>
            <a:spLocks noGrp="1"/>
          </p:cNvSpPr>
          <p:nvPr/>
        </p:nvSpPr>
        <p:spPr>
          <a:xfrm>
            <a:off x="571500" y="32194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DDF4E7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驗證過程</a:t>
            </a:r>
          </a:p>
        </p:txBody>
      </p: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B155D72F-4043-4D43-8E54-C31042C61BFF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3571875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51925785-B677-458F-9385-00E617F1E271}"/>
              </a:ext>
            </a:extLst>
          </p:cNvPr>
          <p:cNvSpPr>
            <a:spLocks noGrp="1"/>
          </p:cNvSpPr>
          <p:nvPr/>
        </p:nvSpPr>
        <p:spPr>
          <a:xfrm>
            <a:off x="704850" y="3838575"/>
            <a:ext cx="381000" cy="381000"/>
          </a:xfrm>
          <a:prstGeom prst="ellipse">
            <a:avLst/>
          </a:prstGeom>
          <a:solidFill>
            <a:srgbClr val="237A50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E482930-92BF-4A38-B320-D83F959DC5E1}"/>
              </a:ext>
            </a:extLst>
          </p:cNvPr>
          <p:cNvSpPr>
            <a:spLocks noGrp="1"/>
          </p:cNvSpPr>
          <p:nvPr/>
        </p:nvSpPr>
        <p:spPr>
          <a:xfrm>
            <a:off x="704850" y="383857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7A52385-65EC-4664-A2F3-99A80CD5264E}"/>
              </a:ext>
            </a:extLst>
          </p:cNvPr>
          <p:cNvSpPr>
            <a:spLocks noGrp="1"/>
          </p:cNvSpPr>
          <p:nvPr/>
        </p:nvSpPr>
        <p:spPr>
          <a:xfrm>
            <a:off x="1219200" y="3790950"/>
            <a:ext cx="27908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最小化情境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20E148A-6A20-4D7E-B89E-939567F0791F}"/>
              </a:ext>
            </a:extLst>
          </p:cNvPr>
          <p:cNvSpPr>
            <a:spLocks noGrp="1"/>
          </p:cNvSpPr>
          <p:nvPr/>
        </p:nvSpPr>
        <p:spPr>
          <a:xfrm>
            <a:off x="1219200" y="4067175"/>
            <a:ext cx="2790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F7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7669"/>
                </a:solidFill>
                <a:latin typeface="Arial Unicode MS"/>
                <a:ea typeface="Arial Unicode MS"/>
                <a:cs typeface="Arial Unicode MS"/>
              </a:rPr>
              <a:t>活動＋AQI／天氣＋規則底線</a:t>
            </a:r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143267D1-BB51-451F-A282-AB2ACFAB7C4E}"/>
              </a:ext>
            </a:extLst>
          </p:cNvPr>
          <p:cNvSpPr>
            <a:spLocks noGrp="1"/>
          </p:cNvSpPr>
          <p:nvPr/>
        </p:nvSpPr>
        <p:spPr>
          <a:xfrm>
            <a:off x="571500" y="4457700"/>
            <a:ext cx="3571875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BC461C27-B6C8-4196-BA7F-A988D0D1DC62}"/>
              </a:ext>
            </a:extLst>
          </p:cNvPr>
          <p:cNvSpPr>
            <a:spLocks noGrp="1"/>
          </p:cNvSpPr>
          <p:nvPr/>
        </p:nvSpPr>
        <p:spPr>
          <a:xfrm>
            <a:off x="704850" y="4619625"/>
            <a:ext cx="381000" cy="381000"/>
          </a:xfrm>
          <a:prstGeom prst="ellipse">
            <a:avLst/>
          </a:prstGeom>
          <a:solidFill>
            <a:srgbClr val="237A50"/>
          </a:solidFill>
          <a:ln w="0">
            <a:noFill/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00D6F7C-DC95-4B04-875E-83CA4A3DFC87}"/>
              </a:ext>
            </a:extLst>
          </p:cNvPr>
          <p:cNvSpPr>
            <a:spLocks noGrp="1"/>
          </p:cNvSpPr>
          <p:nvPr/>
        </p:nvSpPr>
        <p:spPr>
          <a:xfrm>
            <a:off x="704850" y="461962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FB4D55F-EBDA-42FA-AA3C-20616A298F73}"/>
              </a:ext>
            </a:extLst>
          </p:cNvPr>
          <p:cNvSpPr>
            <a:spLocks noGrp="1"/>
          </p:cNvSpPr>
          <p:nvPr/>
        </p:nvSpPr>
        <p:spPr>
          <a:xfrm>
            <a:off x="1219200" y="4572000"/>
            <a:ext cx="27908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Structured Output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E9AAF7B-9E4C-49EB-B73C-5D79C652DB2A}"/>
              </a:ext>
            </a:extLst>
          </p:cNvPr>
          <p:cNvSpPr>
            <a:spLocks noGrp="1"/>
          </p:cNvSpPr>
          <p:nvPr/>
        </p:nvSpPr>
        <p:spPr>
          <a:xfrm>
            <a:off x="1219200" y="4848225"/>
            <a:ext cx="2790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F7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7669"/>
                </a:solidFill>
                <a:latin typeface="Arial Unicode MS"/>
                <a:ea typeface="Arial Unicode MS"/>
                <a:cs typeface="Arial Unicode MS"/>
              </a:rPr>
              <a:t>以 strict JSON Schema 收斂欄位</a:t>
            </a:r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E348F0F4-AAA2-4D1D-A639-A4A3B7538E14}"/>
              </a:ext>
            </a:extLst>
          </p:cNvPr>
          <p:cNvSpPr>
            <a:spLocks noGrp="1"/>
          </p:cNvSpPr>
          <p:nvPr/>
        </p:nvSpPr>
        <p:spPr>
          <a:xfrm>
            <a:off x="571500" y="5238750"/>
            <a:ext cx="3571875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D873DFC1-BDE4-4A60-9EC9-CDC57808458C}"/>
              </a:ext>
            </a:extLst>
          </p:cNvPr>
          <p:cNvSpPr>
            <a:spLocks noGrp="1"/>
          </p:cNvSpPr>
          <p:nvPr/>
        </p:nvSpPr>
        <p:spPr>
          <a:xfrm>
            <a:off x="704850" y="5400675"/>
            <a:ext cx="381000" cy="381000"/>
          </a:xfrm>
          <a:prstGeom prst="ellipse">
            <a:avLst/>
          </a:prstGeom>
          <a:solidFill>
            <a:srgbClr val="237A50"/>
          </a:solidFill>
          <a:ln w="0">
            <a:noFill/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9960AEA-BFE8-4EED-A622-41607C4180B5}"/>
              </a:ext>
            </a:extLst>
          </p:cNvPr>
          <p:cNvSpPr>
            <a:spLocks noGrp="1"/>
          </p:cNvSpPr>
          <p:nvPr/>
        </p:nvSpPr>
        <p:spPr>
          <a:xfrm>
            <a:off x="704850" y="5400675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F519BB1-5C9C-4444-9A75-7B3EFB45BD89}"/>
              </a:ext>
            </a:extLst>
          </p:cNvPr>
          <p:cNvSpPr>
            <a:spLocks noGrp="1"/>
          </p:cNvSpPr>
          <p:nvPr/>
        </p:nvSpPr>
        <p:spPr>
          <a:xfrm>
            <a:off x="1219200" y="5353050"/>
            <a:ext cx="27908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安全後處理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6858739-6002-4F20-A123-426C82EFB3FC}"/>
              </a:ext>
            </a:extLst>
          </p:cNvPr>
          <p:cNvSpPr>
            <a:spLocks noGrp="1"/>
          </p:cNvSpPr>
          <p:nvPr/>
        </p:nvSpPr>
        <p:spPr>
          <a:xfrm>
            <a:off x="1219200" y="5629275"/>
            <a:ext cx="2790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5F7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7669"/>
                </a:solidFill>
                <a:latin typeface="Arial Unicode MS"/>
                <a:ea typeface="Arial Unicode MS"/>
                <a:cs typeface="Arial Unicode MS"/>
              </a:rPr>
              <a:t>Zod、醫療界線與事實引用複驗</a:t>
            </a:r>
          </a:p>
        </p:txBody>
      </p:sp>
      <p:sp>
        <p:nvSpPr>
          <p:cNvPr id="52" name="ai-screen-shadow">
            <a:extLst>
              <a:ext uri="{FF2B5EF4-FFF2-40B4-BE49-F238E27FC236}">
                <a16:creationId xmlns:a16="http://schemas.microsoft.com/office/drawing/2014/main" id="{6C5F040E-5930-49A7-804D-34A038CF590E}"/>
              </a:ext>
            </a:extLst>
          </p:cNvPr>
          <p:cNvSpPr>
            <a:spLocks noGrp="1"/>
          </p:cNvSpPr>
          <p:nvPr/>
        </p:nvSpPr>
        <p:spPr>
          <a:xfrm>
            <a:off x="4552950" y="1530350"/>
            <a:ext cx="7143750" cy="4010025"/>
          </a:xfrm>
          <a:prstGeom prst="roundRect">
            <a:avLst>
              <a:gd name="adj" fmla="val 3800"/>
            </a:avLst>
          </a:prstGeom>
          <a:solidFill>
            <a:srgbClr val="BFD8CA"/>
          </a:solidFill>
          <a:ln w="0">
            <a:noFill/>
            <a:prstDash val="solid"/>
          </a:ln>
        </p:spPr>
      </p:sp>
      <p:sp>
        <p:nvSpPr>
          <p:cNvPr id="53" name="ai-screen-frame">
            <a:extLst>
              <a:ext uri="{FF2B5EF4-FFF2-40B4-BE49-F238E27FC236}">
                <a16:creationId xmlns:a16="http://schemas.microsoft.com/office/drawing/2014/main" id="{C53F9A2E-A34F-40F3-B19B-4D7B59374829}"/>
              </a:ext>
            </a:extLst>
          </p:cNvPr>
          <p:cNvSpPr>
            <a:spLocks noGrp="1"/>
          </p:cNvSpPr>
          <p:nvPr/>
        </p:nvSpPr>
        <p:spPr>
          <a:xfrm>
            <a:off x="4476750" y="1435100"/>
            <a:ext cx="7143750" cy="4010025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pic>
        <p:nvPicPr>
          <p:cNvPr id="111" name="圖片 110"/>
          <p:cNvPicPr>
            <a:picLocks noChangeAspect="1"/>
          </p:cNvPicPr>
          <p:nvPr/>
        </p:nvPicPr>
        <p:blipFill>
          <a:blip r:embed="rId3"/>
          <a:srcRect t="954" b="954"/>
          <a:stretch>
            <a:fillRect/>
          </a:stretch>
        </p:blipFill>
        <p:spPr>
          <a:xfrm>
            <a:off x="4552950" y="1511300"/>
            <a:ext cx="6991350" cy="3857625"/>
          </a:xfrm>
          <a:prstGeom prst="roundRect">
            <a:avLst>
              <a:gd name="adj" fmla="val 2963"/>
            </a:avLst>
          </a:prstGeom>
        </p:spPr>
      </p:pic>
      <p:sp>
        <p:nvSpPr>
          <p:cNvPr id="55" name="圓角矩形 54">
            <a:extLst>
              <a:ext uri="{FF2B5EF4-FFF2-40B4-BE49-F238E27FC236}">
                <a16:creationId xmlns:a16="http://schemas.microsoft.com/office/drawing/2014/main" id="{055C472D-56A1-4B9D-AD42-FFD5731B37A0}"/>
              </a:ext>
            </a:extLst>
          </p:cNvPr>
          <p:cNvSpPr>
            <a:spLocks noGrp="1"/>
          </p:cNvSpPr>
          <p:nvPr/>
        </p:nvSpPr>
        <p:spPr>
          <a:xfrm>
            <a:off x="4476750" y="5683244"/>
            <a:ext cx="7143750" cy="638175"/>
          </a:xfrm>
          <a:prstGeom prst="roundRect">
            <a:avLst>
              <a:gd name="adj" fmla="val 17910"/>
            </a:avLst>
          </a:prstGeom>
          <a:solidFill>
            <a:srgbClr val="E9E2F8"/>
          </a:solidFill>
          <a:ln w="9525">
            <a:solidFill>
              <a:srgbClr val="CCBDE9"/>
            </a:solidFill>
            <a:prstDash val="solid"/>
          </a:ln>
        </p:spPr>
      </p:sp>
      <p:sp>
        <p:nvSpPr>
          <p:cNvPr id="56" name="圓角矩形 55">
            <a:extLst>
              <a:ext uri="{FF2B5EF4-FFF2-40B4-BE49-F238E27FC236}">
                <a16:creationId xmlns:a16="http://schemas.microsoft.com/office/drawing/2014/main" id="{4D36A52C-B074-48A9-9F8E-3CB7CA301CDB}"/>
              </a:ext>
            </a:extLst>
          </p:cNvPr>
          <p:cNvSpPr>
            <a:spLocks noGrp="1"/>
          </p:cNvSpPr>
          <p:nvPr/>
        </p:nvSpPr>
        <p:spPr>
          <a:xfrm>
            <a:off x="4648200" y="5877979"/>
            <a:ext cx="129540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125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 dirty="0" err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雛形驗證結果</a:t>
            </a:r>
            <a:endParaRPr sz="1125" b="1" dirty="0">
              <a:solidFill>
                <a:srgbClr val="237A50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A232462-DE23-4C68-AA61-281C8A92DC2B}"/>
              </a:ext>
            </a:extLst>
          </p:cNvPr>
          <p:cNvSpPr>
            <a:spLocks noGrp="1"/>
          </p:cNvSpPr>
          <p:nvPr/>
        </p:nvSpPr>
        <p:spPr>
          <a:xfrm>
            <a:off x="6096000" y="5826119"/>
            <a:ext cx="5334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694B9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94B93"/>
                </a:solidFill>
                <a:latin typeface="Arial Unicode MS"/>
                <a:ea typeface="Arial Unicode MS"/>
                <a:cs typeface="Arial Unicode MS"/>
              </a:rPr>
              <a:t>Responses API、嚴格 JSON Schema 與無密碼驗證介面已有實作資產；固定安全評估 30／30 通過。</a:t>
            </a:r>
          </a:p>
        </p:txBody>
      </p:sp>
    </p:spTree>
    <p:extLst>
      <p:ext uri="{BB962C8B-B14F-4D97-AF65-F5344CB8AC3E}">
        <p14:creationId xmlns:p14="http://schemas.microsoft.com/office/powerpoint/2010/main" val="1886871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直線接點 54">
            <a:extLst>
              <a:ext uri="{FF2B5EF4-FFF2-40B4-BE49-F238E27FC236}">
                <a16:creationId xmlns:a16="http://schemas.microsoft.com/office/drawing/2014/main" id="{522E29D3-9C87-4F1B-A800-FF10FE1E4B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" name="直線接點 1">
            <a:extLst>
              <a:ext uri="{FF2B5EF4-FFF2-40B4-BE49-F238E27FC236}">
                <a16:creationId xmlns:a16="http://schemas.microsoft.com/office/drawing/2014/main" id="{035361E4-D8DD-46AA-A145-707E28A15EF2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CE96959C-DCD1-45FE-BB84-48BB309DE93A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BDE063CA-7882-4818-B14A-1249C288EB6D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5" name="直線接點 4">
            <a:extLst>
              <a:ext uri="{FF2B5EF4-FFF2-40B4-BE49-F238E27FC236}">
                <a16:creationId xmlns:a16="http://schemas.microsoft.com/office/drawing/2014/main" id="{695AB16F-822C-4569-9A35-9CAABF1C95D7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6" name="直線接點 5">
            <a:extLst>
              <a:ext uri="{FF2B5EF4-FFF2-40B4-BE49-F238E27FC236}">
                <a16:creationId xmlns:a16="http://schemas.microsoft.com/office/drawing/2014/main" id="{05AC7945-C164-4D6A-9AFB-5D74379BE72A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7" name="直線接點 6">
            <a:extLst>
              <a:ext uri="{FF2B5EF4-FFF2-40B4-BE49-F238E27FC236}">
                <a16:creationId xmlns:a16="http://schemas.microsoft.com/office/drawing/2014/main" id="{7CDD29D4-95A7-4E26-B196-D629ADA76B6F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8" name="直線接點 7">
            <a:extLst>
              <a:ext uri="{FF2B5EF4-FFF2-40B4-BE49-F238E27FC236}">
                <a16:creationId xmlns:a16="http://schemas.microsoft.com/office/drawing/2014/main" id="{0BE245B1-1EB2-478F-9145-B5C1849A2546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9" name="直線接點 8">
            <a:extLst>
              <a:ext uri="{FF2B5EF4-FFF2-40B4-BE49-F238E27FC236}">
                <a16:creationId xmlns:a16="http://schemas.microsoft.com/office/drawing/2014/main" id="{16DC74D7-7C9C-4D02-B7AD-7C1F8BBABA95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BDDE62F1-8507-4D16-8617-F33374E16A16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1" name="直線接點 10">
            <a:extLst>
              <a:ext uri="{FF2B5EF4-FFF2-40B4-BE49-F238E27FC236}">
                <a16:creationId xmlns:a16="http://schemas.microsoft.com/office/drawing/2014/main" id="{92F0A25D-27BB-4FC9-A009-BA4E38EA8B3B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2" name="直線接點 11">
            <a:extLst>
              <a:ext uri="{FF2B5EF4-FFF2-40B4-BE49-F238E27FC236}">
                <a16:creationId xmlns:a16="http://schemas.microsoft.com/office/drawing/2014/main" id="{252BB22B-E89A-4DED-8B4E-4009A3D2043E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3" name="直線接點 12">
            <a:extLst>
              <a:ext uri="{FF2B5EF4-FFF2-40B4-BE49-F238E27FC236}">
                <a16:creationId xmlns:a16="http://schemas.microsoft.com/office/drawing/2014/main" id="{034EEBA8-560A-487F-9C17-665A734F9A6D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4" name="直線接點 13">
            <a:extLst>
              <a:ext uri="{FF2B5EF4-FFF2-40B4-BE49-F238E27FC236}">
                <a16:creationId xmlns:a16="http://schemas.microsoft.com/office/drawing/2014/main" id="{71F428C0-3C28-43D2-BC74-ABA13244560A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5" name="直線接點 14">
            <a:extLst>
              <a:ext uri="{FF2B5EF4-FFF2-40B4-BE49-F238E27FC236}">
                <a16:creationId xmlns:a16="http://schemas.microsoft.com/office/drawing/2014/main" id="{2EAD36E0-2C8F-4149-9844-0EE345A399B9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BB70CEFE-9D05-4A2C-AACF-5BB5D43D2857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7" name="直線接點 16">
            <a:extLst>
              <a:ext uri="{FF2B5EF4-FFF2-40B4-BE49-F238E27FC236}">
                <a16:creationId xmlns:a16="http://schemas.microsoft.com/office/drawing/2014/main" id="{8BDE150F-015B-4A36-AB41-13C5800C770C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8" name="直線接點 17">
            <a:extLst>
              <a:ext uri="{FF2B5EF4-FFF2-40B4-BE49-F238E27FC236}">
                <a16:creationId xmlns:a16="http://schemas.microsoft.com/office/drawing/2014/main" id="{A36FEF56-21F8-4C16-9CD4-B4F561DE96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9" name="直線接點 18">
            <a:extLst>
              <a:ext uri="{FF2B5EF4-FFF2-40B4-BE49-F238E27FC236}">
                <a16:creationId xmlns:a16="http://schemas.microsoft.com/office/drawing/2014/main" id="{17A72979-02BD-48BD-B3B4-51FF7EDB6B34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0" name="直線接點 19">
            <a:extLst>
              <a:ext uri="{FF2B5EF4-FFF2-40B4-BE49-F238E27FC236}">
                <a16:creationId xmlns:a16="http://schemas.microsoft.com/office/drawing/2014/main" id="{895FF1A3-04C6-49A0-BDA0-B42AB1CB3476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1" name="直線接點 20">
            <a:extLst>
              <a:ext uri="{FF2B5EF4-FFF2-40B4-BE49-F238E27FC236}">
                <a16:creationId xmlns:a16="http://schemas.microsoft.com/office/drawing/2014/main" id="{84B96FB4-A960-451A-B113-009634FD3A2A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2" name="直線接點 21">
            <a:extLst>
              <a:ext uri="{FF2B5EF4-FFF2-40B4-BE49-F238E27FC236}">
                <a16:creationId xmlns:a16="http://schemas.microsoft.com/office/drawing/2014/main" id="{DDA711C2-762C-4B06-BD95-B8B8B2F02B4F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3" name="直線接點 22">
            <a:extLst>
              <a:ext uri="{FF2B5EF4-FFF2-40B4-BE49-F238E27FC236}">
                <a16:creationId xmlns:a16="http://schemas.microsoft.com/office/drawing/2014/main" id="{79FAD8F1-E4EF-4CBE-91B3-128EAE328BD6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37F5C786-FDE8-431F-B52C-B31E720D0C85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5" name="直線接點 24">
            <a:extLst>
              <a:ext uri="{FF2B5EF4-FFF2-40B4-BE49-F238E27FC236}">
                <a16:creationId xmlns:a16="http://schemas.microsoft.com/office/drawing/2014/main" id="{19E0D704-7453-48B3-9C46-F54E57E0A877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6" name="直線接點 25">
            <a:extLst>
              <a:ext uri="{FF2B5EF4-FFF2-40B4-BE49-F238E27FC236}">
                <a16:creationId xmlns:a16="http://schemas.microsoft.com/office/drawing/2014/main" id="{2BB98AC3-0AF3-41DF-A855-62DAAAAA657B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7" name="直線接點 26">
            <a:extLst>
              <a:ext uri="{FF2B5EF4-FFF2-40B4-BE49-F238E27FC236}">
                <a16:creationId xmlns:a16="http://schemas.microsoft.com/office/drawing/2014/main" id="{FC3FCCD9-2F2B-42D2-A549-ED9E8C52C42E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8" name="decor-bottom-left">
            <a:extLst>
              <a:ext uri="{FF2B5EF4-FFF2-40B4-BE49-F238E27FC236}">
                <a16:creationId xmlns:a16="http://schemas.microsoft.com/office/drawing/2014/main" id="{13DFF291-1E1F-4729-A2C2-CAC5654B2AC8}"/>
              </a:ext>
            </a:extLst>
          </p:cNvPr>
          <p:cNvSpPr>
            <a:spLocks noGrp="1"/>
          </p:cNvSpPr>
          <p:nvPr/>
        </p:nvSpPr>
        <p:spPr>
          <a:xfrm>
            <a:off x="0" y="5619750"/>
            <a:ext cx="1428750" cy="1238250"/>
          </a:xfrm>
          <a:prstGeom prst="ellipse">
            <a:avLst/>
          </a:prstGeom>
          <a:solidFill>
            <a:srgbClr val="DDF4E7"/>
          </a:solidFill>
          <a:ln w="0">
            <a:noFill/>
            <a:prstDash val="solid"/>
          </a:ln>
        </p:spPr>
      </p:sp>
      <p:sp>
        <p:nvSpPr>
          <p:cNvPr id="29" name="decor-top-right">
            <a:extLst>
              <a:ext uri="{FF2B5EF4-FFF2-40B4-BE49-F238E27FC236}">
                <a16:creationId xmlns:a16="http://schemas.microsoft.com/office/drawing/2014/main" id="{DD54D34B-AB04-4449-B46D-2381FCEE084C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1143000" cy="1428750"/>
          </a:xfrm>
          <a:prstGeom prst="ellipse">
            <a:avLst/>
          </a:prstGeom>
          <a:solidFill>
            <a:srgbClr val="EAF8F0"/>
          </a:solidFill>
          <a:ln w="0">
            <a:noFill/>
            <a:prstDash val="solid"/>
          </a:ln>
        </p:spPr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1CC127C5-9340-491D-A55C-3D51B164640B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DDF4E7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246B9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46B91"/>
                </a:solidFill>
                <a:latin typeface="Arial Unicode MS"/>
                <a:ea typeface="Arial Unicode MS"/>
                <a:cs typeface="Arial Unicode MS"/>
              </a:rPr>
              <a:t>02 · SHARED API</a:t>
            </a:r>
          </a:p>
        </p:txBody>
      </p:sp>
      <p:sp>
        <p:nvSpPr>
          <p:cNvPr id="31" name="slide-title">
            <a:extLst>
              <a:ext uri="{FF2B5EF4-FFF2-40B4-BE49-F238E27FC236}">
                <a16:creationId xmlns:a16="http://schemas.microsoft.com/office/drawing/2014/main" id="{0EFE0395-002B-414C-9AE5-193E1726DDFF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Azure App Service：Web 與 App 共用同一個安全後端</a:t>
            </a: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704BA880-0A46-437B-9624-7D97432D8A34}"/>
              </a:ext>
            </a:extLst>
          </p:cNvPr>
          <p:cNvSpPr>
            <a:spLocks noGrp="1"/>
          </p:cNvSpPr>
          <p:nvPr/>
        </p:nvSpPr>
        <p:spPr>
          <a:xfrm>
            <a:off x="571500" y="1438275"/>
            <a:ext cx="800100" cy="57150"/>
          </a:xfrm>
          <a:prstGeom prst="roundRect">
            <a:avLst>
              <a:gd name="adj" fmla="val 50000"/>
            </a:avLst>
          </a:prstGeom>
          <a:solidFill>
            <a:srgbClr val="246B91"/>
          </a:solidFill>
          <a:ln w="0">
            <a:noFill/>
            <a:prstDash val="solid"/>
          </a:ln>
        </p:spPr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5E4185BA-18F0-458F-BD2F-4440202E2535}"/>
              </a:ext>
            </a:extLst>
          </p:cNvPr>
          <p:cNvSpPr>
            <a:spLocks noGrp="1"/>
          </p:cNvSpPr>
          <p:nvPr/>
        </p:nvSpPr>
        <p:spPr>
          <a:xfrm>
            <a:off x="1466850" y="1438275"/>
            <a:ext cx="266700" cy="57150"/>
          </a:xfrm>
          <a:prstGeom prst="roundRect">
            <a:avLst>
              <a:gd name="adj" fmla="val 50000"/>
            </a:avLst>
          </a:prstGeom>
          <a:solidFill>
            <a:srgbClr val="9FD9B9"/>
          </a:solidFill>
          <a:ln w="0">
            <a:noFill/>
            <a:prstDash val="solid"/>
          </a:ln>
        </p:spPr>
      </p:sp>
      <p:sp>
        <p:nvSpPr>
          <p:cNvPr id="34" name="api-screen-shadow">
            <a:extLst>
              <a:ext uri="{FF2B5EF4-FFF2-40B4-BE49-F238E27FC236}">
                <a16:creationId xmlns:a16="http://schemas.microsoft.com/office/drawing/2014/main" id="{7FA7D805-846F-4F96-B312-67B66E55A05F}"/>
              </a:ext>
            </a:extLst>
          </p:cNvPr>
          <p:cNvSpPr>
            <a:spLocks noGrp="1"/>
          </p:cNvSpPr>
          <p:nvPr/>
        </p:nvSpPr>
        <p:spPr>
          <a:xfrm>
            <a:off x="647700" y="1905000"/>
            <a:ext cx="6334125" cy="3962400"/>
          </a:xfrm>
          <a:prstGeom prst="roundRect">
            <a:avLst>
              <a:gd name="adj" fmla="val 3846"/>
            </a:avLst>
          </a:prstGeom>
          <a:solidFill>
            <a:srgbClr val="BFD8CA"/>
          </a:solidFill>
          <a:ln w="0">
            <a:noFill/>
            <a:prstDash val="solid"/>
          </a:ln>
        </p:spPr>
      </p:sp>
      <p:sp>
        <p:nvSpPr>
          <p:cNvPr id="35" name="api-screen-frame">
            <a:extLst>
              <a:ext uri="{FF2B5EF4-FFF2-40B4-BE49-F238E27FC236}">
                <a16:creationId xmlns:a16="http://schemas.microsoft.com/office/drawing/2014/main" id="{9ECA180E-1E53-452E-B182-5109EEBEF16E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6334125" cy="39624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pic>
        <p:nvPicPr>
          <p:cNvPr id="90" name="圖片 8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0563" y="1885950"/>
            <a:ext cx="6096000" cy="3810000"/>
          </a:xfrm>
          <a:prstGeom prst="roundRect">
            <a:avLst>
              <a:gd name="adj" fmla="val 3000"/>
            </a:avLst>
          </a:prstGeom>
        </p:spPr>
      </p:pic>
      <p:sp>
        <p:nvSpPr>
          <p:cNvPr id="37" name="圓角矩形 36">
            <a:extLst>
              <a:ext uri="{FF2B5EF4-FFF2-40B4-BE49-F238E27FC236}">
                <a16:creationId xmlns:a16="http://schemas.microsoft.com/office/drawing/2014/main" id="{5AFC9BB4-4F95-4316-B0BB-50B76B8BC600}"/>
              </a:ext>
            </a:extLst>
          </p:cNvPr>
          <p:cNvSpPr>
            <a:spLocks noGrp="1"/>
          </p:cNvSpPr>
          <p:nvPr/>
        </p:nvSpPr>
        <p:spPr>
          <a:xfrm>
            <a:off x="7334250" y="18097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246B9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46B91"/>
                </a:solidFill>
                <a:latin typeface="Arial Unicode MS"/>
                <a:ea typeface="Arial Unicode MS"/>
                <a:cs typeface="Arial Unicode MS"/>
              </a:rPr>
              <a:t>驗證目標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E52B637-2CD2-40CA-BFE0-BD2BB82D65E7}"/>
              </a:ext>
            </a:extLst>
          </p:cNvPr>
          <p:cNvSpPr>
            <a:spLocks noGrp="1"/>
          </p:cNvSpPr>
          <p:nvPr/>
        </p:nvSpPr>
        <p:spPr>
          <a:xfrm>
            <a:off x="7334250" y="2266950"/>
            <a:ext cx="4286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AI、政府資料與資料庫存取集中在可信任後端；前端只接收通過共用 Schema 的結果。</a:t>
            </a:r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DB1D5D8E-2DF5-4F1C-8DF2-A269D2C3FF8B}"/>
              </a:ext>
            </a:extLst>
          </p:cNvPr>
          <p:cNvSpPr>
            <a:spLocks noGrp="1"/>
          </p:cNvSpPr>
          <p:nvPr/>
        </p:nvSpPr>
        <p:spPr>
          <a:xfrm>
            <a:off x="7334250" y="314325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DDF4E7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驗證過程</a:t>
            </a: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2A2D5C5B-EEC4-4BC6-AD2C-4B7CA5E74388}"/>
              </a:ext>
            </a:extLst>
          </p:cNvPr>
          <p:cNvSpPr>
            <a:spLocks noGrp="1"/>
          </p:cNvSpPr>
          <p:nvPr/>
        </p:nvSpPr>
        <p:spPr>
          <a:xfrm>
            <a:off x="7353300" y="3609975"/>
            <a:ext cx="285750" cy="285750"/>
          </a:xfrm>
          <a:prstGeom prst="ellipse">
            <a:avLst/>
          </a:prstGeom>
          <a:solidFill>
            <a:srgbClr val="246B91"/>
          </a:solidFill>
          <a:ln w="0"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8405F96-8A07-4EC3-9E0B-B2CEAF3B1077}"/>
              </a:ext>
            </a:extLst>
          </p:cNvPr>
          <p:cNvSpPr>
            <a:spLocks noGrp="1"/>
          </p:cNvSpPr>
          <p:nvPr/>
        </p:nvSpPr>
        <p:spPr>
          <a:xfrm>
            <a:off x="7353300" y="36099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5B62080-0C43-4DF1-9B62-00295B03A500}"/>
              </a:ext>
            </a:extLst>
          </p:cNvPr>
          <p:cNvSpPr>
            <a:spLocks noGrp="1"/>
          </p:cNvSpPr>
          <p:nvPr/>
        </p:nvSpPr>
        <p:spPr>
          <a:xfrm>
            <a:off x="7791450" y="362902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Web／App 送出 HTTPS JSON</a:t>
            </a:r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73C07224-F31C-4909-8BFE-2558B73AF0D6}"/>
              </a:ext>
            </a:extLst>
          </p:cNvPr>
          <p:cNvSpPr>
            <a:spLocks noGrp="1"/>
          </p:cNvSpPr>
          <p:nvPr/>
        </p:nvSpPr>
        <p:spPr>
          <a:xfrm>
            <a:off x="7353300" y="4038600"/>
            <a:ext cx="285750" cy="285750"/>
          </a:xfrm>
          <a:prstGeom prst="ellipse">
            <a:avLst/>
          </a:prstGeom>
          <a:solidFill>
            <a:srgbClr val="246B91"/>
          </a:solidFill>
          <a:ln w="0">
            <a:noFill/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FAC86B0-9EC9-40BB-A913-34EEEBF30A1B}"/>
              </a:ext>
            </a:extLst>
          </p:cNvPr>
          <p:cNvSpPr>
            <a:spLocks noGrp="1"/>
          </p:cNvSpPr>
          <p:nvPr/>
        </p:nvSpPr>
        <p:spPr>
          <a:xfrm>
            <a:off x="7353300" y="40386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57776D-E288-4071-B677-412F8E9A9042}"/>
              </a:ext>
            </a:extLst>
          </p:cNvPr>
          <p:cNvSpPr>
            <a:spLocks noGrp="1"/>
          </p:cNvSpPr>
          <p:nvPr/>
        </p:nvSpPr>
        <p:spPr>
          <a:xfrm>
            <a:off x="7791450" y="40576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Zod 驗證、CORS、32KB body gate</a:t>
            </a:r>
          </a:p>
        </p:txBody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id="{B0F0A5E0-D481-4188-A6CD-ED0D88AA1E4A}"/>
              </a:ext>
            </a:extLst>
          </p:cNvPr>
          <p:cNvSpPr>
            <a:spLocks noGrp="1"/>
          </p:cNvSpPr>
          <p:nvPr/>
        </p:nvSpPr>
        <p:spPr>
          <a:xfrm>
            <a:off x="7353300" y="4467225"/>
            <a:ext cx="285750" cy="285750"/>
          </a:xfrm>
          <a:prstGeom prst="ellipse">
            <a:avLst/>
          </a:prstGeom>
          <a:solidFill>
            <a:srgbClr val="246B91"/>
          </a:solidFill>
          <a:ln w="0">
            <a:noFill/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0DA47C1-894F-4080-86FC-AE1FDC337305}"/>
              </a:ext>
            </a:extLst>
          </p:cNvPr>
          <p:cNvSpPr>
            <a:spLocks noGrp="1"/>
          </p:cNvSpPr>
          <p:nvPr/>
        </p:nvSpPr>
        <p:spPr>
          <a:xfrm>
            <a:off x="7353300" y="44672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F108FCB-E5C9-470A-B41B-D0F016CBD5FF}"/>
              </a:ext>
            </a:extLst>
          </p:cNvPr>
          <p:cNvSpPr>
            <a:spLocks noGrp="1"/>
          </p:cNvSpPr>
          <p:nvPr/>
        </p:nvSpPr>
        <p:spPr>
          <a:xfrm>
            <a:off x="7791450" y="448627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協調環境、規則、AI 與 PostgreSQL</a:t>
            </a: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BF159C1B-ABBD-4C4E-BAA9-CD3BF5FD7FF4}"/>
              </a:ext>
            </a:extLst>
          </p:cNvPr>
          <p:cNvSpPr>
            <a:spLocks noGrp="1"/>
          </p:cNvSpPr>
          <p:nvPr/>
        </p:nvSpPr>
        <p:spPr>
          <a:xfrm>
            <a:off x="7353300" y="4895850"/>
            <a:ext cx="285750" cy="285750"/>
          </a:xfrm>
          <a:prstGeom prst="ellipse">
            <a:avLst/>
          </a:prstGeom>
          <a:solidFill>
            <a:srgbClr val="246B91"/>
          </a:solidFill>
          <a:ln w="0">
            <a:noFill/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5D47B61-3F44-486A-BE17-88F51D52F73A}"/>
              </a:ext>
            </a:extLst>
          </p:cNvPr>
          <p:cNvSpPr>
            <a:spLocks noGrp="1"/>
          </p:cNvSpPr>
          <p:nvPr/>
        </p:nvSpPr>
        <p:spPr>
          <a:xfrm>
            <a:off x="7353300" y="48958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EF8F5D4-506F-444C-8655-572911FB4830}"/>
              </a:ext>
            </a:extLst>
          </p:cNvPr>
          <p:cNvSpPr>
            <a:spLocks noGrp="1"/>
          </p:cNvSpPr>
          <p:nvPr/>
        </p:nvSpPr>
        <p:spPr>
          <a:xfrm>
            <a:off x="7791450" y="49149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回傳穩定錯誤碼與安全資料契約</a:t>
            </a:r>
          </a:p>
        </p:txBody>
      </p:sp>
      <p:sp>
        <p:nvSpPr>
          <p:cNvPr id="52" name="圓角矩形 51">
            <a:extLst>
              <a:ext uri="{FF2B5EF4-FFF2-40B4-BE49-F238E27FC236}">
                <a16:creationId xmlns:a16="http://schemas.microsoft.com/office/drawing/2014/main" id="{8B1CD567-58BC-47B1-B6CA-32E589EDB1E3}"/>
              </a:ext>
            </a:extLst>
          </p:cNvPr>
          <p:cNvSpPr>
            <a:spLocks noGrp="1"/>
          </p:cNvSpPr>
          <p:nvPr/>
        </p:nvSpPr>
        <p:spPr>
          <a:xfrm>
            <a:off x="571500" y="5953125"/>
            <a:ext cx="11049000" cy="571500"/>
          </a:xfrm>
          <a:prstGeom prst="roundRect">
            <a:avLst>
              <a:gd name="adj" fmla="val 20000"/>
            </a:avLst>
          </a:prstGeom>
          <a:solidFill>
            <a:srgbClr val="DCEFFC"/>
          </a:solidFill>
          <a:ln w="9525">
            <a:solidFill>
              <a:srgbClr val="B7DBEF"/>
            </a:solidFill>
            <a:prstDash val="solid"/>
          </a:ln>
        </p:spPr>
      </p:sp>
      <p:sp>
        <p:nvSpPr>
          <p:cNvPr id="53" name="圓角矩形 52">
            <a:extLst>
              <a:ext uri="{FF2B5EF4-FFF2-40B4-BE49-F238E27FC236}">
                <a16:creationId xmlns:a16="http://schemas.microsoft.com/office/drawing/2014/main" id="{027C2030-B149-4FAB-A816-41594DCB4141}"/>
              </a:ext>
            </a:extLst>
          </p:cNvPr>
          <p:cNvSpPr>
            <a:spLocks noGrp="1"/>
          </p:cNvSpPr>
          <p:nvPr/>
        </p:nvSpPr>
        <p:spPr>
          <a:xfrm>
            <a:off x="742950" y="6105525"/>
            <a:ext cx="129540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125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雛形驗證結果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5EAE282-3B39-4EFF-B4FE-01A653FFDCFE}"/>
              </a:ext>
            </a:extLst>
          </p:cNvPr>
          <p:cNvSpPr>
            <a:spLocks noGrp="1"/>
          </p:cNvSpPr>
          <p:nvPr/>
        </p:nvSpPr>
        <p:spPr>
          <a:xfrm>
            <a:off x="2190750" y="6096000"/>
            <a:ext cx="923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246B9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246B91"/>
                </a:solidFill>
                <a:latin typeface="Arial Unicode MS"/>
                <a:ea typeface="Arial Unicode MS"/>
                <a:cs typeface="Arial Unicode MS"/>
              </a:rPr>
              <a:t>5 條核心 API 路由、production build 與 170／170 自動化測試均通過；Web／App 共用相同 client 與安全政策。</a:t>
            </a:r>
          </a:p>
        </p:txBody>
      </p:sp>
    </p:spTree>
    <p:extLst>
      <p:ext uri="{BB962C8B-B14F-4D97-AF65-F5344CB8AC3E}">
        <p14:creationId xmlns:p14="http://schemas.microsoft.com/office/powerpoint/2010/main" val="2115063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直線接點 48">
            <a:extLst>
              <a:ext uri="{FF2B5EF4-FFF2-40B4-BE49-F238E27FC236}">
                <a16:creationId xmlns:a16="http://schemas.microsoft.com/office/drawing/2014/main" id="{2617CCB5-7F9A-43A3-AD8A-40268176EC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" name="直線接點 1">
            <a:extLst>
              <a:ext uri="{FF2B5EF4-FFF2-40B4-BE49-F238E27FC236}">
                <a16:creationId xmlns:a16="http://schemas.microsoft.com/office/drawing/2014/main" id="{CF195BAA-5D49-4FBA-8DCA-CDF9A2FE723B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1D5ADD9B-E649-4B62-AE3D-91B9EBEE4427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F92FE38E-CC74-48E5-AF86-0C20924C232A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5" name="直線接點 4">
            <a:extLst>
              <a:ext uri="{FF2B5EF4-FFF2-40B4-BE49-F238E27FC236}">
                <a16:creationId xmlns:a16="http://schemas.microsoft.com/office/drawing/2014/main" id="{34F26D44-1AB2-40AC-B806-4DA448595F36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6" name="直線接點 5">
            <a:extLst>
              <a:ext uri="{FF2B5EF4-FFF2-40B4-BE49-F238E27FC236}">
                <a16:creationId xmlns:a16="http://schemas.microsoft.com/office/drawing/2014/main" id="{44D652D6-2182-4C52-94FB-B0D8C7B11387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7" name="直線接點 6">
            <a:extLst>
              <a:ext uri="{FF2B5EF4-FFF2-40B4-BE49-F238E27FC236}">
                <a16:creationId xmlns:a16="http://schemas.microsoft.com/office/drawing/2014/main" id="{823A70E4-75C7-4720-9C9E-CF472FCA1E79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8" name="直線接點 7">
            <a:extLst>
              <a:ext uri="{FF2B5EF4-FFF2-40B4-BE49-F238E27FC236}">
                <a16:creationId xmlns:a16="http://schemas.microsoft.com/office/drawing/2014/main" id="{A6813093-4A84-4BD6-9C19-4B02D9A21E73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9" name="直線接點 8">
            <a:extLst>
              <a:ext uri="{FF2B5EF4-FFF2-40B4-BE49-F238E27FC236}">
                <a16:creationId xmlns:a16="http://schemas.microsoft.com/office/drawing/2014/main" id="{8ED56700-5108-4D86-93DE-EE481E08A740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5AAAADC8-687E-48BA-97B7-1BE6332990BD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1" name="直線接點 10">
            <a:extLst>
              <a:ext uri="{FF2B5EF4-FFF2-40B4-BE49-F238E27FC236}">
                <a16:creationId xmlns:a16="http://schemas.microsoft.com/office/drawing/2014/main" id="{F385A2FB-F7C4-4D9B-A19E-0E53E054C163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2" name="直線接點 11">
            <a:extLst>
              <a:ext uri="{FF2B5EF4-FFF2-40B4-BE49-F238E27FC236}">
                <a16:creationId xmlns:a16="http://schemas.microsoft.com/office/drawing/2014/main" id="{8B771D39-D061-4342-B359-951A6C4EB993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3" name="直線接點 12">
            <a:extLst>
              <a:ext uri="{FF2B5EF4-FFF2-40B4-BE49-F238E27FC236}">
                <a16:creationId xmlns:a16="http://schemas.microsoft.com/office/drawing/2014/main" id="{8C8AE490-AB2E-4EB6-A2E5-C2F83EBEF1C8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4" name="直線接點 13">
            <a:extLst>
              <a:ext uri="{FF2B5EF4-FFF2-40B4-BE49-F238E27FC236}">
                <a16:creationId xmlns:a16="http://schemas.microsoft.com/office/drawing/2014/main" id="{3BEAFE05-761A-48A0-8DD5-BDA9E8225558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5" name="直線接點 14">
            <a:extLst>
              <a:ext uri="{FF2B5EF4-FFF2-40B4-BE49-F238E27FC236}">
                <a16:creationId xmlns:a16="http://schemas.microsoft.com/office/drawing/2014/main" id="{50B11A53-7E0B-40A7-8800-DD282D5B8471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D6D44583-5C97-444D-851F-E8A726848C6A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7" name="直線接點 16">
            <a:extLst>
              <a:ext uri="{FF2B5EF4-FFF2-40B4-BE49-F238E27FC236}">
                <a16:creationId xmlns:a16="http://schemas.microsoft.com/office/drawing/2014/main" id="{F839F785-4E1F-41EB-B042-69E7D51C88DE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8" name="直線接點 17">
            <a:extLst>
              <a:ext uri="{FF2B5EF4-FFF2-40B4-BE49-F238E27FC236}">
                <a16:creationId xmlns:a16="http://schemas.microsoft.com/office/drawing/2014/main" id="{8082BB58-A0EA-4AA1-9DB4-42C0A210F8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9" name="直線接點 18">
            <a:extLst>
              <a:ext uri="{FF2B5EF4-FFF2-40B4-BE49-F238E27FC236}">
                <a16:creationId xmlns:a16="http://schemas.microsoft.com/office/drawing/2014/main" id="{20F2D416-7619-49F4-9453-8CA27C401D72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0" name="直線接點 19">
            <a:extLst>
              <a:ext uri="{FF2B5EF4-FFF2-40B4-BE49-F238E27FC236}">
                <a16:creationId xmlns:a16="http://schemas.microsoft.com/office/drawing/2014/main" id="{0A92502B-D1E5-47D4-8B32-AFAA1E73E391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1" name="直線接點 20">
            <a:extLst>
              <a:ext uri="{FF2B5EF4-FFF2-40B4-BE49-F238E27FC236}">
                <a16:creationId xmlns:a16="http://schemas.microsoft.com/office/drawing/2014/main" id="{C7D2FFC0-32DE-4271-894C-C3F488E1AEF0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2" name="直線接點 21">
            <a:extLst>
              <a:ext uri="{FF2B5EF4-FFF2-40B4-BE49-F238E27FC236}">
                <a16:creationId xmlns:a16="http://schemas.microsoft.com/office/drawing/2014/main" id="{8596D13E-A9A5-4CBF-A1C2-64BCE42D193E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3" name="直線接點 22">
            <a:extLst>
              <a:ext uri="{FF2B5EF4-FFF2-40B4-BE49-F238E27FC236}">
                <a16:creationId xmlns:a16="http://schemas.microsoft.com/office/drawing/2014/main" id="{A49BFF4F-418C-4DBE-BB78-6F30509BCD96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06CC331E-6891-4E37-992C-035D092C92C4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5" name="直線接點 24">
            <a:extLst>
              <a:ext uri="{FF2B5EF4-FFF2-40B4-BE49-F238E27FC236}">
                <a16:creationId xmlns:a16="http://schemas.microsoft.com/office/drawing/2014/main" id="{89C26447-FF93-444A-97B3-A0DE983C9A89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6" name="直線接點 25">
            <a:extLst>
              <a:ext uri="{FF2B5EF4-FFF2-40B4-BE49-F238E27FC236}">
                <a16:creationId xmlns:a16="http://schemas.microsoft.com/office/drawing/2014/main" id="{340107F5-1EAD-412C-AA1A-E999391DEE93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7" name="直線接點 26">
            <a:extLst>
              <a:ext uri="{FF2B5EF4-FFF2-40B4-BE49-F238E27FC236}">
                <a16:creationId xmlns:a16="http://schemas.microsoft.com/office/drawing/2014/main" id="{0BFC5032-2A61-467F-B644-BD9C607D2EE7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8" name="decor-bottom-left">
            <a:extLst>
              <a:ext uri="{FF2B5EF4-FFF2-40B4-BE49-F238E27FC236}">
                <a16:creationId xmlns:a16="http://schemas.microsoft.com/office/drawing/2014/main" id="{84E1D914-3D3B-469A-9DA1-5BE0CE5C3200}"/>
              </a:ext>
            </a:extLst>
          </p:cNvPr>
          <p:cNvSpPr>
            <a:spLocks noGrp="1"/>
          </p:cNvSpPr>
          <p:nvPr/>
        </p:nvSpPr>
        <p:spPr>
          <a:xfrm>
            <a:off x="0" y="5619750"/>
            <a:ext cx="1428750" cy="1238250"/>
          </a:xfrm>
          <a:prstGeom prst="ellipse">
            <a:avLst/>
          </a:prstGeom>
          <a:solidFill>
            <a:srgbClr val="DDF4E7"/>
          </a:solidFill>
          <a:ln w="0">
            <a:noFill/>
            <a:prstDash val="solid"/>
          </a:ln>
        </p:spPr>
      </p:sp>
      <p:sp>
        <p:nvSpPr>
          <p:cNvPr id="29" name="decor-top-right">
            <a:extLst>
              <a:ext uri="{FF2B5EF4-FFF2-40B4-BE49-F238E27FC236}">
                <a16:creationId xmlns:a16="http://schemas.microsoft.com/office/drawing/2014/main" id="{6332302F-8827-418D-B31C-54C17306F7DC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1143000" cy="1428750"/>
          </a:xfrm>
          <a:prstGeom prst="ellipse">
            <a:avLst/>
          </a:prstGeom>
          <a:solidFill>
            <a:srgbClr val="EAF8F0"/>
          </a:solidFill>
          <a:ln w="0">
            <a:noFill/>
            <a:prstDash val="solid"/>
          </a:ln>
        </p:spPr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B9890151-AA9E-47DB-BDBF-511C99972D69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DDF4E7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D89B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D89B18"/>
                </a:solidFill>
                <a:latin typeface="Arial Unicode MS"/>
                <a:ea typeface="Arial Unicode MS"/>
                <a:cs typeface="Arial Unicode MS"/>
              </a:rPr>
              <a:t>03 · WEB ENTRY</a:t>
            </a:r>
          </a:p>
        </p:txBody>
      </p:sp>
      <p:sp>
        <p:nvSpPr>
          <p:cNvPr id="31" name="slide-title">
            <a:extLst>
              <a:ext uri="{FF2B5EF4-FFF2-40B4-BE49-F238E27FC236}">
                <a16:creationId xmlns:a16="http://schemas.microsoft.com/office/drawing/2014/main" id="{171319C3-910E-4636-B9AB-49D95B36B9B5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Static Web Apps：Web 專屬入口，共用同一產品邏輯</a:t>
            </a: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C6CF2C3A-13FC-40E5-B3E0-BF1FB68685D6}"/>
              </a:ext>
            </a:extLst>
          </p:cNvPr>
          <p:cNvSpPr>
            <a:spLocks noGrp="1"/>
          </p:cNvSpPr>
          <p:nvPr/>
        </p:nvSpPr>
        <p:spPr>
          <a:xfrm>
            <a:off x="571500" y="1438275"/>
            <a:ext cx="800100" cy="57150"/>
          </a:xfrm>
          <a:prstGeom prst="roundRect">
            <a:avLst>
              <a:gd name="adj" fmla="val 50000"/>
            </a:avLst>
          </a:prstGeom>
          <a:solidFill>
            <a:srgbClr val="D89B18"/>
          </a:solidFill>
          <a:ln w="0">
            <a:noFill/>
            <a:prstDash val="solid"/>
          </a:ln>
        </p:spPr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8B610EB2-20DE-49D7-A8AF-6E57534B1558}"/>
              </a:ext>
            </a:extLst>
          </p:cNvPr>
          <p:cNvSpPr>
            <a:spLocks noGrp="1"/>
          </p:cNvSpPr>
          <p:nvPr/>
        </p:nvSpPr>
        <p:spPr>
          <a:xfrm>
            <a:off x="1466850" y="1438275"/>
            <a:ext cx="266700" cy="57150"/>
          </a:xfrm>
          <a:prstGeom prst="roundRect">
            <a:avLst>
              <a:gd name="adj" fmla="val 50000"/>
            </a:avLst>
          </a:prstGeom>
          <a:solidFill>
            <a:srgbClr val="9FD9B9"/>
          </a:solidFill>
          <a:ln w="0">
            <a:noFill/>
            <a:prstDash val="solid"/>
          </a:ln>
        </p:spPr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73A4AD1A-D9A8-4788-82ED-AD09655E24C7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FFF0B8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D89B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D89B18"/>
                </a:solidFill>
                <a:latin typeface="Arial Unicode MS"/>
                <a:ea typeface="Arial Unicode MS"/>
                <a:cs typeface="Arial Unicode MS"/>
              </a:rPr>
              <a:t>驗證目標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AC3A289-A41A-4679-B132-F00770463BCD}"/>
              </a:ext>
            </a:extLst>
          </p:cNvPr>
          <p:cNvSpPr>
            <a:spLocks noGrp="1"/>
          </p:cNvSpPr>
          <p:nvPr/>
        </p:nvSpPr>
        <p:spPr>
          <a:xfrm>
            <a:off x="571500" y="2257425"/>
            <a:ext cx="333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同一套 Expo 專案輸出可部署的 Web 靜態版本。</a:t>
            </a:r>
          </a:p>
        </p:txBody>
      </p: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1799399C-0102-4BD5-8463-8257D321E6B4}"/>
              </a:ext>
            </a:extLst>
          </p:cNvPr>
          <p:cNvSpPr>
            <a:spLocks noGrp="1"/>
          </p:cNvSpPr>
          <p:nvPr/>
        </p:nvSpPr>
        <p:spPr>
          <a:xfrm>
            <a:off x="4305300" y="1809750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DDF4E7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驗證過程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FA80314-DFAE-4E89-9EB5-402E8C1050F7}"/>
              </a:ext>
            </a:extLst>
          </p:cNvPr>
          <p:cNvSpPr>
            <a:spLocks noGrp="1"/>
          </p:cNvSpPr>
          <p:nvPr/>
        </p:nvSpPr>
        <p:spPr>
          <a:xfrm>
            <a:off x="4305300" y="2257425"/>
            <a:ext cx="333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5F766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7669"/>
                </a:solidFill>
                <a:latin typeface="Arial Unicode MS"/>
                <a:ea typeface="Arial Unicode MS"/>
                <a:cs typeface="Arial Unicode MS"/>
              </a:rPr>
              <a:t>Expo Router → static export → HTTPS 呼叫共用 API。</a:t>
            </a:r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DE91A807-E0EC-4E2D-BC44-B39A2007C748}"/>
              </a:ext>
            </a:extLst>
          </p:cNvPr>
          <p:cNvSpPr>
            <a:spLocks noGrp="1"/>
          </p:cNvSpPr>
          <p:nvPr/>
        </p:nvSpPr>
        <p:spPr>
          <a:xfrm>
            <a:off x="8039100" y="1809750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FFF0B8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D89B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D89B18"/>
                </a:solidFill>
                <a:latin typeface="Arial Unicode MS"/>
                <a:ea typeface="Arial Unicode MS"/>
                <a:cs typeface="Arial Unicode MS"/>
              </a:rPr>
              <a:t>雛形結果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4A8FE6B-B44B-4044-AC9B-3281A1028038}"/>
              </a:ext>
            </a:extLst>
          </p:cNvPr>
          <p:cNvSpPr>
            <a:spLocks noGrp="1"/>
          </p:cNvSpPr>
          <p:nvPr/>
        </p:nvSpPr>
        <p:spPr>
          <a:xfrm>
            <a:off x="8039100" y="2257425"/>
            <a:ext cx="333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8 個靜態路由完成建置；桌面與 390px 流程完成響應式驗證。</a:t>
            </a:r>
          </a:p>
        </p:txBody>
      </p:sp>
      <p:sp>
        <p:nvSpPr>
          <p:cNvPr id="41" name="swa-screen-shadow">
            <a:extLst>
              <a:ext uri="{FF2B5EF4-FFF2-40B4-BE49-F238E27FC236}">
                <a16:creationId xmlns:a16="http://schemas.microsoft.com/office/drawing/2014/main" id="{F83FEA20-974C-41CB-AB61-421C72C92074}"/>
              </a:ext>
            </a:extLst>
          </p:cNvPr>
          <p:cNvSpPr>
            <a:spLocks noGrp="1"/>
          </p:cNvSpPr>
          <p:nvPr/>
        </p:nvSpPr>
        <p:spPr>
          <a:xfrm>
            <a:off x="647700" y="3238500"/>
            <a:ext cx="6667500" cy="3238500"/>
          </a:xfrm>
          <a:prstGeom prst="roundRect">
            <a:avLst>
              <a:gd name="adj" fmla="val 4706"/>
            </a:avLst>
          </a:prstGeom>
          <a:solidFill>
            <a:srgbClr val="BFD8CA"/>
          </a:solidFill>
          <a:ln w="0">
            <a:noFill/>
            <a:prstDash val="solid"/>
          </a:ln>
        </p:spPr>
      </p:sp>
      <p:sp>
        <p:nvSpPr>
          <p:cNvPr id="42" name="swa-screen-frame">
            <a:extLst>
              <a:ext uri="{FF2B5EF4-FFF2-40B4-BE49-F238E27FC236}">
                <a16:creationId xmlns:a16="http://schemas.microsoft.com/office/drawing/2014/main" id="{A1B3A9BC-45A3-496B-86FB-852CABE1B814}"/>
              </a:ext>
            </a:extLst>
          </p:cNvPr>
          <p:cNvSpPr>
            <a:spLocks noGrp="1"/>
          </p:cNvSpPr>
          <p:nvPr/>
        </p:nvSpPr>
        <p:spPr>
          <a:xfrm>
            <a:off x="571500" y="3143250"/>
            <a:ext cx="6667500" cy="32385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pic>
        <p:nvPicPr>
          <p:cNvPr id="91" name="圖片 9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36370" y="3219450"/>
            <a:ext cx="4937760" cy="3086100"/>
          </a:xfrm>
          <a:prstGeom prst="roundRect">
            <a:avLst>
              <a:gd name="adj" fmla="val 3704"/>
            </a:avLst>
          </a:prstGeom>
        </p:spPr>
      </p:pic>
      <p:sp>
        <p:nvSpPr>
          <p:cNvPr id="44" name="圓角矩形 43">
            <a:extLst>
              <a:ext uri="{FF2B5EF4-FFF2-40B4-BE49-F238E27FC236}">
                <a16:creationId xmlns:a16="http://schemas.microsoft.com/office/drawing/2014/main" id="{4F914AE2-38AC-4952-850E-E7CD6EE18F41}"/>
              </a:ext>
            </a:extLst>
          </p:cNvPr>
          <p:cNvSpPr>
            <a:spLocks noGrp="1"/>
          </p:cNvSpPr>
          <p:nvPr/>
        </p:nvSpPr>
        <p:spPr>
          <a:xfrm>
            <a:off x="7620000" y="3143250"/>
            <a:ext cx="4000500" cy="3238500"/>
          </a:xfrm>
          <a:prstGeom prst="roundRect">
            <a:avLst>
              <a:gd name="adj" fmla="val 4706"/>
            </a:avLst>
          </a:prstGeom>
          <a:solidFill>
            <a:srgbClr val="14563A"/>
          </a:solidFill>
          <a:ln w="0">
            <a:noFill/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1C35B1C-CF1B-4C35-8C97-7DA65EB968C2}"/>
              </a:ext>
            </a:extLst>
          </p:cNvPr>
          <p:cNvSpPr>
            <a:spLocks noGrp="1"/>
          </p:cNvSpPr>
          <p:nvPr/>
        </p:nvSpPr>
        <p:spPr>
          <a:xfrm>
            <a:off x="7953375" y="3380312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AEE6C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AEE6C5"/>
                </a:solidFill>
                <a:latin typeface="Arial Unicode MS"/>
                <a:ea typeface="Arial Unicode MS"/>
                <a:cs typeface="Arial Unicode MS"/>
              </a:rPr>
              <a:t>Web 專屬責任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DE92F70-2F30-4909-8367-A69C31E17344}"/>
              </a:ext>
            </a:extLst>
          </p:cNvPr>
          <p:cNvSpPr>
            <a:spLocks noGrp="1"/>
          </p:cNvSpPr>
          <p:nvPr/>
        </p:nvSpPr>
        <p:spPr>
          <a:xfrm>
            <a:off x="7953375" y="3904187"/>
            <a:ext cx="3333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託管 Expo Web 靜態檔</a:t>
            </a:r>
          </a:p>
          <a:p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提供桌面與手機瀏覽器入口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30A91FD-32F5-45F5-9FDE-F86BC0C54349}"/>
              </a:ext>
            </a:extLst>
          </p:cNvPr>
          <p:cNvSpPr>
            <a:spLocks noGrp="1"/>
          </p:cNvSpPr>
          <p:nvPr/>
        </p:nvSpPr>
        <p:spPr>
          <a:xfrm>
            <a:off x="8020050" y="4951937"/>
            <a:ext cx="320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425" b="0">
                <a:solidFill>
                  <a:srgbClr val="DDF4E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 dirty="0" err="1">
                <a:solidFill>
                  <a:srgbClr val="DDF4E7"/>
                </a:solidFill>
                <a:latin typeface="Arial Unicode MS"/>
                <a:ea typeface="Arial Unicode MS"/>
                <a:cs typeface="Arial Unicode MS"/>
              </a:rPr>
              <a:t>iOS／Android</a:t>
            </a:r>
            <a:r>
              <a:rPr sz="1425" b="0" dirty="0">
                <a:solidFill>
                  <a:srgbClr val="DDF4E7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425" b="0" dirty="0" err="1">
                <a:solidFill>
                  <a:srgbClr val="DDF4E7"/>
                </a:solidFill>
                <a:latin typeface="Arial Unicode MS"/>
                <a:ea typeface="Arial Unicode MS"/>
                <a:cs typeface="Arial Unicode MS"/>
              </a:rPr>
              <a:t>不由此服務託管；兩者直接呼叫</a:t>
            </a:r>
            <a:r>
              <a:rPr sz="1425" b="0" dirty="0">
                <a:solidFill>
                  <a:srgbClr val="DDF4E7"/>
                </a:solidFill>
                <a:latin typeface="Arial Unicode MS"/>
                <a:ea typeface="Arial Unicode MS"/>
                <a:cs typeface="Arial Unicode MS"/>
              </a:rPr>
              <a:t> App Service </a:t>
            </a:r>
            <a:r>
              <a:rPr sz="1425" b="0" dirty="0" err="1">
                <a:solidFill>
                  <a:srgbClr val="DDF4E7"/>
                </a:solidFill>
                <a:latin typeface="Arial Unicode MS"/>
                <a:ea typeface="Arial Unicode MS"/>
                <a:cs typeface="Arial Unicode MS"/>
              </a:rPr>
              <a:t>API，仍共用</a:t>
            </a:r>
            <a:r>
              <a:rPr sz="1425" b="0" dirty="0">
                <a:solidFill>
                  <a:srgbClr val="DDF4E7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425" b="0" dirty="0" err="1">
                <a:solidFill>
                  <a:srgbClr val="DDF4E7"/>
                </a:solidFill>
                <a:latin typeface="Arial Unicode MS"/>
                <a:ea typeface="Arial Unicode MS"/>
                <a:cs typeface="Arial Unicode MS"/>
              </a:rPr>
              <a:t>UI、契約與</a:t>
            </a:r>
            <a:r>
              <a:rPr sz="1425" b="0" dirty="0">
                <a:solidFill>
                  <a:srgbClr val="DDF4E7"/>
                </a:solidFill>
                <a:latin typeface="Arial Unicode MS"/>
                <a:ea typeface="Arial Unicode MS"/>
                <a:cs typeface="Arial Unicode MS"/>
              </a:rPr>
              <a:t> AI </a:t>
            </a:r>
            <a:r>
              <a:rPr sz="1425" b="0" dirty="0" err="1">
                <a:solidFill>
                  <a:srgbClr val="DDF4E7"/>
                </a:solidFill>
                <a:latin typeface="Arial Unicode MS"/>
                <a:ea typeface="Arial Unicode MS"/>
                <a:cs typeface="Arial Unicode MS"/>
              </a:rPr>
              <a:t>核心</a:t>
            </a:r>
            <a:r>
              <a:rPr sz="1425" b="0" dirty="0">
                <a:solidFill>
                  <a:srgbClr val="DDF4E7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48" name="圓角矩形 47">
            <a:extLst>
              <a:ext uri="{FF2B5EF4-FFF2-40B4-BE49-F238E27FC236}">
                <a16:creationId xmlns:a16="http://schemas.microsoft.com/office/drawing/2014/main" id="{88048179-105C-4868-A3A9-9B1291B4DBFB}"/>
              </a:ext>
            </a:extLst>
          </p:cNvPr>
          <p:cNvSpPr>
            <a:spLocks noGrp="1"/>
          </p:cNvSpPr>
          <p:nvPr/>
        </p:nvSpPr>
        <p:spPr>
          <a:xfrm>
            <a:off x="8305800" y="5809187"/>
            <a:ext cx="2628900" cy="342900"/>
          </a:xfrm>
          <a:prstGeom prst="roundRect">
            <a:avLst>
              <a:gd name="adj" fmla="val 50000"/>
            </a:avLst>
          </a:prstGeom>
          <a:solidFill>
            <a:srgbClr val="FFF0B8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75" b="1">
                <a:solidFill>
                  <a:srgbClr val="1456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563A"/>
                </a:solidFill>
                <a:latin typeface="Arial Unicode MS"/>
                <a:ea typeface="Arial Unicode MS"/>
                <a:cs typeface="Arial Unicode MS"/>
              </a:rPr>
              <a:t>8 個靜態路由完成建置</a:t>
            </a:r>
          </a:p>
        </p:txBody>
      </p:sp>
    </p:spTree>
    <p:extLst>
      <p:ext uri="{BB962C8B-B14F-4D97-AF65-F5344CB8AC3E}">
        <p14:creationId xmlns:p14="http://schemas.microsoft.com/office/powerpoint/2010/main" val="981920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直線接點 47">
            <a:extLst>
              <a:ext uri="{FF2B5EF4-FFF2-40B4-BE49-F238E27FC236}">
                <a16:creationId xmlns:a16="http://schemas.microsoft.com/office/drawing/2014/main" id="{6DEE218F-FA8B-45BF-B477-42A10C36D7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" name="直線接點 1">
            <a:extLst>
              <a:ext uri="{FF2B5EF4-FFF2-40B4-BE49-F238E27FC236}">
                <a16:creationId xmlns:a16="http://schemas.microsoft.com/office/drawing/2014/main" id="{3C249E5B-1A33-4CD7-8433-74480FFDEF4A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EAF461CE-3477-4D6E-A60D-0B25B000C34F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155C842E-B39F-4051-9853-BE95E1886540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5" name="直線接點 4">
            <a:extLst>
              <a:ext uri="{FF2B5EF4-FFF2-40B4-BE49-F238E27FC236}">
                <a16:creationId xmlns:a16="http://schemas.microsoft.com/office/drawing/2014/main" id="{65DE1E1B-F099-48AA-9DCD-381800B04DDC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6" name="直線接點 5">
            <a:extLst>
              <a:ext uri="{FF2B5EF4-FFF2-40B4-BE49-F238E27FC236}">
                <a16:creationId xmlns:a16="http://schemas.microsoft.com/office/drawing/2014/main" id="{7062DBBE-E63E-43C1-9738-741407A1CD40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7" name="直線接點 6">
            <a:extLst>
              <a:ext uri="{FF2B5EF4-FFF2-40B4-BE49-F238E27FC236}">
                <a16:creationId xmlns:a16="http://schemas.microsoft.com/office/drawing/2014/main" id="{23B6D48F-4A45-4CC0-BF30-AA0FB673D07B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8" name="直線接點 7">
            <a:extLst>
              <a:ext uri="{FF2B5EF4-FFF2-40B4-BE49-F238E27FC236}">
                <a16:creationId xmlns:a16="http://schemas.microsoft.com/office/drawing/2014/main" id="{C6D78625-4FC2-463F-BB8A-A42C78C1C4A7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9" name="直線接點 8">
            <a:extLst>
              <a:ext uri="{FF2B5EF4-FFF2-40B4-BE49-F238E27FC236}">
                <a16:creationId xmlns:a16="http://schemas.microsoft.com/office/drawing/2014/main" id="{67B568F3-E6AF-422E-B953-194B490863CD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4370720F-831D-4449-80A5-C1F8DF674F1D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1" name="直線接點 10">
            <a:extLst>
              <a:ext uri="{FF2B5EF4-FFF2-40B4-BE49-F238E27FC236}">
                <a16:creationId xmlns:a16="http://schemas.microsoft.com/office/drawing/2014/main" id="{BD21F029-07B5-4A25-BA09-8AC02094C3CC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2" name="直線接點 11">
            <a:extLst>
              <a:ext uri="{FF2B5EF4-FFF2-40B4-BE49-F238E27FC236}">
                <a16:creationId xmlns:a16="http://schemas.microsoft.com/office/drawing/2014/main" id="{FFA04743-C18A-4AB5-BF63-0FBF9F1CFDE6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3" name="直線接點 12">
            <a:extLst>
              <a:ext uri="{FF2B5EF4-FFF2-40B4-BE49-F238E27FC236}">
                <a16:creationId xmlns:a16="http://schemas.microsoft.com/office/drawing/2014/main" id="{6B4DC30B-CA91-4F1E-8E9B-0E60FFA7D55F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4" name="直線接點 13">
            <a:extLst>
              <a:ext uri="{FF2B5EF4-FFF2-40B4-BE49-F238E27FC236}">
                <a16:creationId xmlns:a16="http://schemas.microsoft.com/office/drawing/2014/main" id="{8C6BD837-066D-4B5A-A68E-ECAFE8F48E88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5" name="直線接點 14">
            <a:extLst>
              <a:ext uri="{FF2B5EF4-FFF2-40B4-BE49-F238E27FC236}">
                <a16:creationId xmlns:a16="http://schemas.microsoft.com/office/drawing/2014/main" id="{DB9F9344-BD08-433B-9888-CAE214717242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7D15A6EB-FD53-4909-BB78-BBEF0E0E5199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7" name="直線接點 16">
            <a:extLst>
              <a:ext uri="{FF2B5EF4-FFF2-40B4-BE49-F238E27FC236}">
                <a16:creationId xmlns:a16="http://schemas.microsoft.com/office/drawing/2014/main" id="{D0FCFDD3-3C44-4EFA-8D70-4D268BF0AB74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8" name="直線接點 17">
            <a:extLst>
              <a:ext uri="{FF2B5EF4-FFF2-40B4-BE49-F238E27FC236}">
                <a16:creationId xmlns:a16="http://schemas.microsoft.com/office/drawing/2014/main" id="{80CE83F0-55BD-476B-9BDC-877A30EA38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9" name="直線接點 18">
            <a:extLst>
              <a:ext uri="{FF2B5EF4-FFF2-40B4-BE49-F238E27FC236}">
                <a16:creationId xmlns:a16="http://schemas.microsoft.com/office/drawing/2014/main" id="{3EE6343B-89DB-40AC-BEBD-6A370792E064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0" name="直線接點 19">
            <a:extLst>
              <a:ext uri="{FF2B5EF4-FFF2-40B4-BE49-F238E27FC236}">
                <a16:creationId xmlns:a16="http://schemas.microsoft.com/office/drawing/2014/main" id="{EBC4E5C1-126F-4FA0-BB55-AFB1FF2F28DB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1" name="直線接點 20">
            <a:extLst>
              <a:ext uri="{FF2B5EF4-FFF2-40B4-BE49-F238E27FC236}">
                <a16:creationId xmlns:a16="http://schemas.microsoft.com/office/drawing/2014/main" id="{A89A39E8-6EDD-4332-AB9E-6AD796D2EB05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2" name="直線接點 21">
            <a:extLst>
              <a:ext uri="{FF2B5EF4-FFF2-40B4-BE49-F238E27FC236}">
                <a16:creationId xmlns:a16="http://schemas.microsoft.com/office/drawing/2014/main" id="{F9D67828-22D6-4541-8727-B1FD8BA9F522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3" name="直線接點 22">
            <a:extLst>
              <a:ext uri="{FF2B5EF4-FFF2-40B4-BE49-F238E27FC236}">
                <a16:creationId xmlns:a16="http://schemas.microsoft.com/office/drawing/2014/main" id="{90F78EDC-A885-4991-8B72-7D1ED3F07C74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FC2E83AB-7927-481B-BC93-68B426651CDE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5" name="直線接點 24">
            <a:extLst>
              <a:ext uri="{FF2B5EF4-FFF2-40B4-BE49-F238E27FC236}">
                <a16:creationId xmlns:a16="http://schemas.microsoft.com/office/drawing/2014/main" id="{06D1C8CA-F5FC-415C-85F2-BECE334A29BC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6" name="直線接點 25">
            <a:extLst>
              <a:ext uri="{FF2B5EF4-FFF2-40B4-BE49-F238E27FC236}">
                <a16:creationId xmlns:a16="http://schemas.microsoft.com/office/drawing/2014/main" id="{E7AB9113-98FB-4C13-BC9B-806C3AAE7DE2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7" name="直線接點 26">
            <a:extLst>
              <a:ext uri="{FF2B5EF4-FFF2-40B4-BE49-F238E27FC236}">
                <a16:creationId xmlns:a16="http://schemas.microsoft.com/office/drawing/2014/main" id="{2CB251EC-33CC-489A-8EFD-3FC632237DBB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8" name="decor-bottom-left">
            <a:extLst>
              <a:ext uri="{FF2B5EF4-FFF2-40B4-BE49-F238E27FC236}">
                <a16:creationId xmlns:a16="http://schemas.microsoft.com/office/drawing/2014/main" id="{08B4D7D7-A43E-4EC5-BD4B-5EE0DDCD1AF1}"/>
              </a:ext>
            </a:extLst>
          </p:cNvPr>
          <p:cNvSpPr>
            <a:spLocks noGrp="1"/>
          </p:cNvSpPr>
          <p:nvPr/>
        </p:nvSpPr>
        <p:spPr>
          <a:xfrm>
            <a:off x="0" y="5619750"/>
            <a:ext cx="1428750" cy="1238250"/>
          </a:xfrm>
          <a:prstGeom prst="ellipse">
            <a:avLst/>
          </a:prstGeom>
          <a:solidFill>
            <a:srgbClr val="DDF4E7"/>
          </a:solidFill>
          <a:ln w="0">
            <a:noFill/>
            <a:prstDash val="solid"/>
          </a:ln>
        </p:spPr>
      </p:sp>
      <p:sp>
        <p:nvSpPr>
          <p:cNvPr id="29" name="decor-top-right">
            <a:extLst>
              <a:ext uri="{FF2B5EF4-FFF2-40B4-BE49-F238E27FC236}">
                <a16:creationId xmlns:a16="http://schemas.microsoft.com/office/drawing/2014/main" id="{DC394B1E-E8DA-47D6-830F-794972B8ABBF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1143000" cy="1428750"/>
          </a:xfrm>
          <a:prstGeom prst="ellipse">
            <a:avLst/>
          </a:prstGeom>
          <a:solidFill>
            <a:srgbClr val="EAF8F0"/>
          </a:solidFill>
          <a:ln w="0">
            <a:noFill/>
            <a:prstDash val="solid"/>
          </a:ln>
        </p:spPr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05FC9726-DBEB-497C-8441-125BBAE5E216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DDF4E7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rPr>
              <a:t>04 · DATA</a:t>
            </a:r>
          </a:p>
        </p:txBody>
      </p:sp>
      <p:sp>
        <p:nvSpPr>
          <p:cNvPr id="31" name="slide-title">
            <a:extLst>
              <a:ext uri="{FF2B5EF4-FFF2-40B4-BE49-F238E27FC236}">
                <a16:creationId xmlns:a16="http://schemas.microsoft.com/office/drawing/2014/main" id="{B643B9DA-D4EB-4B73-8C81-243E1A12600A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PostgreSQL 只存營運資料，不存個人活動</a:t>
            </a: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96AA0136-1FB5-4461-89D7-BB9413AF3DC2}"/>
              </a:ext>
            </a:extLst>
          </p:cNvPr>
          <p:cNvSpPr>
            <a:spLocks noGrp="1"/>
          </p:cNvSpPr>
          <p:nvPr/>
        </p:nvSpPr>
        <p:spPr>
          <a:xfrm>
            <a:off x="571500" y="1438275"/>
            <a:ext cx="800100" cy="57150"/>
          </a:xfrm>
          <a:prstGeom prst="roundRect">
            <a:avLst>
              <a:gd name="adj" fmla="val 50000"/>
            </a:avLst>
          </a:prstGeom>
          <a:solidFill>
            <a:srgbClr val="A94C2E"/>
          </a:solidFill>
          <a:ln w="0">
            <a:noFill/>
            <a:prstDash val="solid"/>
          </a:ln>
        </p:spPr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AE42E376-7277-44B7-A01B-545926E3BF0E}"/>
              </a:ext>
            </a:extLst>
          </p:cNvPr>
          <p:cNvSpPr>
            <a:spLocks noGrp="1"/>
          </p:cNvSpPr>
          <p:nvPr/>
        </p:nvSpPr>
        <p:spPr>
          <a:xfrm>
            <a:off x="1466850" y="1438275"/>
            <a:ext cx="266700" cy="57150"/>
          </a:xfrm>
          <a:prstGeom prst="roundRect">
            <a:avLst>
              <a:gd name="adj" fmla="val 50000"/>
            </a:avLst>
          </a:prstGeom>
          <a:solidFill>
            <a:srgbClr val="9FD9B9"/>
          </a:solidFill>
          <a:ln w="0">
            <a:noFill/>
            <a:prstDash val="solid"/>
          </a:ln>
        </p:spPr>
      </p:sp>
      <p:sp>
        <p:nvSpPr>
          <p:cNvPr id="34" name="db-boundary-screen-shadow">
            <a:extLst>
              <a:ext uri="{FF2B5EF4-FFF2-40B4-BE49-F238E27FC236}">
                <a16:creationId xmlns:a16="http://schemas.microsoft.com/office/drawing/2014/main" id="{9F599EBA-6596-40B6-8132-6179CF39BB16}"/>
              </a:ext>
            </a:extLst>
          </p:cNvPr>
          <p:cNvSpPr>
            <a:spLocks noGrp="1"/>
          </p:cNvSpPr>
          <p:nvPr/>
        </p:nvSpPr>
        <p:spPr>
          <a:xfrm>
            <a:off x="647700" y="1885950"/>
            <a:ext cx="5715000" cy="3219450"/>
          </a:xfrm>
          <a:prstGeom prst="roundRect">
            <a:avLst>
              <a:gd name="adj" fmla="val 4734"/>
            </a:avLst>
          </a:prstGeom>
          <a:solidFill>
            <a:srgbClr val="BFD8CA"/>
          </a:solidFill>
          <a:ln w="0">
            <a:noFill/>
            <a:prstDash val="solid"/>
          </a:ln>
        </p:spPr>
      </p:sp>
      <p:sp>
        <p:nvSpPr>
          <p:cNvPr id="35" name="db-boundary-screen-frame">
            <a:extLst>
              <a:ext uri="{FF2B5EF4-FFF2-40B4-BE49-F238E27FC236}">
                <a16:creationId xmlns:a16="http://schemas.microsoft.com/office/drawing/2014/main" id="{732C59D3-D187-424B-BBAF-5D937C4942B7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5715000" cy="3219450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pic>
        <p:nvPicPr>
          <p:cNvPr id="83" name="圖片 82"/>
          <p:cNvPicPr>
            <a:picLocks noChangeAspect="1"/>
          </p:cNvPicPr>
          <p:nvPr/>
        </p:nvPicPr>
        <p:blipFill>
          <a:blip r:embed="rId3"/>
          <a:srcRect t="989" b="989"/>
          <a:stretch>
            <a:fillRect/>
          </a:stretch>
        </p:blipFill>
        <p:spPr>
          <a:xfrm>
            <a:off x="647700" y="1866900"/>
            <a:ext cx="5562600" cy="3067050"/>
          </a:xfrm>
          <a:prstGeom prst="roundRect">
            <a:avLst>
              <a:gd name="adj" fmla="val 3727"/>
            </a:avLst>
          </a:prstGeom>
        </p:spPr>
      </p:pic>
      <p:sp>
        <p:nvSpPr>
          <p:cNvPr id="37" name="圓角矩形 36">
            <a:extLst>
              <a:ext uri="{FF2B5EF4-FFF2-40B4-BE49-F238E27FC236}">
                <a16:creationId xmlns:a16="http://schemas.microsoft.com/office/drawing/2014/main" id="{19D2EBEF-6149-4B03-A01D-70ED4A52193A}"/>
              </a:ext>
            </a:extLst>
          </p:cNvPr>
          <p:cNvSpPr>
            <a:spLocks noGrp="1"/>
          </p:cNvSpPr>
          <p:nvPr/>
        </p:nvSpPr>
        <p:spPr>
          <a:xfrm>
            <a:off x="6667500" y="1790700"/>
            <a:ext cx="1123950" cy="323850"/>
          </a:xfrm>
          <a:prstGeom prst="roundRect">
            <a:avLst>
              <a:gd name="adj" fmla="val 50000"/>
            </a:avLst>
          </a:prstGeom>
          <a:solidFill>
            <a:srgbClr val="F7D9CE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rPr>
              <a:t>驗證目標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23E0E07-E334-478F-8096-E36E73948D94}"/>
              </a:ext>
            </a:extLst>
          </p:cNvPr>
          <p:cNvSpPr>
            <a:spLocks noGrp="1"/>
          </p:cNvSpPr>
          <p:nvPr/>
        </p:nvSpPr>
        <p:spPr>
          <a:xfrm>
            <a:off x="6667500" y="2247900"/>
            <a:ext cx="476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雲端資料庫只支援跨請求需要的共享資料；未成年人個人情境不進入雲端個人資料庫。</a:t>
            </a:r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F51DDF5B-E958-44AB-8A36-93821865A19C}"/>
              </a:ext>
            </a:extLst>
          </p:cNvPr>
          <p:cNvSpPr>
            <a:spLocks noGrp="1"/>
          </p:cNvSpPr>
          <p:nvPr/>
        </p:nvSpPr>
        <p:spPr>
          <a:xfrm>
            <a:off x="6667500" y="3143250"/>
            <a:ext cx="4762500" cy="819150"/>
          </a:xfrm>
          <a:prstGeom prst="roundRect">
            <a:avLst>
              <a:gd name="adj" fmla="val 13953"/>
            </a:avLst>
          </a:prstGeom>
          <a:solidFill>
            <a:srgbClr val="F7D9CE"/>
          </a:solidFill>
          <a:ln w="9525">
            <a:solidFill>
              <a:srgbClr val="EDC5B7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23BFC9D-D8BB-48E3-B4EF-A0BB591FB919}"/>
              </a:ext>
            </a:extLst>
          </p:cNvPr>
          <p:cNvSpPr>
            <a:spLocks noGrp="1"/>
          </p:cNvSpPr>
          <p:nvPr/>
        </p:nvSpPr>
        <p:spPr>
          <a:xfrm>
            <a:off x="6877050" y="32956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rPr>
              <a:t>PostgreSQL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203F031-3492-4332-A17A-E1974F652E8D}"/>
              </a:ext>
            </a:extLst>
          </p:cNvPr>
          <p:cNvSpPr>
            <a:spLocks noGrp="1"/>
          </p:cNvSpPr>
          <p:nvPr/>
        </p:nvSpPr>
        <p:spPr>
          <a:xfrm>
            <a:off x="6877050" y="3590925"/>
            <a:ext cx="432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rPr>
              <a:t>environment_cache｜service_events｜schema_migrations</a:t>
            </a:r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E175417E-6362-4196-9B15-64DB8AF4596A}"/>
              </a:ext>
            </a:extLst>
          </p:cNvPr>
          <p:cNvSpPr>
            <a:spLocks noGrp="1"/>
          </p:cNvSpPr>
          <p:nvPr/>
        </p:nvSpPr>
        <p:spPr>
          <a:xfrm>
            <a:off x="6667500" y="4171950"/>
            <a:ext cx="4762500" cy="819150"/>
          </a:xfrm>
          <a:prstGeom prst="roundRect">
            <a:avLst>
              <a:gd name="adj" fmla="val 13953"/>
            </a:avLst>
          </a:prstGeom>
          <a:solidFill>
            <a:srgbClr val="DDF4E7"/>
          </a:solidFill>
          <a:ln w="9525">
            <a:solidFill>
              <a:srgbClr val="A9D5BC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8F4DBB3-9ACD-4E0C-A0F4-3187DB17C525}"/>
              </a:ext>
            </a:extLst>
          </p:cNvPr>
          <p:cNvSpPr>
            <a:spLocks noGrp="1"/>
          </p:cNvSpPr>
          <p:nvPr/>
        </p:nvSpPr>
        <p:spPr>
          <a:xfrm>
            <a:off x="6877050" y="43243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裝置端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2F354BD-2665-428E-BFCB-6112342E20D0}"/>
              </a:ext>
            </a:extLst>
          </p:cNvPr>
          <p:cNvSpPr>
            <a:spLocks noGrp="1"/>
          </p:cNvSpPr>
          <p:nvPr/>
        </p:nvSpPr>
        <p:spPr>
          <a:xfrm>
            <a:off x="6877050" y="4619625"/>
            <a:ext cx="432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個人設定｜活動摘要｜回饋｜路線輸入</a:t>
            </a:r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8C5AFCBE-2494-4D49-BE7B-25276B859806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11049000" cy="914400"/>
          </a:xfrm>
          <a:prstGeom prst="roundRect">
            <a:avLst>
              <a:gd name="adj" fmla="val 12500"/>
            </a:avLst>
          </a:prstGeom>
          <a:solidFill>
            <a:srgbClr val="F7D9CE"/>
          </a:solidFill>
          <a:ln w="9525">
            <a:solidFill>
              <a:srgbClr val="EDC5B7"/>
            </a:solidFill>
            <a:prstDash val="solid"/>
          </a:ln>
        </p:spPr>
      </p:sp>
      <p:sp>
        <p:nvSpPr>
          <p:cNvPr id="46" name="圓角矩形 45">
            <a:extLst>
              <a:ext uri="{FF2B5EF4-FFF2-40B4-BE49-F238E27FC236}">
                <a16:creationId xmlns:a16="http://schemas.microsoft.com/office/drawing/2014/main" id="{52049D4D-1595-47D2-9425-1CAE3F207DEC}"/>
              </a:ext>
            </a:extLst>
          </p:cNvPr>
          <p:cNvSpPr>
            <a:spLocks noGrp="1"/>
          </p:cNvSpPr>
          <p:nvPr/>
        </p:nvSpPr>
        <p:spPr>
          <a:xfrm>
            <a:off x="742951" y="5667375"/>
            <a:ext cx="129540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125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 dirty="0" err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雛形驗證結果</a:t>
            </a:r>
            <a:endParaRPr sz="1125" b="1" dirty="0">
              <a:solidFill>
                <a:srgbClr val="237A50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F11AD4C-34FD-4591-84F7-248A1D1D6847}"/>
              </a:ext>
            </a:extLst>
          </p:cNvPr>
          <p:cNvSpPr>
            <a:spLocks noGrp="1"/>
          </p:cNvSpPr>
          <p:nvPr/>
        </p:nvSpPr>
        <p:spPr>
          <a:xfrm>
            <a:off x="2190750" y="5476875"/>
            <a:ext cx="9239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 dirty="0" err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rPr>
              <a:t>migration、快取讀寫、readiness</a:t>
            </a:r>
            <a:r>
              <a:rPr sz="1500" b="1" dirty="0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500" b="1" dirty="0" err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rPr>
              <a:t>與匿名事件欄位已完成驗證；資料庫明確排除活動文字、profile</a:t>
            </a:r>
            <a:r>
              <a:rPr sz="1500" b="1" dirty="0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rPr>
              <a:t>、</a:t>
            </a:r>
            <a:endParaRPr lang="en-US" sz="1500" b="1" dirty="0">
              <a:solidFill>
                <a:srgbClr val="A94C2E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lnSpc>
                <a:spcPct val="105000"/>
              </a:lnSpc>
              <a:buNone/>
              <a:defRPr sz="1500" b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 dirty="0" err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rPr>
              <a:t>回饋與模型全文</a:t>
            </a:r>
            <a:r>
              <a:rPr sz="1500" b="1" dirty="0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0714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直線接點 59">
            <a:extLst>
              <a:ext uri="{FF2B5EF4-FFF2-40B4-BE49-F238E27FC236}">
                <a16:creationId xmlns:a16="http://schemas.microsoft.com/office/drawing/2014/main" id="{3DC8C190-B709-4685-852A-93241859AD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" name="直線接點 1">
            <a:extLst>
              <a:ext uri="{FF2B5EF4-FFF2-40B4-BE49-F238E27FC236}">
                <a16:creationId xmlns:a16="http://schemas.microsoft.com/office/drawing/2014/main" id="{98806069-E347-42F4-843B-01F52A0CF11A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562B951B-ACDC-4931-8226-17E63C7B65D7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605AFF7B-BF94-4361-AAC6-10BA8DE00512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5" name="直線接點 4">
            <a:extLst>
              <a:ext uri="{FF2B5EF4-FFF2-40B4-BE49-F238E27FC236}">
                <a16:creationId xmlns:a16="http://schemas.microsoft.com/office/drawing/2014/main" id="{BEBA197D-58A6-4F40-B445-13FAA3E75F74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6" name="直線接點 5">
            <a:extLst>
              <a:ext uri="{FF2B5EF4-FFF2-40B4-BE49-F238E27FC236}">
                <a16:creationId xmlns:a16="http://schemas.microsoft.com/office/drawing/2014/main" id="{130B2DCB-DC42-49A5-A83F-A3BA9ED4DB90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7" name="直線接點 6">
            <a:extLst>
              <a:ext uri="{FF2B5EF4-FFF2-40B4-BE49-F238E27FC236}">
                <a16:creationId xmlns:a16="http://schemas.microsoft.com/office/drawing/2014/main" id="{1B9655BE-CABC-4562-B658-F8F0608E7AEC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8" name="直線接點 7">
            <a:extLst>
              <a:ext uri="{FF2B5EF4-FFF2-40B4-BE49-F238E27FC236}">
                <a16:creationId xmlns:a16="http://schemas.microsoft.com/office/drawing/2014/main" id="{CD8EC508-4863-4FF9-B8ED-A5DA40CE7E9A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9" name="直線接點 8">
            <a:extLst>
              <a:ext uri="{FF2B5EF4-FFF2-40B4-BE49-F238E27FC236}">
                <a16:creationId xmlns:a16="http://schemas.microsoft.com/office/drawing/2014/main" id="{F4015143-822C-4080-BD71-F5B0A37EE07F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9E7B53EE-088F-42A3-8DE5-E5F5F1B5F9D2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1" name="直線接點 10">
            <a:extLst>
              <a:ext uri="{FF2B5EF4-FFF2-40B4-BE49-F238E27FC236}">
                <a16:creationId xmlns:a16="http://schemas.microsoft.com/office/drawing/2014/main" id="{1C92603C-CCC5-46A5-8084-B97123601971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2" name="直線接點 11">
            <a:extLst>
              <a:ext uri="{FF2B5EF4-FFF2-40B4-BE49-F238E27FC236}">
                <a16:creationId xmlns:a16="http://schemas.microsoft.com/office/drawing/2014/main" id="{BDE9B90B-5ACA-4868-BA8B-33EDF31BFAB6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3" name="直線接點 12">
            <a:extLst>
              <a:ext uri="{FF2B5EF4-FFF2-40B4-BE49-F238E27FC236}">
                <a16:creationId xmlns:a16="http://schemas.microsoft.com/office/drawing/2014/main" id="{E01EB2ED-7A01-4DB2-A9C0-5BF73E88BF37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4" name="直線接點 13">
            <a:extLst>
              <a:ext uri="{FF2B5EF4-FFF2-40B4-BE49-F238E27FC236}">
                <a16:creationId xmlns:a16="http://schemas.microsoft.com/office/drawing/2014/main" id="{C205F575-F3A2-456A-967A-123D75F44F53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5" name="直線接點 14">
            <a:extLst>
              <a:ext uri="{FF2B5EF4-FFF2-40B4-BE49-F238E27FC236}">
                <a16:creationId xmlns:a16="http://schemas.microsoft.com/office/drawing/2014/main" id="{56690368-6478-4BF7-866A-0F4D56554881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4E6E0AC3-B81F-453B-B8DF-17ED7B210DA1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7" name="直線接點 16">
            <a:extLst>
              <a:ext uri="{FF2B5EF4-FFF2-40B4-BE49-F238E27FC236}">
                <a16:creationId xmlns:a16="http://schemas.microsoft.com/office/drawing/2014/main" id="{1EABB1B1-2823-4002-873F-44B8214C5848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8" name="直線接點 17">
            <a:extLst>
              <a:ext uri="{FF2B5EF4-FFF2-40B4-BE49-F238E27FC236}">
                <a16:creationId xmlns:a16="http://schemas.microsoft.com/office/drawing/2014/main" id="{F67BAAB0-5ACD-4205-91DB-45D0297F35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9" name="直線接點 18">
            <a:extLst>
              <a:ext uri="{FF2B5EF4-FFF2-40B4-BE49-F238E27FC236}">
                <a16:creationId xmlns:a16="http://schemas.microsoft.com/office/drawing/2014/main" id="{F93C121F-FA7B-46BD-8CC5-15F0AE5AF03F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0" name="直線接點 19">
            <a:extLst>
              <a:ext uri="{FF2B5EF4-FFF2-40B4-BE49-F238E27FC236}">
                <a16:creationId xmlns:a16="http://schemas.microsoft.com/office/drawing/2014/main" id="{82A438BE-F14A-42A3-8E7E-7F8D4F03D5A3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1" name="直線接點 20">
            <a:extLst>
              <a:ext uri="{FF2B5EF4-FFF2-40B4-BE49-F238E27FC236}">
                <a16:creationId xmlns:a16="http://schemas.microsoft.com/office/drawing/2014/main" id="{151DD8AF-D235-412F-8C5E-3597670E261D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2" name="直線接點 21">
            <a:extLst>
              <a:ext uri="{FF2B5EF4-FFF2-40B4-BE49-F238E27FC236}">
                <a16:creationId xmlns:a16="http://schemas.microsoft.com/office/drawing/2014/main" id="{BBC4ABAC-0C66-4604-AA01-917206D96B77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3" name="直線接點 22">
            <a:extLst>
              <a:ext uri="{FF2B5EF4-FFF2-40B4-BE49-F238E27FC236}">
                <a16:creationId xmlns:a16="http://schemas.microsoft.com/office/drawing/2014/main" id="{F0405821-0D18-49E2-9F9A-0F4453777DDA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17AE655A-710B-434B-BE53-AC64AAA19231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5" name="直線接點 24">
            <a:extLst>
              <a:ext uri="{FF2B5EF4-FFF2-40B4-BE49-F238E27FC236}">
                <a16:creationId xmlns:a16="http://schemas.microsoft.com/office/drawing/2014/main" id="{EBF5F5CA-119F-4869-BCB1-A2AB9179FB93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6" name="直線接點 25">
            <a:extLst>
              <a:ext uri="{FF2B5EF4-FFF2-40B4-BE49-F238E27FC236}">
                <a16:creationId xmlns:a16="http://schemas.microsoft.com/office/drawing/2014/main" id="{857E1C0A-A1B5-4A11-8824-52BC1F462ECB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7" name="直線接點 26">
            <a:extLst>
              <a:ext uri="{FF2B5EF4-FFF2-40B4-BE49-F238E27FC236}">
                <a16:creationId xmlns:a16="http://schemas.microsoft.com/office/drawing/2014/main" id="{C8CF12E7-0544-4008-88DD-82FA20B0A305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8" name="decor-bottom-left">
            <a:extLst>
              <a:ext uri="{FF2B5EF4-FFF2-40B4-BE49-F238E27FC236}">
                <a16:creationId xmlns:a16="http://schemas.microsoft.com/office/drawing/2014/main" id="{B20850D4-E56C-499F-80DF-51BCFAB834C8}"/>
              </a:ext>
            </a:extLst>
          </p:cNvPr>
          <p:cNvSpPr>
            <a:spLocks noGrp="1"/>
          </p:cNvSpPr>
          <p:nvPr/>
        </p:nvSpPr>
        <p:spPr>
          <a:xfrm>
            <a:off x="0" y="5619750"/>
            <a:ext cx="1428750" cy="1238250"/>
          </a:xfrm>
          <a:prstGeom prst="ellipse">
            <a:avLst/>
          </a:prstGeom>
          <a:solidFill>
            <a:srgbClr val="DDF4E7"/>
          </a:solidFill>
          <a:ln w="0">
            <a:noFill/>
            <a:prstDash val="solid"/>
          </a:ln>
        </p:spPr>
      </p:sp>
      <p:sp>
        <p:nvSpPr>
          <p:cNvPr id="29" name="decor-top-right">
            <a:extLst>
              <a:ext uri="{FF2B5EF4-FFF2-40B4-BE49-F238E27FC236}">
                <a16:creationId xmlns:a16="http://schemas.microsoft.com/office/drawing/2014/main" id="{BB4D9299-7B17-4B16-8854-C9C798A69A07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1143000" cy="1428750"/>
          </a:xfrm>
          <a:prstGeom prst="ellipse">
            <a:avLst/>
          </a:prstGeom>
          <a:solidFill>
            <a:srgbClr val="EAF8F0"/>
          </a:solidFill>
          <a:ln w="0">
            <a:noFill/>
            <a:prstDash val="solid"/>
          </a:ln>
        </p:spPr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6CF44DD7-234C-4F7D-94B6-2936BBD6414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DDF4E7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END-TO-END</a:t>
            </a:r>
          </a:p>
        </p:txBody>
      </p:sp>
      <p:sp>
        <p:nvSpPr>
          <p:cNvPr id="31" name="slide-title">
            <a:extLst>
              <a:ext uri="{FF2B5EF4-FFF2-40B4-BE49-F238E27FC236}">
                <a16:creationId xmlns:a16="http://schemas.microsoft.com/office/drawing/2014/main" id="{F6D87465-0C0F-4A0F-A8BB-3801FCACC1B3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完整流程把輸入、生成、保存與後續使用串在一起</a:t>
            </a: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76CB6D8B-D8FD-4A49-8D2B-9308B9ED700C}"/>
              </a:ext>
            </a:extLst>
          </p:cNvPr>
          <p:cNvSpPr>
            <a:spLocks noGrp="1"/>
          </p:cNvSpPr>
          <p:nvPr/>
        </p:nvSpPr>
        <p:spPr>
          <a:xfrm>
            <a:off x="571500" y="1438275"/>
            <a:ext cx="800100" cy="57150"/>
          </a:xfrm>
          <a:prstGeom prst="roundRect">
            <a:avLst>
              <a:gd name="adj" fmla="val 50000"/>
            </a:avLst>
          </a:prstGeom>
          <a:solidFill>
            <a:srgbClr val="237A50"/>
          </a:solidFill>
          <a:ln w="0">
            <a:noFill/>
            <a:prstDash val="solid"/>
          </a:ln>
        </p:spPr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DD2BC46D-060F-4567-A7F5-0B7DEEEAF7EE}"/>
              </a:ext>
            </a:extLst>
          </p:cNvPr>
          <p:cNvSpPr>
            <a:spLocks noGrp="1"/>
          </p:cNvSpPr>
          <p:nvPr/>
        </p:nvSpPr>
        <p:spPr>
          <a:xfrm>
            <a:off x="1466850" y="1438275"/>
            <a:ext cx="266700" cy="57150"/>
          </a:xfrm>
          <a:prstGeom prst="roundRect">
            <a:avLst>
              <a:gd name="adj" fmla="val 50000"/>
            </a:avLst>
          </a:prstGeom>
          <a:solidFill>
            <a:srgbClr val="9FD9B9"/>
          </a:solidFill>
          <a:ln w="0">
            <a:noFill/>
            <a:prstDash val="solid"/>
          </a:ln>
        </p:spPr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B166ACED-8931-4C4C-983E-A02FE8CECC9A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18669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  <p:txBody>
          <a:bodyPr lIns="47625" tIns="0" rIns="47625" bIns="0" anchor="ctr"/>
          <a:lstStyle/>
          <a:p>
            <a:pPr algn="ctr">
              <a:defRPr sz="1275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01  建立裝置檔案</a:t>
            </a:r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F4B56F87-733C-44E2-80B6-FEBC6D63BE3D}"/>
              </a:ext>
            </a:extLst>
          </p:cNvPr>
          <p:cNvSpPr>
            <a:spLocks noGrp="1"/>
          </p:cNvSpPr>
          <p:nvPr/>
        </p:nvSpPr>
        <p:spPr>
          <a:xfrm>
            <a:off x="2819400" y="1714500"/>
            <a:ext cx="18669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  <p:txBody>
          <a:bodyPr lIns="47625" tIns="0" rIns="47625" bIns="0" anchor="ctr"/>
          <a:lstStyle/>
          <a:p>
            <a:pPr algn="ctr">
              <a:defRPr sz="1275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02  描述活動</a:t>
            </a:r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4D00C776-7104-4A09-A292-C913467EC273}"/>
              </a:ext>
            </a:extLst>
          </p:cNvPr>
          <p:cNvSpPr>
            <a:spLocks noGrp="1"/>
          </p:cNvSpPr>
          <p:nvPr/>
        </p:nvSpPr>
        <p:spPr>
          <a:xfrm>
            <a:off x="5067300" y="1714500"/>
            <a:ext cx="18669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  <p:txBody>
          <a:bodyPr lIns="47625" tIns="0" rIns="47625" bIns="0" anchor="ctr"/>
          <a:lstStyle/>
          <a:p>
            <a:pPr algn="ctr">
              <a:defRPr sz="1275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03  先確認理解</a:t>
            </a:r>
          </a:p>
        </p:txBody>
      </p: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E9CFCFFD-29B1-42FD-886F-637CE0C71846}"/>
              </a:ext>
            </a:extLst>
          </p:cNvPr>
          <p:cNvSpPr>
            <a:spLocks noGrp="1"/>
          </p:cNvSpPr>
          <p:nvPr/>
        </p:nvSpPr>
        <p:spPr>
          <a:xfrm>
            <a:off x="7315200" y="1714500"/>
            <a:ext cx="1866900" cy="419100"/>
          </a:xfrm>
          <a:prstGeom prst="roundRect">
            <a:avLst>
              <a:gd name="adj" fmla="val 50000"/>
            </a:avLst>
          </a:prstGeom>
          <a:solidFill>
            <a:srgbClr val="14563A"/>
          </a:solidFill>
          <a:ln w="9525">
            <a:solidFill>
              <a:srgbClr val="14563A"/>
            </a:solidFill>
            <a:prstDash val="solid"/>
          </a:ln>
        </p:spPr>
        <p:txBody>
          <a:bodyPr lIns="47625" tIns="0" rIns="47625" bIns="0" anchor="ctr"/>
          <a:lstStyle/>
          <a:p>
            <a:pPr algn="ctr"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04  產生行動卡</a:t>
            </a:r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76DDC68D-3412-4BCD-ADFE-A5DE92E1E65A}"/>
              </a:ext>
            </a:extLst>
          </p:cNvPr>
          <p:cNvSpPr>
            <a:spLocks noGrp="1"/>
          </p:cNvSpPr>
          <p:nvPr/>
        </p:nvSpPr>
        <p:spPr>
          <a:xfrm>
            <a:off x="9563100" y="1714500"/>
            <a:ext cx="18669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  <p:txBody>
          <a:bodyPr lIns="47625" tIns="0" rIns="47625" bIns="0" anchor="ctr"/>
          <a:lstStyle/>
          <a:p>
            <a:pPr algn="ctr">
              <a:defRPr sz="1275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05  留存 Air 日誌</a:t>
            </a:r>
          </a:p>
        </p:txBody>
      </p:sp>
      <p:cxnSp>
        <p:nvCxnSpPr>
          <p:cNvPr id="98" name="直線箭頭接點 97"/>
          <p:cNvCxnSpPr>
            <a:stCxn id="34" idx="3"/>
            <a:endCxn id="35" idx="1"/>
          </p:cNvCxnSpPr>
          <p:nvPr/>
        </p:nvCxnSpPr>
        <p:spPr>
          <a:xfrm>
            <a:off x="2438400" y="1924050"/>
            <a:ext cx="381000" cy="0"/>
          </a:xfrm>
          <a:prstGeom prst="straightConnector1">
            <a:avLst/>
          </a:prstGeom>
          <a:ln w="19050">
            <a:solidFill>
              <a:srgbClr val="237A50"/>
            </a:solidFill>
            <a:prstDash val="solid"/>
            <a:tailEnd type="arrow" w="sm" len="sm"/>
          </a:ln>
        </p:spPr>
      </p:cxnSp>
      <p:cxnSp>
        <p:nvCxnSpPr>
          <p:cNvPr id="99" name="直線箭頭接點 98"/>
          <p:cNvCxnSpPr>
            <a:stCxn id="35" idx="3"/>
            <a:endCxn id="36" idx="1"/>
          </p:cNvCxnSpPr>
          <p:nvPr/>
        </p:nvCxnSpPr>
        <p:spPr>
          <a:xfrm>
            <a:off x="4686300" y="1924050"/>
            <a:ext cx="381000" cy="0"/>
          </a:xfrm>
          <a:prstGeom prst="straightConnector1">
            <a:avLst/>
          </a:prstGeom>
          <a:ln w="19050">
            <a:solidFill>
              <a:srgbClr val="237A50"/>
            </a:solidFill>
            <a:prstDash val="solid"/>
            <a:tailEnd type="arrow" w="sm" len="sm"/>
          </a:ln>
        </p:spPr>
      </p:cxnSp>
      <p:cxnSp>
        <p:nvCxnSpPr>
          <p:cNvPr id="100" name="直線箭頭接點 99"/>
          <p:cNvCxnSpPr>
            <a:stCxn id="36" idx="3"/>
            <a:endCxn id="37" idx="1"/>
          </p:cNvCxnSpPr>
          <p:nvPr/>
        </p:nvCxnSpPr>
        <p:spPr>
          <a:xfrm>
            <a:off x="6934200" y="1924050"/>
            <a:ext cx="381000" cy="0"/>
          </a:xfrm>
          <a:prstGeom prst="straightConnector1">
            <a:avLst/>
          </a:prstGeom>
          <a:ln w="19050">
            <a:solidFill>
              <a:srgbClr val="237A50"/>
            </a:solidFill>
            <a:prstDash val="solid"/>
            <a:tailEnd type="arrow" w="sm" len="sm"/>
          </a:ln>
        </p:spPr>
      </p:cxnSp>
      <p:cxnSp>
        <p:nvCxnSpPr>
          <p:cNvPr id="101" name="直線箭頭接點 100"/>
          <p:cNvCxnSpPr>
            <a:stCxn id="37" idx="3"/>
            <a:endCxn id="38" idx="1"/>
          </p:cNvCxnSpPr>
          <p:nvPr/>
        </p:nvCxnSpPr>
        <p:spPr>
          <a:xfrm>
            <a:off x="9182100" y="1924050"/>
            <a:ext cx="381000" cy="0"/>
          </a:xfrm>
          <a:prstGeom prst="straightConnector1">
            <a:avLst/>
          </a:prstGeom>
          <a:ln w="19050">
            <a:solidFill>
              <a:srgbClr val="237A50"/>
            </a:solidFill>
            <a:prstDash val="solid"/>
            <a:tailEnd type="arrow" w="sm" len="sm"/>
          </a:ln>
        </p:spPr>
      </p:cxnSp>
      <p:sp>
        <p:nvSpPr>
          <p:cNvPr id="43" name="flow-1-shadow">
            <a:extLst>
              <a:ext uri="{FF2B5EF4-FFF2-40B4-BE49-F238E27FC236}">
                <a16:creationId xmlns:a16="http://schemas.microsoft.com/office/drawing/2014/main" id="{365211D0-1BA8-4304-A768-E48CCE3C3675}"/>
              </a:ext>
            </a:extLst>
          </p:cNvPr>
          <p:cNvSpPr>
            <a:spLocks noGrp="1"/>
          </p:cNvSpPr>
          <p:nvPr/>
        </p:nvSpPr>
        <p:spPr>
          <a:xfrm>
            <a:off x="647700" y="2419350"/>
            <a:ext cx="1866900" cy="3028950"/>
          </a:xfrm>
          <a:prstGeom prst="roundRect">
            <a:avLst>
              <a:gd name="adj" fmla="val 6122"/>
            </a:avLst>
          </a:prstGeom>
          <a:solidFill>
            <a:srgbClr val="BFD8CA"/>
          </a:solidFill>
          <a:ln w="0">
            <a:noFill/>
            <a:prstDash val="solid"/>
          </a:ln>
        </p:spPr>
      </p:sp>
      <p:sp>
        <p:nvSpPr>
          <p:cNvPr id="44" name="flow-1-frame">
            <a:extLst>
              <a:ext uri="{FF2B5EF4-FFF2-40B4-BE49-F238E27FC236}">
                <a16:creationId xmlns:a16="http://schemas.microsoft.com/office/drawing/2014/main" id="{9A81FF5A-A8A5-427D-B75F-A616289601F8}"/>
              </a:ext>
            </a:extLst>
          </p:cNvPr>
          <p:cNvSpPr>
            <a:spLocks noGrp="1"/>
          </p:cNvSpPr>
          <p:nvPr/>
        </p:nvSpPr>
        <p:spPr>
          <a:xfrm>
            <a:off x="571500" y="2324100"/>
            <a:ext cx="1866900" cy="302895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pic>
        <p:nvPicPr>
          <p:cNvPr id="104" name="圖片 103"/>
          <p:cNvPicPr>
            <a:picLocks noChangeAspect="1"/>
          </p:cNvPicPr>
          <p:nvPr/>
        </p:nvPicPr>
        <p:blipFill>
          <a:blip r:embed="rId3"/>
          <a:srcRect t="11236" b="11236"/>
          <a:stretch>
            <a:fillRect/>
          </a:stretch>
        </p:blipFill>
        <p:spPr>
          <a:xfrm>
            <a:off x="647700" y="2400300"/>
            <a:ext cx="1714500" cy="2876550"/>
          </a:xfrm>
          <a:prstGeom prst="roundRect">
            <a:avLst>
              <a:gd name="adj" fmla="val 6667"/>
            </a:avLst>
          </a:prstGeom>
        </p:spPr>
      </p:pic>
      <p:sp>
        <p:nvSpPr>
          <p:cNvPr id="46" name="flow-2-shadow">
            <a:extLst>
              <a:ext uri="{FF2B5EF4-FFF2-40B4-BE49-F238E27FC236}">
                <a16:creationId xmlns:a16="http://schemas.microsoft.com/office/drawing/2014/main" id="{8842A069-CE37-460C-9990-823D48766599}"/>
              </a:ext>
            </a:extLst>
          </p:cNvPr>
          <p:cNvSpPr>
            <a:spLocks noGrp="1"/>
          </p:cNvSpPr>
          <p:nvPr/>
        </p:nvSpPr>
        <p:spPr>
          <a:xfrm>
            <a:off x="2895600" y="2419350"/>
            <a:ext cx="1866900" cy="3028950"/>
          </a:xfrm>
          <a:prstGeom prst="roundRect">
            <a:avLst>
              <a:gd name="adj" fmla="val 6122"/>
            </a:avLst>
          </a:prstGeom>
          <a:solidFill>
            <a:srgbClr val="BFD8CA"/>
          </a:solidFill>
          <a:ln w="0">
            <a:noFill/>
            <a:prstDash val="solid"/>
          </a:ln>
        </p:spPr>
      </p:sp>
      <p:sp>
        <p:nvSpPr>
          <p:cNvPr id="47" name="flow-2-frame">
            <a:extLst>
              <a:ext uri="{FF2B5EF4-FFF2-40B4-BE49-F238E27FC236}">
                <a16:creationId xmlns:a16="http://schemas.microsoft.com/office/drawing/2014/main" id="{BEBDCA1E-3EAD-49B8-A3C2-7ED925BE1DE0}"/>
              </a:ext>
            </a:extLst>
          </p:cNvPr>
          <p:cNvSpPr>
            <a:spLocks noGrp="1"/>
          </p:cNvSpPr>
          <p:nvPr/>
        </p:nvSpPr>
        <p:spPr>
          <a:xfrm>
            <a:off x="2819400" y="2324100"/>
            <a:ext cx="1866900" cy="302895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pic>
        <p:nvPicPr>
          <p:cNvPr id="107" name="圖片 106"/>
          <p:cNvPicPr>
            <a:picLocks noChangeAspect="1"/>
          </p:cNvPicPr>
          <p:nvPr/>
        </p:nvPicPr>
        <p:blipFill>
          <a:blip r:embed="rId4"/>
          <a:srcRect t="11236" b="11236"/>
          <a:stretch>
            <a:fillRect/>
          </a:stretch>
        </p:blipFill>
        <p:spPr>
          <a:xfrm>
            <a:off x="2895600" y="2400300"/>
            <a:ext cx="1714500" cy="2876550"/>
          </a:xfrm>
          <a:prstGeom prst="roundRect">
            <a:avLst>
              <a:gd name="adj" fmla="val 6667"/>
            </a:avLst>
          </a:prstGeom>
        </p:spPr>
      </p:pic>
      <p:sp>
        <p:nvSpPr>
          <p:cNvPr id="49" name="flow-3-shadow">
            <a:extLst>
              <a:ext uri="{FF2B5EF4-FFF2-40B4-BE49-F238E27FC236}">
                <a16:creationId xmlns:a16="http://schemas.microsoft.com/office/drawing/2014/main" id="{BDDB3006-71A5-46A9-A69F-FD7343DE5AD2}"/>
              </a:ext>
            </a:extLst>
          </p:cNvPr>
          <p:cNvSpPr>
            <a:spLocks noGrp="1"/>
          </p:cNvSpPr>
          <p:nvPr/>
        </p:nvSpPr>
        <p:spPr>
          <a:xfrm>
            <a:off x="5143500" y="2419350"/>
            <a:ext cx="1866900" cy="3028950"/>
          </a:xfrm>
          <a:prstGeom prst="roundRect">
            <a:avLst>
              <a:gd name="adj" fmla="val 6122"/>
            </a:avLst>
          </a:prstGeom>
          <a:solidFill>
            <a:srgbClr val="BFD8CA"/>
          </a:solidFill>
          <a:ln w="0">
            <a:noFill/>
            <a:prstDash val="solid"/>
          </a:ln>
        </p:spPr>
      </p:sp>
      <p:sp>
        <p:nvSpPr>
          <p:cNvPr id="50" name="flow-3-frame">
            <a:extLst>
              <a:ext uri="{FF2B5EF4-FFF2-40B4-BE49-F238E27FC236}">
                <a16:creationId xmlns:a16="http://schemas.microsoft.com/office/drawing/2014/main" id="{C99DBC5E-DC1C-42EA-9E4D-E71F1BF16833}"/>
              </a:ext>
            </a:extLst>
          </p:cNvPr>
          <p:cNvSpPr>
            <a:spLocks noGrp="1"/>
          </p:cNvSpPr>
          <p:nvPr/>
        </p:nvSpPr>
        <p:spPr>
          <a:xfrm>
            <a:off x="5067300" y="2324100"/>
            <a:ext cx="1866900" cy="302895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pic>
        <p:nvPicPr>
          <p:cNvPr id="110" name="圖片 109"/>
          <p:cNvPicPr>
            <a:picLocks noChangeAspect="1"/>
          </p:cNvPicPr>
          <p:nvPr/>
        </p:nvPicPr>
        <p:blipFill>
          <a:blip r:embed="rId5"/>
          <a:srcRect t="11236" b="11236"/>
          <a:stretch>
            <a:fillRect/>
          </a:stretch>
        </p:blipFill>
        <p:spPr>
          <a:xfrm>
            <a:off x="5143500" y="2400300"/>
            <a:ext cx="1714500" cy="2876550"/>
          </a:xfrm>
          <a:prstGeom prst="roundRect">
            <a:avLst>
              <a:gd name="adj" fmla="val 6667"/>
            </a:avLst>
          </a:prstGeom>
        </p:spPr>
      </p:pic>
      <p:sp>
        <p:nvSpPr>
          <p:cNvPr id="52" name="flow-4-shadow">
            <a:extLst>
              <a:ext uri="{FF2B5EF4-FFF2-40B4-BE49-F238E27FC236}">
                <a16:creationId xmlns:a16="http://schemas.microsoft.com/office/drawing/2014/main" id="{CB00B5E9-B7FE-4A49-A6BB-46086521B482}"/>
              </a:ext>
            </a:extLst>
          </p:cNvPr>
          <p:cNvSpPr>
            <a:spLocks noGrp="1"/>
          </p:cNvSpPr>
          <p:nvPr/>
        </p:nvSpPr>
        <p:spPr>
          <a:xfrm>
            <a:off x="7391400" y="2419350"/>
            <a:ext cx="1866900" cy="3028950"/>
          </a:xfrm>
          <a:prstGeom prst="roundRect">
            <a:avLst>
              <a:gd name="adj" fmla="val 6122"/>
            </a:avLst>
          </a:prstGeom>
          <a:solidFill>
            <a:srgbClr val="BFD8CA"/>
          </a:solidFill>
          <a:ln w="0">
            <a:noFill/>
            <a:prstDash val="solid"/>
          </a:ln>
        </p:spPr>
      </p:sp>
      <p:sp>
        <p:nvSpPr>
          <p:cNvPr id="53" name="flow-4-frame">
            <a:extLst>
              <a:ext uri="{FF2B5EF4-FFF2-40B4-BE49-F238E27FC236}">
                <a16:creationId xmlns:a16="http://schemas.microsoft.com/office/drawing/2014/main" id="{6A0184DA-7D44-4110-8DF4-4ED4C1D5C57B}"/>
              </a:ext>
            </a:extLst>
          </p:cNvPr>
          <p:cNvSpPr>
            <a:spLocks noGrp="1"/>
          </p:cNvSpPr>
          <p:nvPr/>
        </p:nvSpPr>
        <p:spPr>
          <a:xfrm>
            <a:off x="7315200" y="2324100"/>
            <a:ext cx="1866900" cy="302895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pic>
        <p:nvPicPr>
          <p:cNvPr id="113" name="圖片 112"/>
          <p:cNvPicPr>
            <a:picLocks noChangeAspect="1"/>
          </p:cNvPicPr>
          <p:nvPr/>
        </p:nvPicPr>
        <p:blipFill>
          <a:blip r:embed="rId6"/>
          <a:srcRect t="11236" b="11236"/>
          <a:stretch>
            <a:fillRect/>
          </a:stretch>
        </p:blipFill>
        <p:spPr>
          <a:xfrm>
            <a:off x="7391400" y="2400300"/>
            <a:ext cx="1714500" cy="2876550"/>
          </a:xfrm>
          <a:prstGeom prst="roundRect">
            <a:avLst>
              <a:gd name="adj" fmla="val 6667"/>
            </a:avLst>
          </a:prstGeom>
        </p:spPr>
      </p:pic>
      <p:sp>
        <p:nvSpPr>
          <p:cNvPr id="55" name="flow-5-shadow">
            <a:extLst>
              <a:ext uri="{FF2B5EF4-FFF2-40B4-BE49-F238E27FC236}">
                <a16:creationId xmlns:a16="http://schemas.microsoft.com/office/drawing/2014/main" id="{DC9FE4D0-F541-4EE6-BE52-630A52858B54}"/>
              </a:ext>
            </a:extLst>
          </p:cNvPr>
          <p:cNvSpPr>
            <a:spLocks noGrp="1"/>
          </p:cNvSpPr>
          <p:nvPr/>
        </p:nvSpPr>
        <p:spPr>
          <a:xfrm>
            <a:off x="9639300" y="2419350"/>
            <a:ext cx="1866900" cy="3028950"/>
          </a:xfrm>
          <a:prstGeom prst="roundRect">
            <a:avLst>
              <a:gd name="adj" fmla="val 6122"/>
            </a:avLst>
          </a:prstGeom>
          <a:solidFill>
            <a:srgbClr val="BFD8CA"/>
          </a:solidFill>
          <a:ln w="0">
            <a:noFill/>
            <a:prstDash val="solid"/>
          </a:ln>
        </p:spPr>
      </p:sp>
      <p:sp>
        <p:nvSpPr>
          <p:cNvPr id="56" name="flow-5-frame">
            <a:extLst>
              <a:ext uri="{FF2B5EF4-FFF2-40B4-BE49-F238E27FC236}">
                <a16:creationId xmlns:a16="http://schemas.microsoft.com/office/drawing/2014/main" id="{E39756EB-CCC2-4BD0-BD22-DF534D03C2C0}"/>
              </a:ext>
            </a:extLst>
          </p:cNvPr>
          <p:cNvSpPr>
            <a:spLocks noGrp="1"/>
          </p:cNvSpPr>
          <p:nvPr/>
        </p:nvSpPr>
        <p:spPr>
          <a:xfrm>
            <a:off x="9563100" y="2324100"/>
            <a:ext cx="1866900" cy="302895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pic>
        <p:nvPicPr>
          <p:cNvPr id="116" name="圖片 115"/>
          <p:cNvPicPr>
            <a:picLocks noChangeAspect="1"/>
          </p:cNvPicPr>
          <p:nvPr/>
        </p:nvPicPr>
        <p:blipFill>
          <a:blip r:embed="rId7"/>
          <a:srcRect t="11236" b="11236"/>
          <a:stretch>
            <a:fillRect/>
          </a:stretch>
        </p:blipFill>
        <p:spPr>
          <a:xfrm>
            <a:off x="9639300" y="2400300"/>
            <a:ext cx="1714500" cy="2876550"/>
          </a:xfrm>
          <a:prstGeom prst="roundRect">
            <a:avLst>
              <a:gd name="adj" fmla="val 6667"/>
            </a:avLst>
          </a:prstGeom>
        </p:spPr>
      </p:pic>
      <p:sp>
        <p:nvSpPr>
          <p:cNvPr id="58" name="圓角矩形 57">
            <a:extLst>
              <a:ext uri="{FF2B5EF4-FFF2-40B4-BE49-F238E27FC236}">
                <a16:creationId xmlns:a16="http://schemas.microsoft.com/office/drawing/2014/main" id="{9BBD82EB-1339-470B-944B-F19DEF2E4697}"/>
              </a:ext>
            </a:extLst>
          </p:cNvPr>
          <p:cNvSpPr>
            <a:spLocks noGrp="1"/>
          </p:cNvSpPr>
          <p:nvPr/>
        </p:nvSpPr>
        <p:spPr>
          <a:xfrm>
            <a:off x="571500" y="5657850"/>
            <a:ext cx="11049000" cy="742950"/>
          </a:xfrm>
          <a:prstGeom prst="roundRect">
            <a:avLst>
              <a:gd name="adj" fmla="val 20513"/>
            </a:avLst>
          </a:prstGeom>
          <a:solidFill>
            <a:srgbClr val="14563A"/>
          </a:solidFill>
          <a:ln w="0">
            <a:noFill/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32B54C2-40DE-4D41-981B-81E32323E599}"/>
              </a:ext>
            </a:extLst>
          </p:cNvPr>
          <p:cNvSpPr>
            <a:spLocks noGrp="1"/>
          </p:cNvSpPr>
          <p:nvPr/>
        </p:nvSpPr>
        <p:spPr>
          <a:xfrm>
            <a:off x="838200" y="5857875"/>
            <a:ext cx="10515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 dirty="0" err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服務串接｜Web</a:t>
            </a:r>
            <a:r>
              <a:rPr sz="1500" b="1" dirty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入口</a:t>
            </a:r>
            <a:r>
              <a:rPr sz="1500" b="1" dirty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→ </a:t>
            </a:r>
            <a:r>
              <a:rPr sz="1500" b="1" dirty="0" err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共用</a:t>
            </a:r>
            <a:r>
              <a:rPr sz="1500" b="1" dirty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API → Azure OpenAI </a:t>
            </a:r>
            <a:r>
              <a:rPr sz="1500" b="1" dirty="0" err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結構化生成</a:t>
            </a:r>
            <a:r>
              <a:rPr sz="1500" b="1" dirty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→ PostgreSQL </a:t>
            </a:r>
            <a:r>
              <a:rPr sz="1500" b="1" dirty="0" err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環境快取；日誌與回饋留在裝置</a:t>
            </a:r>
            <a:r>
              <a:rPr sz="1500" b="1" dirty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92261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直線接點 51">
            <a:extLst>
              <a:ext uri="{FF2B5EF4-FFF2-40B4-BE49-F238E27FC236}">
                <a16:creationId xmlns:a16="http://schemas.microsoft.com/office/drawing/2014/main" id="{01737B18-7D96-4EC6-9270-E6DC672663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" name="直線接點 1">
            <a:extLst>
              <a:ext uri="{FF2B5EF4-FFF2-40B4-BE49-F238E27FC236}">
                <a16:creationId xmlns:a16="http://schemas.microsoft.com/office/drawing/2014/main" id="{3966EE09-CDB7-4D5B-B60C-6ACE15A9D5FC}"/>
              </a:ext>
            </a:extLst>
          </p:cNvPr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3" name="直線接點 2">
            <a:extLst>
              <a:ext uri="{FF2B5EF4-FFF2-40B4-BE49-F238E27FC236}">
                <a16:creationId xmlns:a16="http://schemas.microsoft.com/office/drawing/2014/main" id="{5118A781-2324-43A3-ABB2-CFED2560EA9D}"/>
              </a:ext>
            </a:extLst>
          </p:cNvPr>
          <p:cNvSpPr>
            <a:spLocks noGrp="1"/>
          </p:cNvSpPr>
          <p:nvPr/>
        </p:nvSpPr>
        <p:spPr>
          <a:xfrm>
            <a:off x="152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319FC2C8-D299-4DF9-8769-D51C186F3DFF}"/>
              </a:ext>
            </a:extLst>
          </p:cNvPr>
          <p:cNvSpPr>
            <a:spLocks noGrp="1"/>
          </p:cNvSpPr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5" name="直線接點 4">
            <a:extLst>
              <a:ext uri="{FF2B5EF4-FFF2-40B4-BE49-F238E27FC236}">
                <a16:creationId xmlns:a16="http://schemas.microsoft.com/office/drawing/2014/main" id="{15435A28-7D18-4F67-8953-013D8969CC7C}"/>
              </a:ext>
            </a:extLst>
          </p:cNvPr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6" name="直線接點 5">
            <a:extLst>
              <a:ext uri="{FF2B5EF4-FFF2-40B4-BE49-F238E27FC236}">
                <a16:creationId xmlns:a16="http://schemas.microsoft.com/office/drawing/2014/main" id="{C9930537-6B90-4B50-A308-241AEEB71E5E}"/>
              </a:ext>
            </a:extLst>
          </p:cNvPr>
          <p:cNvSpPr>
            <a:spLocks noGrp="1"/>
          </p:cNvSpPr>
          <p:nvPr/>
        </p:nvSpPr>
        <p:spPr>
          <a:xfrm>
            <a:off x="381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7" name="直線接點 6">
            <a:extLst>
              <a:ext uri="{FF2B5EF4-FFF2-40B4-BE49-F238E27FC236}">
                <a16:creationId xmlns:a16="http://schemas.microsoft.com/office/drawing/2014/main" id="{BE125B4C-A83E-478C-AFA7-29B82FA901FA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8" name="直線接點 7">
            <a:extLst>
              <a:ext uri="{FF2B5EF4-FFF2-40B4-BE49-F238E27FC236}">
                <a16:creationId xmlns:a16="http://schemas.microsoft.com/office/drawing/2014/main" id="{2CAE9A14-106B-4D69-87FF-06F461DA65C1}"/>
              </a:ext>
            </a:extLst>
          </p:cNvPr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9" name="直線接點 8">
            <a:extLst>
              <a:ext uri="{FF2B5EF4-FFF2-40B4-BE49-F238E27FC236}">
                <a16:creationId xmlns:a16="http://schemas.microsoft.com/office/drawing/2014/main" id="{BA3FC44D-3CDC-41B1-8C6A-BE9BC8798A63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D0CD578A-95C6-4D44-8962-C5B5A733179A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1" name="直線接點 10">
            <a:extLst>
              <a:ext uri="{FF2B5EF4-FFF2-40B4-BE49-F238E27FC236}">
                <a16:creationId xmlns:a16="http://schemas.microsoft.com/office/drawing/2014/main" id="{A81BAD52-DA94-4BF2-8E59-95D6EE700237}"/>
              </a:ext>
            </a:extLst>
          </p:cNvPr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2" name="直線接點 11">
            <a:extLst>
              <a:ext uri="{FF2B5EF4-FFF2-40B4-BE49-F238E27FC236}">
                <a16:creationId xmlns:a16="http://schemas.microsoft.com/office/drawing/2014/main" id="{2F74096C-56F1-457A-8DC2-163CDE39318D}"/>
              </a:ext>
            </a:extLst>
          </p:cNvPr>
          <p:cNvSpPr>
            <a:spLocks noGrp="1"/>
          </p:cNvSpPr>
          <p:nvPr/>
        </p:nvSpPr>
        <p:spPr>
          <a:xfrm>
            <a:off x="838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3" name="直線接點 12">
            <a:extLst>
              <a:ext uri="{FF2B5EF4-FFF2-40B4-BE49-F238E27FC236}">
                <a16:creationId xmlns:a16="http://schemas.microsoft.com/office/drawing/2014/main" id="{1759DE28-F092-4F86-A6C5-C0437A1C8213}"/>
              </a:ext>
            </a:extLst>
          </p:cNvPr>
          <p:cNvSpPr>
            <a:spLocks noGrp="1"/>
          </p:cNvSpPr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4" name="直線接點 13">
            <a:extLst>
              <a:ext uri="{FF2B5EF4-FFF2-40B4-BE49-F238E27FC236}">
                <a16:creationId xmlns:a16="http://schemas.microsoft.com/office/drawing/2014/main" id="{743875C1-DC60-4FE8-A325-A030C7EA8DD1}"/>
              </a:ext>
            </a:extLst>
          </p:cNvPr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5" name="直線接點 14">
            <a:extLst>
              <a:ext uri="{FF2B5EF4-FFF2-40B4-BE49-F238E27FC236}">
                <a16:creationId xmlns:a16="http://schemas.microsoft.com/office/drawing/2014/main" id="{7C8156E0-CDF5-4326-BA7C-FE8B10A4D131}"/>
              </a:ext>
            </a:extLst>
          </p:cNvPr>
          <p:cNvSpPr>
            <a:spLocks noGrp="1"/>
          </p:cNvSpPr>
          <p:nvPr/>
        </p:nvSpPr>
        <p:spPr>
          <a:xfrm>
            <a:off x="10668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5DBF59CC-815F-4B75-8283-A72ABA257915}"/>
              </a:ext>
            </a:extLst>
          </p:cNvPr>
          <p:cNvSpPr>
            <a:spLocks noGrp="1"/>
          </p:cNvSpPr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7" name="直線接點 16">
            <a:extLst>
              <a:ext uri="{FF2B5EF4-FFF2-40B4-BE49-F238E27FC236}">
                <a16:creationId xmlns:a16="http://schemas.microsoft.com/office/drawing/2014/main" id="{C637A70B-9B3E-4109-A2E1-534CCC553D3D}"/>
              </a:ext>
            </a:extLst>
          </p:cNvPr>
          <p:cNvSpPr>
            <a:spLocks noGrp="1"/>
          </p:cNvSpPr>
          <p:nvPr/>
        </p:nvSpPr>
        <p:spPr>
          <a:xfrm>
            <a:off x="12192000" y="0"/>
            <a:ext cx="0" cy="685800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8" name="直線接點 17">
            <a:extLst>
              <a:ext uri="{FF2B5EF4-FFF2-40B4-BE49-F238E27FC236}">
                <a16:creationId xmlns:a16="http://schemas.microsoft.com/office/drawing/2014/main" id="{C121B8E5-A1A8-4F2C-BD5C-6CB97625A0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19" name="直線接點 18">
            <a:extLst>
              <a:ext uri="{FF2B5EF4-FFF2-40B4-BE49-F238E27FC236}">
                <a16:creationId xmlns:a16="http://schemas.microsoft.com/office/drawing/2014/main" id="{D6D90205-6FB5-41F8-A732-0FF59D0CB59F}"/>
              </a:ext>
            </a:extLst>
          </p:cNvPr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0" name="直線接點 19">
            <a:extLst>
              <a:ext uri="{FF2B5EF4-FFF2-40B4-BE49-F238E27FC236}">
                <a16:creationId xmlns:a16="http://schemas.microsoft.com/office/drawing/2014/main" id="{B9F90275-7A17-4BC3-85F6-AF8C313D82E9}"/>
              </a:ext>
            </a:extLst>
          </p:cNvPr>
          <p:cNvSpPr>
            <a:spLocks noGrp="1"/>
          </p:cNvSpPr>
          <p:nvPr/>
        </p:nvSpPr>
        <p:spPr>
          <a:xfrm>
            <a:off x="0" y="1524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1" name="直線接點 20">
            <a:extLst>
              <a:ext uri="{FF2B5EF4-FFF2-40B4-BE49-F238E27FC236}">
                <a16:creationId xmlns:a16="http://schemas.microsoft.com/office/drawing/2014/main" id="{902E584F-CB44-46F1-BC09-C7B1246223EE}"/>
              </a:ext>
            </a:extLst>
          </p:cNvPr>
          <p:cNvSpPr>
            <a:spLocks noGrp="1"/>
          </p:cNvSpPr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2" name="直線接點 21">
            <a:extLst>
              <a:ext uri="{FF2B5EF4-FFF2-40B4-BE49-F238E27FC236}">
                <a16:creationId xmlns:a16="http://schemas.microsoft.com/office/drawing/2014/main" id="{D4E4042C-5D60-4F32-B461-D851F1A380CA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3" name="直線接點 22">
            <a:extLst>
              <a:ext uri="{FF2B5EF4-FFF2-40B4-BE49-F238E27FC236}">
                <a16:creationId xmlns:a16="http://schemas.microsoft.com/office/drawing/2014/main" id="{F81C71B5-9DB9-45D1-AB80-A42365C71005}"/>
              </a:ext>
            </a:extLst>
          </p:cNvPr>
          <p:cNvSpPr>
            <a:spLocks noGrp="1"/>
          </p:cNvSpPr>
          <p:nvPr/>
        </p:nvSpPr>
        <p:spPr>
          <a:xfrm>
            <a:off x="0" y="3810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0215C643-3510-4634-B842-F62202A98090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5" name="直線接點 24">
            <a:extLst>
              <a:ext uri="{FF2B5EF4-FFF2-40B4-BE49-F238E27FC236}">
                <a16:creationId xmlns:a16="http://schemas.microsoft.com/office/drawing/2014/main" id="{92B5B1CD-3629-43FB-9003-B9E0EECAC4CC}"/>
              </a:ext>
            </a:extLst>
          </p:cNvPr>
          <p:cNvSpPr>
            <a:spLocks noGrp="1"/>
          </p:cNvSpPr>
          <p:nvPr/>
        </p:nvSpPr>
        <p:spPr>
          <a:xfrm>
            <a:off x="0" y="5334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6" name="直線接點 25">
            <a:extLst>
              <a:ext uri="{FF2B5EF4-FFF2-40B4-BE49-F238E27FC236}">
                <a16:creationId xmlns:a16="http://schemas.microsoft.com/office/drawing/2014/main" id="{588068F7-B1B6-4B0F-A629-35DF53C5FF88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7" name="直線接點 26">
            <a:extLst>
              <a:ext uri="{FF2B5EF4-FFF2-40B4-BE49-F238E27FC236}">
                <a16:creationId xmlns:a16="http://schemas.microsoft.com/office/drawing/2014/main" id="{39889F4E-0437-4DC3-94E3-6C5807D784FA}"/>
              </a:ext>
            </a:extLst>
          </p:cNvPr>
          <p:cNvSpPr>
            <a:spLocks noGrp="1"/>
          </p:cNvSpPr>
          <p:nvPr/>
        </p:nvSpPr>
        <p:spPr>
          <a:xfrm>
            <a:off x="0" y="6858000"/>
            <a:ext cx="12192000" cy="0"/>
          </a:xfrm>
          <a:prstGeom prst="line">
            <a:avLst/>
          </a:prstGeom>
          <a:noFill/>
          <a:ln w="9525">
            <a:solidFill>
              <a:srgbClr val="E7F2EC"/>
            </a:solidFill>
            <a:prstDash val="solid"/>
          </a:ln>
        </p:spPr>
      </p:sp>
      <p:sp>
        <p:nvSpPr>
          <p:cNvPr id="28" name="decor-bottom-left">
            <a:extLst>
              <a:ext uri="{FF2B5EF4-FFF2-40B4-BE49-F238E27FC236}">
                <a16:creationId xmlns:a16="http://schemas.microsoft.com/office/drawing/2014/main" id="{FD5C96B8-9D72-45AC-8EA4-1F2676D476D3}"/>
              </a:ext>
            </a:extLst>
          </p:cNvPr>
          <p:cNvSpPr>
            <a:spLocks noGrp="1"/>
          </p:cNvSpPr>
          <p:nvPr/>
        </p:nvSpPr>
        <p:spPr>
          <a:xfrm>
            <a:off x="0" y="5619750"/>
            <a:ext cx="1428750" cy="1238250"/>
          </a:xfrm>
          <a:prstGeom prst="ellipse">
            <a:avLst/>
          </a:prstGeom>
          <a:solidFill>
            <a:srgbClr val="DDF4E7"/>
          </a:solidFill>
          <a:ln w="0">
            <a:noFill/>
            <a:prstDash val="solid"/>
          </a:ln>
        </p:spPr>
      </p:sp>
      <p:sp>
        <p:nvSpPr>
          <p:cNvPr id="29" name="decor-top-right">
            <a:extLst>
              <a:ext uri="{FF2B5EF4-FFF2-40B4-BE49-F238E27FC236}">
                <a16:creationId xmlns:a16="http://schemas.microsoft.com/office/drawing/2014/main" id="{5D1AEEE9-2FBB-4E1F-9090-41120DB73881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1143000" cy="1428750"/>
          </a:xfrm>
          <a:prstGeom prst="ellipse">
            <a:avLst/>
          </a:prstGeom>
          <a:solidFill>
            <a:srgbClr val="EAF8F0"/>
          </a:solidFill>
          <a:ln w="0">
            <a:noFill/>
            <a:prstDash val="solid"/>
          </a:ln>
        </p:spPr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A5284423-1349-4E47-894D-ACE7B92820B6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DDF4E7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REFLECTION</a:t>
            </a:r>
          </a:p>
        </p:txBody>
      </p:sp>
      <p:sp>
        <p:nvSpPr>
          <p:cNvPr id="31" name="slide-title">
            <a:extLst>
              <a:ext uri="{FF2B5EF4-FFF2-40B4-BE49-F238E27FC236}">
                <a16:creationId xmlns:a16="http://schemas.microsoft.com/office/drawing/2014/main" id="{59F67605-F3C3-48AA-8DF9-B74C80FFF2C9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1104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四項服務讓 AI 建議可生成、可驗證、可追溯、可保護</a:t>
            </a: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0EE36DE5-99D6-4B94-B1D3-5D0506897A81}"/>
              </a:ext>
            </a:extLst>
          </p:cNvPr>
          <p:cNvSpPr>
            <a:spLocks noGrp="1"/>
          </p:cNvSpPr>
          <p:nvPr/>
        </p:nvSpPr>
        <p:spPr>
          <a:xfrm>
            <a:off x="571500" y="1438275"/>
            <a:ext cx="800100" cy="57150"/>
          </a:xfrm>
          <a:prstGeom prst="roundRect">
            <a:avLst>
              <a:gd name="adj" fmla="val 50000"/>
            </a:avLst>
          </a:prstGeom>
          <a:solidFill>
            <a:srgbClr val="237A50"/>
          </a:solidFill>
          <a:ln w="0">
            <a:noFill/>
            <a:prstDash val="solid"/>
          </a:ln>
        </p:spPr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ACD32EE5-D35A-4852-B7A3-5D5F5602D36D}"/>
              </a:ext>
            </a:extLst>
          </p:cNvPr>
          <p:cNvSpPr>
            <a:spLocks noGrp="1"/>
          </p:cNvSpPr>
          <p:nvPr/>
        </p:nvSpPr>
        <p:spPr>
          <a:xfrm>
            <a:off x="1466850" y="1438275"/>
            <a:ext cx="266700" cy="57150"/>
          </a:xfrm>
          <a:prstGeom prst="roundRect">
            <a:avLst>
              <a:gd name="adj" fmla="val 50000"/>
            </a:avLst>
          </a:prstGeom>
          <a:solidFill>
            <a:srgbClr val="9FD9B9"/>
          </a:solidFill>
          <a:ln w="0">
            <a:noFill/>
            <a:prstDash val="solid"/>
          </a:ln>
        </p:spPr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5902D7BD-F54B-4DD9-BB33-4BA3E99900AA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7239000" cy="3000376"/>
          </a:xfrm>
          <a:prstGeom prst="roundRect">
            <a:avLst>
              <a:gd name="adj" fmla="val 9600"/>
            </a:avLst>
          </a:prstGeom>
          <a:solidFill>
            <a:srgbClr val="14563A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3C1628D-DF6D-48D2-AB8E-8E0AEFEFAE55}"/>
              </a:ext>
            </a:extLst>
          </p:cNvPr>
          <p:cNvSpPr>
            <a:spLocks noGrp="1"/>
          </p:cNvSpPr>
          <p:nvPr/>
        </p:nvSpPr>
        <p:spPr>
          <a:xfrm>
            <a:off x="933450" y="22479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AEE6C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 dirty="0" err="1">
                <a:solidFill>
                  <a:srgbClr val="AEE6C5"/>
                </a:solidFill>
                <a:latin typeface="Arial Unicode MS"/>
                <a:ea typeface="Arial Unicode MS"/>
                <a:cs typeface="Arial Unicode MS"/>
              </a:rPr>
              <a:t>這次雛形最大的收穫</a:t>
            </a:r>
            <a:endParaRPr sz="1650" b="1" dirty="0">
              <a:solidFill>
                <a:srgbClr val="AEE6C5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B5B03D1-EF85-46EA-B902-AD80A8C1A8CF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6286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 dirty="0" err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雲端不是堆疊服務</a:t>
            </a:r>
            <a:r>
              <a:rPr sz="2625" b="1" dirty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，</a:t>
            </a:r>
          </a:p>
          <a:p>
            <a:pPr algn="l">
              <a:lnSpc>
                <a:spcPct val="100000"/>
              </a:lnSpc>
              <a:buNone/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 dirty="0" err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而是把敏感情境隔離在可信後端</a:t>
            </a:r>
            <a:r>
              <a:rPr sz="2625" b="1" dirty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，</a:t>
            </a:r>
          </a:p>
          <a:p>
            <a:pPr algn="l">
              <a:lnSpc>
                <a:spcPct val="100000"/>
              </a:lnSpc>
              <a:buNone/>
              <a:defRPr sz="26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 dirty="0" err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讓</a:t>
            </a:r>
            <a:r>
              <a:rPr sz="2625" b="1" dirty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 AI </a:t>
            </a:r>
            <a:r>
              <a:rPr sz="2625" b="1" dirty="0" err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只在官方底線內工作</a:t>
            </a:r>
            <a:r>
              <a:rPr sz="2625" b="1" dirty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D23CCA1B-E4DC-4CB0-932C-E4045868486F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3429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C913B5B-FBBA-4AEB-9F34-1509F0BE68DC}"/>
              </a:ext>
            </a:extLst>
          </p:cNvPr>
          <p:cNvSpPr>
            <a:spLocks noGrp="1"/>
          </p:cNvSpPr>
          <p:nvPr/>
        </p:nvSpPr>
        <p:spPr>
          <a:xfrm>
            <a:off x="8458200" y="20764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170／170</a:t>
            </a:r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3B193838-5144-49E4-8442-5EB74A6C3650}"/>
              </a:ext>
            </a:extLst>
          </p:cNvPr>
          <p:cNvSpPr>
            <a:spLocks noGrp="1"/>
          </p:cNvSpPr>
          <p:nvPr/>
        </p:nvSpPr>
        <p:spPr>
          <a:xfrm>
            <a:off x="10115550" y="2133600"/>
            <a:ext cx="1257300" cy="381000"/>
          </a:xfrm>
          <a:prstGeom prst="roundRect">
            <a:avLst>
              <a:gd name="adj" fmla="val 50000"/>
            </a:avLst>
          </a:prstGeom>
          <a:solidFill>
            <a:srgbClr val="DDF4E7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37A50"/>
                </a:solidFill>
                <a:latin typeface="Arial Unicode MS"/>
                <a:ea typeface="Arial Unicode MS"/>
                <a:cs typeface="Arial Unicode MS"/>
              </a:rPr>
              <a:t>自動化測試</a:t>
            </a: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8F1BE810-86F1-41E6-8A52-F9478FCEE5F5}"/>
              </a:ext>
            </a:extLst>
          </p:cNvPr>
          <p:cNvSpPr>
            <a:spLocks noGrp="1"/>
          </p:cNvSpPr>
          <p:nvPr/>
        </p:nvSpPr>
        <p:spPr>
          <a:xfrm>
            <a:off x="8191500" y="2971800"/>
            <a:ext cx="3429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53E4658-72DB-4895-A9BE-D67C374BB02C}"/>
              </a:ext>
            </a:extLst>
          </p:cNvPr>
          <p:cNvSpPr>
            <a:spLocks noGrp="1"/>
          </p:cNvSpPr>
          <p:nvPr/>
        </p:nvSpPr>
        <p:spPr>
          <a:xfrm>
            <a:off x="8458200" y="31432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694B9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694B93"/>
                </a:solidFill>
                <a:latin typeface="Arial Unicode MS"/>
                <a:ea typeface="Arial Unicode MS"/>
                <a:cs typeface="Arial Unicode MS"/>
              </a:rPr>
              <a:t>30／30</a:t>
            </a:r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DB9B0A3E-B2EC-467C-88CC-C89FA72B8890}"/>
              </a:ext>
            </a:extLst>
          </p:cNvPr>
          <p:cNvSpPr>
            <a:spLocks noGrp="1"/>
          </p:cNvSpPr>
          <p:nvPr/>
        </p:nvSpPr>
        <p:spPr>
          <a:xfrm>
            <a:off x="10115550" y="3200400"/>
            <a:ext cx="1257300" cy="381000"/>
          </a:xfrm>
          <a:prstGeom prst="roundRect">
            <a:avLst>
              <a:gd name="adj" fmla="val 50000"/>
            </a:avLst>
          </a:prstGeom>
          <a:solidFill>
            <a:srgbClr val="E9E2F8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694B9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694B93"/>
                </a:solidFill>
                <a:latin typeface="Arial Unicode MS"/>
                <a:ea typeface="Arial Unicode MS"/>
                <a:cs typeface="Arial Unicode MS"/>
              </a:rPr>
              <a:t>安全評估案例</a:t>
            </a:r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C5D39395-C00C-4E98-8B06-84ACFEC1D93E}"/>
              </a:ext>
            </a:extLst>
          </p:cNvPr>
          <p:cNvSpPr>
            <a:spLocks noGrp="1"/>
          </p:cNvSpPr>
          <p:nvPr/>
        </p:nvSpPr>
        <p:spPr>
          <a:xfrm>
            <a:off x="8191500" y="4038600"/>
            <a:ext cx="34290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99C58AB-98B4-421D-A90E-F25258A16C3D}"/>
              </a:ext>
            </a:extLst>
          </p:cNvPr>
          <p:cNvSpPr>
            <a:spLocks noGrp="1"/>
          </p:cNvSpPr>
          <p:nvPr/>
        </p:nvSpPr>
        <p:spPr>
          <a:xfrm>
            <a:off x="8458200" y="42100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D89B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D89B18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02A7A269-FF87-49E6-9294-F02A41A7379A}"/>
              </a:ext>
            </a:extLst>
          </p:cNvPr>
          <p:cNvSpPr>
            <a:spLocks noGrp="1"/>
          </p:cNvSpPr>
          <p:nvPr/>
        </p:nvSpPr>
        <p:spPr>
          <a:xfrm>
            <a:off x="10115550" y="4267200"/>
            <a:ext cx="1257300" cy="381000"/>
          </a:xfrm>
          <a:prstGeom prst="roundRect">
            <a:avLst>
              <a:gd name="adj" fmla="val 50000"/>
            </a:avLst>
          </a:prstGeom>
          <a:solidFill>
            <a:srgbClr val="FFF0B8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00" b="1">
                <a:solidFill>
                  <a:srgbClr val="D89B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D89B18"/>
                </a:solidFill>
                <a:latin typeface="Arial Unicode MS"/>
                <a:ea typeface="Arial Unicode MS"/>
                <a:cs typeface="Arial Unicode MS"/>
              </a:rPr>
              <a:t>Web 靜態路由</a:t>
            </a:r>
          </a:p>
        </p:txBody>
      </p:sp>
      <p:sp>
        <p:nvSpPr>
          <p:cNvPr id="46" name="圓角矩形 45">
            <a:extLst>
              <a:ext uri="{FF2B5EF4-FFF2-40B4-BE49-F238E27FC236}">
                <a16:creationId xmlns:a16="http://schemas.microsoft.com/office/drawing/2014/main" id="{0119544A-9ABF-4DB1-82C9-299D5E0DB823}"/>
              </a:ext>
            </a:extLst>
          </p:cNvPr>
          <p:cNvSpPr>
            <a:spLocks noGrp="1"/>
          </p:cNvSpPr>
          <p:nvPr/>
        </p:nvSpPr>
        <p:spPr>
          <a:xfrm>
            <a:off x="571500" y="50482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9E2F8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75" b="1">
                <a:solidFill>
                  <a:srgbClr val="694B9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94B93"/>
                </a:solidFill>
                <a:latin typeface="Arial Unicode MS"/>
                <a:ea typeface="Arial Unicode MS"/>
                <a:cs typeface="Arial Unicode MS"/>
              </a:rPr>
              <a:t>Azure OpenAI</a:t>
            </a:r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55BAD50B-A739-4C1A-A11D-3F230DFCD957}"/>
              </a:ext>
            </a:extLst>
          </p:cNvPr>
          <p:cNvSpPr>
            <a:spLocks noGrp="1"/>
          </p:cNvSpPr>
          <p:nvPr/>
        </p:nvSpPr>
        <p:spPr>
          <a:xfrm>
            <a:off x="3333750" y="50482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DCEFFC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75" b="1">
                <a:solidFill>
                  <a:srgbClr val="246B9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46B91"/>
                </a:solidFill>
                <a:latin typeface="Arial Unicode MS"/>
                <a:ea typeface="Arial Unicode MS"/>
                <a:cs typeface="Arial Unicode MS"/>
              </a:rPr>
              <a:t>App Service</a:t>
            </a:r>
          </a:p>
        </p:txBody>
      </p:sp>
      <p:sp>
        <p:nvSpPr>
          <p:cNvPr id="48" name="圓角矩形 47">
            <a:extLst>
              <a:ext uri="{FF2B5EF4-FFF2-40B4-BE49-F238E27FC236}">
                <a16:creationId xmlns:a16="http://schemas.microsoft.com/office/drawing/2014/main" id="{68246217-5FF5-474C-B989-D08F553F8E5E}"/>
              </a:ext>
            </a:extLst>
          </p:cNvPr>
          <p:cNvSpPr>
            <a:spLocks noGrp="1"/>
          </p:cNvSpPr>
          <p:nvPr/>
        </p:nvSpPr>
        <p:spPr>
          <a:xfrm>
            <a:off x="6096000" y="50482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FFF0B8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75" b="1">
                <a:solidFill>
                  <a:srgbClr val="D89B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9B18"/>
                </a:solidFill>
                <a:latin typeface="Arial Unicode MS"/>
                <a:ea typeface="Arial Unicode MS"/>
                <a:cs typeface="Arial Unicode MS"/>
              </a:rPr>
              <a:t>Static Web Apps</a:t>
            </a:r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77979B94-5173-4F3C-857F-CD14CE85426A}"/>
              </a:ext>
            </a:extLst>
          </p:cNvPr>
          <p:cNvSpPr>
            <a:spLocks noGrp="1"/>
          </p:cNvSpPr>
          <p:nvPr/>
        </p:nvSpPr>
        <p:spPr>
          <a:xfrm>
            <a:off x="8858250" y="50482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F7D9CE"/>
          </a:solidFill>
          <a:ln w="0">
            <a:noFill/>
            <a:prstDash val="solid"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275" b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A94C2E"/>
                </a:solidFill>
                <a:latin typeface="Arial Unicode MS"/>
                <a:ea typeface="Arial Unicode MS"/>
                <a:cs typeface="Arial Unicode MS"/>
              </a:rPr>
              <a:t>PostgreSQL</a:t>
            </a:r>
          </a:p>
        </p:txBody>
      </p:sp>
      <p:sp>
        <p:nvSpPr>
          <p:cNvPr id="50" name="圓角矩形 49">
            <a:extLst>
              <a:ext uri="{FF2B5EF4-FFF2-40B4-BE49-F238E27FC236}">
                <a16:creationId xmlns:a16="http://schemas.microsoft.com/office/drawing/2014/main" id="{65C054A6-0E47-4625-9E3A-8CAFE366B90F}"/>
              </a:ext>
            </a:extLst>
          </p:cNvPr>
          <p:cNvSpPr>
            <a:spLocks noGrp="1"/>
          </p:cNvSpPr>
          <p:nvPr/>
        </p:nvSpPr>
        <p:spPr>
          <a:xfrm>
            <a:off x="571500" y="5667375"/>
            <a:ext cx="11049000" cy="781050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CDE3D6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996A5BD-E20C-43B1-A9CF-D48B4197C02B}"/>
              </a:ext>
            </a:extLst>
          </p:cNvPr>
          <p:cNvSpPr>
            <a:spLocks noGrp="1"/>
          </p:cNvSpPr>
          <p:nvPr/>
        </p:nvSpPr>
        <p:spPr>
          <a:xfrm>
            <a:off x="876300" y="5848350"/>
            <a:ext cx="10439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 dirty="0" err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結論｜AirMe</a:t>
            </a:r>
            <a:r>
              <a:rPr sz="1650" b="1" dirty="0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1650" b="1" dirty="0" err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已把最重要的垂直流程做成可重播雛形</a:t>
            </a:r>
            <a:r>
              <a:rPr sz="1650" b="1" dirty="0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：</a:t>
            </a:r>
            <a:endParaRPr lang="en-US" sz="1650" b="1" dirty="0">
              <a:solidFill>
                <a:srgbClr val="173B2A"/>
              </a:solidFill>
              <a:latin typeface="Arial Unicode MS"/>
              <a:ea typeface="Arial Unicode MS"/>
              <a:cs typeface="Arial Unicode MS"/>
            </a:endParaRPr>
          </a:p>
          <a:p>
            <a:pPr algn="ctr">
              <a:lnSpc>
                <a:spcPct val="105000"/>
              </a:lnSpc>
              <a:buNone/>
              <a:defRPr sz="1650" b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 dirty="0" err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自然語言輸入</a:t>
            </a:r>
            <a:r>
              <a:rPr sz="1650" b="1" dirty="0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 → </a:t>
            </a:r>
            <a:r>
              <a:rPr sz="1650" b="1" dirty="0" err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環境與規則</a:t>
            </a:r>
            <a:r>
              <a:rPr sz="1650" b="1" dirty="0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 → </a:t>
            </a:r>
            <a:r>
              <a:rPr sz="1650" b="1" dirty="0" err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結構化行動卡</a:t>
            </a:r>
            <a:r>
              <a:rPr sz="1650" b="1" dirty="0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 → </a:t>
            </a:r>
            <a:r>
              <a:rPr sz="1650" b="1" dirty="0" err="1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安全追問與裝置端紀錄</a:t>
            </a:r>
            <a:r>
              <a:rPr sz="1650" b="1" dirty="0">
                <a:solidFill>
                  <a:srgbClr val="173B2A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712513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472</Words>
  <Application>Microsoft Macintosh PowerPoint</Application>
  <DocSecurity>0</DocSecurity>
  <PresentationFormat>寬螢幕</PresentationFormat>
  <Paragraphs>128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Arial Unicode MS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旻憲 李</cp:lastModifiedBy>
  <cp:revision>2</cp:revision>
  <dcterms:created xsi:type="dcterms:W3CDTF">2026-07-16T07:28:27Z</dcterms:created>
  <dcterms:modified xsi:type="dcterms:W3CDTF">2026-07-16T09:51:16Z</dcterms:modified>
</cp:coreProperties>
</file>