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30fc2580604e44" /><Relationship Type="http://schemas.openxmlformats.org/officeDocument/2006/relationships/extended-properties" Target="/docProps/app.xml" Id="R9c83243083ae41d3" /><Relationship Type="http://schemas.openxmlformats.org/officeDocument/2006/relationships/officeDocument" Target="/ppt/presentation.xml" Id="R54f21c68f9b34e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ccf48f66f846e7"/>
  </p:sldMasterIdLst>
  <p:notesMasterIdLst>
    <p:notesMasterId xmlns:r="http://schemas.openxmlformats.org/officeDocument/2006/relationships" r:id="Rf866de0d864642af"/>
  </p:notesMasterIdLst>
  <p:sldIdLst>
    <p:sldId xmlns:r="http://schemas.openxmlformats.org/officeDocument/2006/relationships" id="256" r:id="R0125658161d54eee"/>
    <p:sldId xmlns:r="http://schemas.openxmlformats.org/officeDocument/2006/relationships" id="257" r:id="R6b46e40c47624374"/>
    <p:sldId xmlns:r="http://schemas.openxmlformats.org/officeDocument/2006/relationships" id="258" r:id="Rd1117c5a1bb14858"/>
    <p:sldId xmlns:r="http://schemas.openxmlformats.org/officeDocument/2006/relationships" id="259" r:id="R042bdb37b8c9487c"/>
    <p:sldId xmlns:r="http://schemas.openxmlformats.org/officeDocument/2006/relationships" id="260" r:id="R721bc1c6e315492a"/>
    <p:sldId xmlns:r="http://schemas.openxmlformats.org/officeDocument/2006/relationships" id="261" r:id="Ra3b81e16d22d476f"/>
    <p:sldId xmlns:r="http://schemas.openxmlformats.org/officeDocument/2006/relationships" id="262" r:id="R793c1f9d505a4e6c"/>
    <p:sldId xmlns:r="http://schemas.openxmlformats.org/officeDocument/2006/relationships" id="263" r:id="R9d22fd03c0b8430f"/>
    <p:sldId xmlns:r="http://schemas.openxmlformats.org/officeDocument/2006/relationships" id="264" r:id="R2374b0b4486b462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17b5b4a44b43bf" /><Relationship Type="http://schemas.openxmlformats.org/officeDocument/2006/relationships/slideMaster" Target="/ppt/slideMasters/slideMaster1.xml" Id="R4accf48f66f846e7" /><Relationship Type="http://schemas.openxmlformats.org/officeDocument/2006/relationships/notesMaster" Target="/ppt/notesMasters/notesMaster1.xml" Id="Rf866de0d864642af" /><Relationship Type="http://schemas.openxmlformats.org/officeDocument/2006/relationships/presProps" Target="/ppt/presProps.xml" Id="R83b855b87078476a" /><Relationship Type="http://schemas.openxmlformats.org/officeDocument/2006/relationships/viewProps" Target="/ppt/viewProps.xml" Id="Rcffabe19d9d9486e" /><Relationship Type="http://schemas.openxmlformats.org/officeDocument/2006/relationships/tableStyles" Target="/ppt/tableStyles.xml" Id="Rbb24a96ec8af4ebf" /><Relationship Type="http://schemas.openxmlformats.org/officeDocument/2006/relationships/slide" Target="/ppt/slides/slide1.xml" Id="R0125658161d54eee" /><Relationship Type="http://schemas.openxmlformats.org/officeDocument/2006/relationships/slide" Target="/ppt/slides/slide2.xml" Id="R6b46e40c47624374" /><Relationship Type="http://schemas.openxmlformats.org/officeDocument/2006/relationships/slide" Target="/ppt/slides/slide3.xml" Id="Rd1117c5a1bb14858" /><Relationship Type="http://schemas.openxmlformats.org/officeDocument/2006/relationships/slide" Target="/ppt/slides/slide4.xml" Id="R042bdb37b8c9487c" /><Relationship Type="http://schemas.openxmlformats.org/officeDocument/2006/relationships/slide" Target="/ppt/slides/slide5.xml" Id="R721bc1c6e315492a" /><Relationship Type="http://schemas.openxmlformats.org/officeDocument/2006/relationships/slide" Target="/ppt/slides/slide6.xml" Id="Ra3b81e16d22d476f" /><Relationship Type="http://schemas.openxmlformats.org/officeDocument/2006/relationships/slide" Target="/ppt/slides/slide7.xml" Id="R793c1f9d505a4e6c" /><Relationship Type="http://schemas.openxmlformats.org/officeDocument/2006/relationships/slide" Target="/ppt/slides/slide8.xml" Id="R9d22fd03c0b8430f" /><Relationship Type="http://schemas.openxmlformats.org/officeDocument/2006/relationships/slide" Target="/ppt/slides/slide9.xml" Id="R2374b0b4486b46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5ee88328dd48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379501be0d4253" /><Relationship Type="http://schemas.openxmlformats.org/officeDocument/2006/relationships/notesMaster" Target="/ppt/notesMasters/notesMaster1.xml" Id="Ra67466cf490741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e5a1bcecbb4820" /><Relationship Type="http://schemas.openxmlformats.org/officeDocument/2006/relationships/notesMaster" Target="/ppt/notesMasters/notesMaster1.xml" Id="R66a4ca0c287d49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7248cc29b346a4" /><Relationship Type="http://schemas.openxmlformats.org/officeDocument/2006/relationships/notesMaster" Target="/ppt/notesMasters/notesMaster1.xml" Id="R1069bf3121ee4f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881ba0869e4aa2" /><Relationship Type="http://schemas.openxmlformats.org/officeDocument/2006/relationships/notesMaster" Target="/ppt/notesMasters/notesMaster1.xml" Id="Rd9767756c06c47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439b0e8ddc4d7e" /><Relationship Type="http://schemas.openxmlformats.org/officeDocument/2006/relationships/notesMaster" Target="/ppt/notesMasters/notesMaster1.xml" Id="Ra54015c369104b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f76a073abf4e7e" /><Relationship Type="http://schemas.openxmlformats.org/officeDocument/2006/relationships/notesMaster" Target="/ppt/notesMasters/notesMaster1.xml" Id="Rb506266c635e41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971ac98c72455e" /><Relationship Type="http://schemas.openxmlformats.org/officeDocument/2006/relationships/notesMaster" Target="/ppt/notesMasters/notesMaster1.xml" Id="R8035febda23442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1bf8bf2830452a" /><Relationship Type="http://schemas.openxmlformats.org/officeDocument/2006/relationships/notesMaster" Target="/ppt/notesMasters/notesMaster1.xml" Id="R0ce7c444a1a44f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b4e2baa2bd4f3a" /><Relationship Type="http://schemas.openxmlformats.org/officeDocument/2006/relationships/notesMaster" Target="/ppt/notesMasters/notesMaster1.xml" Id="R8cde7a82d9db4a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2c95e983d4e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cc52228ca44311" /><Relationship Type="http://schemas.openxmlformats.org/officeDocument/2006/relationships/slideLayout" Target="/ppt/slideLayouts/slideLayout1.xml" Id="R3566355e54fe4c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66355e54fe4c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eb27ca46f4137" /><Relationship Type="http://schemas.openxmlformats.org/officeDocument/2006/relationships/image" Target="/ppt/media/image.png" Id="R7880b041302e4eb4" /><Relationship Type="http://schemas.openxmlformats.org/officeDocument/2006/relationships/notesSlide" Target="/ppt/notesSlides/notesSlide1.xml" Id="R462b961ce94549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1821bd1514e43" /><Relationship Type="http://schemas.openxmlformats.org/officeDocument/2006/relationships/notesSlide" Target="/ppt/notesSlides/notesSlide2.xml" Id="R83d789a5c6d54a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c8f0998a04db7" /><Relationship Type="http://schemas.openxmlformats.org/officeDocument/2006/relationships/notesSlide" Target="/ppt/notesSlides/notesSlide3.xml" Id="R8866c730c08f4a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7726c3409457d" /><Relationship Type="http://schemas.openxmlformats.org/officeDocument/2006/relationships/image" Target="/ppt/media/image2.png" Id="R11d86398a96942cb" /><Relationship Type="http://schemas.openxmlformats.org/officeDocument/2006/relationships/notesSlide" Target="/ppt/notesSlides/notesSlide4.xml" Id="R6559ede6705247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f649d36bc4839" /><Relationship Type="http://schemas.openxmlformats.org/officeDocument/2006/relationships/image" Target="/ppt/media/image3.png" Id="R5c8b46a76b0645a3" /><Relationship Type="http://schemas.openxmlformats.org/officeDocument/2006/relationships/notesSlide" Target="/ppt/notesSlides/notesSlide5.xml" Id="R40107385852f49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58e7d73b542d7" /><Relationship Type="http://schemas.openxmlformats.org/officeDocument/2006/relationships/image" Target="/ppt/media/image4.png" Id="R0114369264504483" /><Relationship Type="http://schemas.openxmlformats.org/officeDocument/2006/relationships/notesSlide" Target="/ppt/notesSlides/notesSlide6.xml" Id="Rd499608f613d48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3e6c9bab4446d7" /><Relationship Type="http://schemas.openxmlformats.org/officeDocument/2006/relationships/image" Target="/ppt/media/image5.png" Id="R64f68ffbfe3d457f" /><Relationship Type="http://schemas.openxmlformats.org/officeDocument/2006/relationships/notesSlide" Target="/ppt/notesSlides/notesSlide7.xml" Id="R23bcb315b84e47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a9485e64a4798" /><Relationship Type="http://schemas.openxmlformats.org/officeDocument/2006/relationships/image" Target="/ppt/media/image6.png" Id="Rb3480d1ae84a4d72" /><Relationship Type="http://schemas.openxmlformats.org/officeDocument/2006/relationships/image" Target="/ppt/media/image7.png" Id="Ra076447dc1814d71" /><Relationship Type="http://schemas.openxmlformats.org/officeDocument/2006/relationships/image" Target="/ppt/media/image8.png" Id="Rca4fb574e7464f15" /><Relationship Type="http://schemas.openxmlformats.org/officeDocument/2006/relationships/image" Target="/ppt/media/image9.png" Id="R92d270fe0d7f4ea1" /><Relationship Type="http://schemas.openxmlformats.org/officeDocument/2006/relationships/image" Target="/ppt/media/image10.png" Id="Rf643b78c08b445d3" /><Relationship Type="http://schemas.openxmlformats.org/officeDocument/2006/relationships/notesSlide" Target="/ppt/notesSlides/notesSlide8.xml" Id="R25b5b85e195c4c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f5228223124972" /><Relationship Type="http://schemas.openxmlformats.org/officeDocument/2006/relationships/notesSlide" Target="/ppt/notesSlides/notesSlide9.xml" Id="Rbe6af5f5da8244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直線接點 37">
            <a:extLst xmlns:a="http://schemas.openxmlformats.org/drawingml/2006/main">
              <a:ext uri="{FF2B5EF4-FFF2-40B4-BE49-F238E27FC236}">
                <a16:creationId xmlns:a16="http://schemas.microsoft.com/office/drawing/2014/main" id="{FA10E9F6-7A35-464D-B7BB-CB268063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" name="直線接點 1">
            <a:extLst xmlns:a="http://schemas.openxmlformats.org/drawingml/2006/main">
              <a:ext uri="{FF2B5EF4-FFF2-40B4-BE49-F238E27FC236}">
                <a16:creationId xmlns:a16="http://schemas.microsoft.com/office/drawing/2014/main" id="{295AEB13-458C-4825-9CF1-8C96C547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23DFB51D-2F6F-43A5-8CF6-166D33B9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4" name="直線接點 3">
            <a:extLst xmlns:a="http://schemas.openxmlformats.org/drawingml/2006/main">
              <a:ext uri="{FF2B5EF4-FFF2-40B4-BE49-F238E27FC236}">
                <a16:creationId xmlns:a16="http://schemas.microsoft.com/office/drawing/2014/main" id="{D2308EE3-86D4-4FFA-B125-AD567A2B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5" name="直線接點 4">
            <a:extLst xmlns:a="http://schemas.openxmlformats.org/drawingml/2006/main">
              <a:ext uri="{FF2B5EF4-FFF2-40B4-BE49-F238E27FC236}">
                <a16:creationId xmlns:a16="http://schemas.microsoft.com/office/drawing/2014/main" id="{1B25B3AF-EDBC-4D35-BFE9-87C54683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6" name="直線接點 5">
            <a:extLst xmlns:a="http://schemas.openxmlformats.org/drawingml/2006/main">
              <a:ext uri="{FF2B5EF4-FFF2-40B4-BE49-F238E27FC236}">
                <a16:creationId xmlns:a16="http://schemas.microsoft.com/office/drawing/2014/main" id="{6398051A-049E-436B-8469-4D7DE810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7" name="直線接點 6">
            <a:extLst xmlns:a="http://schemas.openxmlformats.org/drawingml/2006/main">
              <a:ext uri="{FF2B5EF4-FFF2-40B4-BE49-F238E27FC236}">
                <a16:creationId xmlns:a16="http://schemas.microsoft.com/office/drawing/2014/main" id="{31BF587B-C8A2-4552-B79C-A9F52036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E0AC790F-81E1-4F4C-A0AB-DBE7A464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937B3CCF-985C-4594-B44A-B6F7D883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E2E54D11-6555-47FF-B81C-010D1E2C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D90E062D-9839-4122-89A7-06B89B75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E9D88D06-98A5-47BA-B149-642B3E3F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3" name="直線接點 12">
            <a:extLst xmlns:a="http://schemas.openxmlformats.org/drawingml/2006/main">
              <a:ext uri="{FF2B5EF4-FFF2-40B4-BE49-F238E27FC236}">
                <a16:creationId xmlns:a16="http://schemas.microsoft.com/office/drawing/2014/main" id="{99D6DF1B-EF3F-4A26-B164-2F083189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4" name="直線接點 13">
            <a:extLst xmlns:a="http://schemas.openxmlformats.org/drawingml/2006/main">
              <a:ext uri="{FF2B5EF4-FFF2-40B4-BE49-F238E27FC236}">
                <a16:creationId xmlns:a16="http://schemas.microsoft.com/office/drawing/2014/main" id="{DBEDA5C5-F7DB-4803-B5DA-909AB0BC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5" name="直線接點 14">
            <a:extLst xmlns:a="http://schemas.openxmlformats.org/drawingml/2006/main">
              <a:ext uri="{FF2B5EF4-FFF2-40B4-BE49-F238E27FC236}">
                <a16:creationId xmlns:a16="http://schemas.microsoft.com/office/drawing/2014/main" id="{59E986DE-FDF5-40C4-9AF0-EF9C4C44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6" name="直線接點 15">
            <a:extLst xmlns:a="http://schemas.openxmlformats.org/drawingml/2006/main">
              <a:ext uri="{FF2B5EF4-FFF2-40B4-BE49-F238E27FC236}">
                <a16:creationId xmlns:a16="http://schemas.microsoft.com/office/drawing/2014/main" id="{4E1F40C3-895A-4A27-BB3D-D862B7EE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7" name="直線接點 16">
            <a:extLst xmlns:a="http://schemas.openxmlformats.org/drawingml/2006/main">
              <a:ext uri="{FF2B5EF4-FFF2-40B4-BE49-F238E27FC236}">
                <a16:creationId xmlns:a16="http://schemas.microsoft.com/office/drawing/2014/main" id="{891BF79F-3848-423C-AB6F-87791788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8" name="直線接點 17">
            <a:extLst xmlns:a="http://schemas.openxmlformats.org/drawingml/2006/main">
              <a:ext uri="{FF2B5EF4-FFF2-40B4-BE49-F238E27FC236}">
                <a16:creationId xmlns:a16="http://schemas.microsoft.com/office/drawing/2014/main" id="{59B3D7D3-E5E8-4610-AC22-8444EA3B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9" name="直線接點 18">
            <a:extLst xmlns:a="http://schemas.openxmlformats.org/drawingml/2006/main">
              <a:ext uri="{FF2B5EF4-FFF2-40B4-BE49-F238E27FC236}">
                <a16:creationId xmlns:a16="http://schemas.microsoft.com/office/drawing/2014/main" id="{21949B16-2220-495F-87E7-01FD332A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0" name="直線接點 19">
            <a:extLst xmlns:a="http://schemas.openxmlformats.org/drawingml/2006/main">
              <a:ext uri="{FF2B5EF4-FFF2-40B4-BE49-F238E27FC236}">
                <a16:creationId xmlns:a16="http://schemas.microsoft.com/office/drawing/2014/main" id="{81742823-86CD-4B1E-8D35-C46C91E1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1" name="直線接點 20">
            <a:extLst xmlns:a="http://schemas.openxmlformats.org/drawingml/2006/main">
              <a:ext uri="{FF2B5EF4-FFF2-40B4-BE49-F238E27FC236}">
                <a16:creationId xmlns:a16="http://schemas.microsoft.com/office/drawing/2014/main" id="{0D6E398F-963E-4B89-AE68-C2F0F9D7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2" name="直線接點 21">
            <a:extLst xmlns:a="http://schemas.openxmlformats.org/drawingml/2006/main">
              <a:ext uri="{FF2B5EF4-FFF2-40B4-BE49-F238E27FC236}">
                <a16:creationId xmlns:a16="http://schemas.microsoft.com/office/drawing/2014/main" id="{057DBC60-BEA3-435A-8696-9FBAECEB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3" name="直線接點 22">
            <a:extLst xmlns:a="http://schemas.openxmlformats.org/drawingml/2006/main">
              <a:ext uri="{FF2B5EF4-FFF2-40B4-BE49-F238E27FC236}">
                <a16:creationId xmlns:a16="http://schemas.microsoft.com/office/drawing/2014/main" id="{E491CDC9-0ACA-4BD4-BAED-20A3F5A6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4" name="直線接點 23">
            <a:extLst xmlns:a="http://schemas.openxmlformats.org/drawingml/2006/main">
              <a:ext uri="{FF2B5EF4-FFF2-40B4-BE49-F238E27FC236}">
                <a16:creationId xmlns:a16="http://schemas.microsoft.com/office/drawing/2014/main" id="{E92A2675-1335-4675-9D34-02C097DA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5" name="直線接點 24">
            <a:extLst xmlns:a="http://schemas.openxmlformats.org/drawingml/2006/main">
              <a:ext uri="{FF2B5EF4-FFF2-40B4-BE49-F238E27FC236}">
                <a16:creationId xmlns:a16="http://schemas.microsoft.com/office/drawing/2014/main" id="{086C8DEE-2881-4D72-9573-8D1C0464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6" name="直線接點 25">
            <a:extLst xmlns:a="http://schemas.openxmlformats.org/drawingml/2006/main">
              <a:ext uri="{FF2B5EF4-FFF2-40B4-BE49-F238E27FC236}">
                <a16:creationId xmlns:a16="http://schemas.microsoft.com/office/drawing/2014/main" id="{F997DE22-1E76-4CEA-9585-A198A46A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7" name="直線接點 26">
            <a:extLst xmlns:a="http://schemas.openxmlformats.org/drawingml/2006/main">
              <a:ext uri="{FF2B5EF4-FFF2-40B4-BE49-F238E27FC236}">
                <a16:creationId xmlns:a16="http://schemas.microsoft.com/office/drawing/2014/main" id="{75078A90-3B4E-4ADE-89D8-47D6BAFC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8" name="decor-bottom-left">
            <a:extLst xmlns:a="http://schemas.openxmlformats.org/drawingml/2006/main">
              <a:ext uri="{FF2B5EF4-FFF2-40B4-BE49-F238E27FC236}">
                <a16:creationId xmlns:a16="http://schemas.microsoft.com/office/drawing/2014/main" id="{92D984F8-E209-4239-9078-A33D3D10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19750"/>
            <a:ext cx="14287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ecor-top-right">
            <a:extLst xmlns:a="http://schemas.openxmlformats.org/drawingml/2006/main">
              <a:ext uri="{FF2B5EF4-FFF2-40B4-BE49-F238E27FC236}">
                <a16:creationId xmlns:a16="http://schemas.microsoft.com/office/drawing/2014/main" id="{4B6822EC-0D2E-41F4-93E4-04CB8939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11430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圓角矩形 29">
            <a:extLst xmlns:a="http://schemas.openxmlformats.org/drawingml/2006/main">
              <a:ext uri="{FF2B5EF4-FFF2-40B4-BE49-F238E27FC236}">
                <a16:creationId xmlns:a16="http://schemas.microsoft.com/office/drawing/2014/main" id="{577E43F5-B9A9-4979-A461-FABE5FFE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362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雛形試作日｜概念驗證</a:t>
            </a: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CB37FA97-CBE9-4D00-B8FF-3F14853B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AirMe 空氣健康小管家</a:t>
            </a:r>
          </a:p>
        </p:txBody>
      </p:sp>
      <p:sp>
        <p:nvSpPr>
          <p:cNvPr id="32" name="deck-title">
            <a:extLst xmlns:a="http://schemas.openxmlformats.org/drawingml/2006/main">
              <a:ext uri="{FF2B5EF4-FFF2-40B4-BE49-F238E27FC236}">
                <a16:creationId xmlns:a16="http://schemas.microsoft.com/office/drawing/2014/main" id="{66FCDDD2-8C55-4342-8E91-A3B09371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54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4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Coolify／量界雲端服務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54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4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概念驗證報告</a:t>
            </a: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63A46974-5ACE-405C-97F3-1553BFE2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rPr>
              <a:t>從活動描述、官方環境資料到受安全底線約束的行動卡</a:t>
            </a:r>
          </a:p>
        </p:txBody>
      </p:sp>
      <p:sp>
        <p:nvSpPr>
          <p:cNvPr id="34" name="圓角矩形 33">
            <a:extLst xmlns:a="http://schemas.openxmlformats.org/drawingml/2006/main">
              <a:ext uri="{FF2B5EF4-FFF2-40B4-BE49-F238E27FC236}">
                <a16:creationId xmlns:a16="http://schemas.microsoft.com/office/drawing/2014/main" id="{14400693-EB61-415C-90DA-599505E1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00625"/>
            <a:ext cx="638175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51FE47C0-5647-42FA-AADE-B82E6085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0175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PoC 核心：AI 先理解情境，再由規則與 Schema 把輸出收斂成可執行、可追溯、可拒答的方案。</a:t>
            </a:r>
          </a:p>
        </p:txBody>
      </p:sp>
      <p:pic>
        <p:nvPicPr>
          <p:cNvPr id="75" name="圖片 7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0b041302e4eb4"/>
          <a:stretch xmlns:a="http://schemas.openxmlformats.org/drawingml/2006/main"/>
        </p:blipFill>
        <p:spPr>
          <a:xfrm xmlns:a="http://schemas.openxmlformats.org/drawingml/2006/main">
            <a:off x="8239125" y="1600200"/>
            <a:ext cx="2667000" cy="2667000"/>
          </a:xfrm>
          <a:prstGeom xmlns:a="http://schemas.openxmlformats.org/drawingml/2006/main" prst="roundRect">
            <a:avLst>
              <a:gd name="adj" fmla="val 8571"/>
            </a:avLst>
          </a:prstGeom>
        </p:spPr>
      </p:pic>
      <p:sp>
        <p:nvSpPr>
          <p:cNvPr id="37" name="圓角矩形 36">
            <a:extLst xmlns:a="http://schemas.openxmlformats.org/drawingml/2006/main">
              <a:ext uri="{FF2B5EF4-FFF2-40B4-BE49-F238E27FC236}">
                <a16:creationId xmlns:a16="http://schemas.microsoft.com/office/drawing/2014/main" id="{E971AC86-AE53-4B04-9DC7-CCBE2E7D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67250"/>
            <a:ext cx="28194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B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56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4563A"/>
                </a:solidFill>
                <a:latin typeface="Arial Unicode MS"/>
                <a:ea typeface="Arial Unicode MS"/>
                <a:cs typeface="Arial Unicode MS"/>
              </a:rPr>
              <a:t>AI × 空品 × 行動安全</a:t>
            </a:r>
          </a:p>
        </p:txBody>
      </p:sp>
    </p:spTree>
    <p:extLst>
      <p:ext uri="{BB962C8B-B14F-4D97-AF65-F5344CB8AC3E}">
        <p14:creationId xmlns:p14="http://schemas.microsoft.com/office/powerpoint/2010/main" val="12933432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直線接點 57">
            <a:extLst xmlns:a="http://schemas.openxmlformats.org/drawingml/2006/main">
              <a:ext uri="{FF2B5EF4-FFF2-40B4-BE49-F238E27FC236}">
                <a16:creationId xmlns:a16="http://schemas.microsoft.com/office/drawing/2014/main" id="{410D3CE6-E647-46E2-B6F3-126B1BD8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" name="直線接點 1">
            <a:extLst xmlns:a="http://schemas.openxmlformats.org/drawingml/2006/main">
              <a:ext uri="{FF2B5EF4-FFF2-40B4-BE49-F238E27FC236}">
                <a16:creationId xmlns:a16="http://schemas.microsoft.com/office/drawing/2014/main" id="{595FBE57-E8B4-41D9-A4E7-4A1A1A28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E47A84F8-D7C4-41A2-BCA0-72409218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4" name="直線接點 3">
            <a:extLst xmlns:a="http://schemas.openxmlformats.org/drawingml/2006/main">
              <a:ext uri="{FF2B5EF4-FFF2-40B4-BE49-F238E27FC236}">
                <a16:creationId xmlns:a16="http://schemas.microsoft.com/office/drawing/2014/main" id="{24C45E3D-C6E5-4F81-89AA-7D15296D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5" name="直線接點 4">
            <a:extLst xmlns:a="http://schemas.openxmlformats.org/drawingml/2006/main">
              <a:ext uri="{FF2B5EF4-FFF2-40B4-BE49-F238E27FC236}">
                <a16:creationId xmlns:a16="http://schemas.microsoft.com/office/drawing/2014/main" id="{4D4FB565-7D52-4368-9F54-D7F6A801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6" name="直線接點 5">
            <a:extLst xmlns:a="http://schemas.openxmlformats.org/drawingml/2006/main">
              <a:ext uri="{FF2B5EF4-FFF2-40B4-BE49-F238E27FC236}">
                <a16:creationId xmlns:a16="http://schemas.microsoft.com/office/drawing/2014/main" id="{AE4BC83E-80BE-42BC-9EDC-0BE0F43B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7" name="直線接點 6">
            <a:extLst xmlns:a="http://schemas.openxmlformats.org/drawingml/2006/main">
              <a:ext uri="{FF2B5EF4-FFF2-40B4-BE49-F238E27FC236}">
                <a16:creationId xmlns:a16="http://schemas.microsoft.com/office/drawing/2014/main" id="{7904FAEC-0E8D-4D3C-83EA-D2D7FC54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58CD78BA-7EB8-4AE1-90BB-F54FC6A3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A8E8257C-AE10-48CC-B2E1-947EF786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421CF2CB-821A-43B3-8180-6D671557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190A0A39-8CA5-4F63-9E77-A09F039B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89DE2FFD-542A-41DE-A935-95CF18D6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3" name="直線接點 12">
            <a:extLst xmlns:a="http://schemas.openxmlformats.org/drawingml/2006/main">
              <a:ext uri="{FF2B5EF4-FFF2-40B4-BE49-F238E27FC236}">
                <a16:creationId xmlns:a16="http://schemas.microsoft.com/office/drawing/2014/main" id="{FA8CA9C8-9E69-4B1C-856C-AB7EFBDB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4" name="直線接點 13">
            <a:extLst xmlns:a="http://schemas.openxmlformats.org/drawingml/2006/main">
              <a:ext uri="{FF2B5EF4-FFF2-40B4-BE49-F238E27FC236}">
                <a16:creationId xmlns:a16="http://schemas.microsoft.com/office/drawing/2014/main" id="{6D94853B-3128-4E8F-8B56-BE713E8E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5" name="直線接點 14">
            <a:extLst xmlns:a="http://schemas.openxmlformats.org/drawingml/2006/main">
              <a:ext uri="{FF2B5EF4-FFF2-40B4-BE49-F238E27FC236}">
                <a16:creationId xmlns:a16="http://schemas.microsoft.com/office/drawing/2014/main" id="{0A33B634-EB48-428C-BEC9-7C831AB8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6" name="直線接點 15">
            <a:extLst xmlns:a="http://schemas.openxmlformats.org/drawingml/2006/main">
              <a:ext uri="{FF2B5EF4-FFF2-40B4-BE49-F238E27FC236}">
                <a16:creationId xmlns:a16="http://schemas.microsoft.com/office/drawing/2014/main" id="{4AE3773B-AFCB-4A59-8758-3F685672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7" name="直線接點 16">
            <a:extLst xmlns:a="http://schemas.openxmlformats.org/drawingml/2006/main">
              <a:ext uri="{FF2B5EF4-FFF2-40B4-BE49-F238E27FC236}">
                <a16:creationId xmlns:a16="http://schemas.microsoft.com/office/drawing/2014/main" id="{B1274BCB-D00D-494C-854B-1C6D5E8F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8" name="直線接點 17">
            <a:extLst xmlns:a="http://schemas.openxmlformats.org/drawingml/2006/main">
              <a:ext uri="{FF2B5EF4-FFF2-40B4-BE49-F238E27FC236}">
                <a16:creationId xmlns:a16="http://schemas.microsoft.com/office/drawing/2014/main" id="{F91B08FB-2EB6-4D45-B2AC-5F80F413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9" name="直線接點 18">
            <a:extLst xmlns:a="http://schemas.openxmlformats.org/drawingml/2006/main">
              <a:ext uri="{FF2B5EF4-FFF2-40B4-BE49-F238E27FC236}">
                <a16:creationId xmlns:a16="http://schemas.microsoft.com/office/drawing/2014/main" id="{E96A0FD0-CC13-4CA7-BEC3-75132F629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0" name="直線接點 19">
            <a:extLst xmlns:a="http://schemas.openxmlformats.org/drawingml/2006/main">
              <a:ext uri="{FF2B5EF4-FFF2-40B4-BE49-F238E27FC236}">
                <a16:creationId xmlns:a16="http://schemas.microsoft.com/office/drawing/2014/main" id="{B89DEB55-59D4-428D-A567-B10905FA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1" name="直線接點 20">
            <a:extLst xmlns:a="http://schemas.openxmlformats.org/drawingml/2006/main">
              <a:ext uri="{FF2B5EF4-FFF2-40B4-BE49-F238E27FC236}">
                <a16:creationId xmlns:a16="http://schemas.microsoft.com/office/drawing/2014/main" id="{8434B2F1-2219-4912-9157-F7263120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2" name="直線接點 21">
            <a:extLst xmlns:a="http://schemas.openxmlformats.org/drawingml/2006/main">
              <a:ext uri="{FF2B5EF4-FFF2-40B4-BE49-F238E27FC236}">
                <a16:creationId xmlns:a16="http://schemas.microsoft.com/office/drawing/2014/main" id="{DF327D57-93DE-4B0E-811C-29AAE76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3" name="直線接點 22">
            <a:extLst xmlns:a="http://schemas.openxmlformats.org/drawingml/2006/main">
              <a:ext uri="{FF2B5EF4-FFF2-40B4-BE49-F238E27FC236}">
                <a16:creationId xmlns:a16="http://schemas.microsoft.com/office/drawing/2014/main" id="{A5A894F2-ACB5-4811-AEB9-84A7D746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4" name="直線接點 23">
            <a:extLst xmlns:a="http://schemas.openxmlformats.org/drawingml/2006/main">
              <a:ext uri="{FF2B5EF4-FFF2-40B4-BE49-F238E27FC236}">
                <a16:creationId xmlns:a16="http://schemas.microsoft.com/office/drawing/2014/main" id="{6088F672-70DF-4177-A895-5A9EABB1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5" name="直線接點 24">
            <a:extLst xmlns:a="http://schemas.openxmlformats.org/drawingml/2006/main">
              <a:ext uri="{FF2B5EF4-FFF2-40B4-BE49-F238E27FC236}">
                <a16:creationId xmlns:a16="http://schemas.microsoft.com/office/drawing/2014/main" id="{C8ACE7E4-F784-433D-AA69-CA411A28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6" name="直線接點 25">
            <a:extLst xmlns:a="http://schemas.openxmlformats.org/drawingml/2006/main">
              <a:ext uri="{FF2B5EF4-FFF2-40B4-BE49-F238E27FC236}">
                <a16:creationId xmlns:a16="http://schemas.microsoft.com/office/drawing/2014/main" id="{90F84204-4B2E-45CB-8573-1E074B33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7" name="直線接點 26">
            <a:extLst xmlns:a="http://schemas.openxmlformats.org/drawingml/2006/main">
              <a:ext uri="{FF2B5EF4-FFF2-40B4-BE49-F238E27FC236}">
                <a16:creationId xmlns:a16="http://schemas.microsoft.com/office/drawing/2014/main" id="{A7D8F5E4-CA56-4A3F-82DC-A26ED21C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8" name="decor-bottom-left">
            <a:extLst xmlns:a="http://schemas.openxmlformats.org/drawingml/2006/main">
              <a:ext uri="{FF2B5EF4-FFF2-40B4-BE49-F238E27FC236}">
                <a16:creationId xmlns:a16="http://schemas.microsoft.com/office/drawing/2014/main" id="{B3C0810D-E8EE-4BB6-8B31-1173229E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19750"/>
            <a:ext cx="14287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ecor-top-right">
            <a:extLst xmlns:a="http://schemas.openxmlformats.org/drawingml/2006/main">
              <a:ext uri="{FF2B5EF4-FFF2-40B4-BE49-F238E27FC236}">
                <a16:creationId xmlns:a16="http://schemas.microsoft.com/office/drawing/2014/main" id="{38875AA6-AA51-4187-915E-8EEEC67C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11430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圓角矩形 29">
            <a:extLst xmlns:a="http://schemas.openxmlformats.org/drawingml/2006/main">
              <a:ext uri="{FF2B5EF4-FFF2-40B4-BE49-F238E27FC236}">
                <a16:creationId xmlns:a16="http://schemas.microsoft.com/office/drawing/2014/main" id="{AE6C6983-8D48-4F0F-923D-A3752B67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POC CHECKLIST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2A1331B-E8A0-434C-8024-557B10B2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四項服務組成最短可驗證路徑</a:t>
            </a:r>
          </a:p>
        </p:txBody>
      </p:sp>
      <p:sp>
        <p:nvSpPr>
          <p:cNvPr id="32" name="圓角矩形 31">
            <a:extLst xmlns:a="http://schemas.openxmlformats.org/drawingml/2006/main">
              <a:ext uri="{FF2B5EF4-FFF2-40B4-BE49-F238E27FC236}">
                <a16:creationId xmlns:a16="http://schemas.microsoft.com/office/drawing/2014/main" id="{BA320ACD-3D5F-4999-9B41-B5702104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8001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7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圓角矩形 32">
            <a:extLst xmlns:a="http://schemas.openxmlformats.org/drawingml/2006/main">
              <a:ext uri="{FF2B5EF4-FFF2-40B4-BE49-F238E27FC236}">
                <a16:creationId xmlns:a16="http://schemas.microsoft.com/office/drawing/2014/main" id="{0D0C6BBA-4A49-4CE6-BC53-917E0A7B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38275"/>
            <a:ext cx="2667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FD9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圓角矩形 33">
            <a:extLst xmlns:a="http://schemas.openxmlformats.org/drawingml/2006/main">
              <a:ext uri="{FF2B5EF4-FFF2-40B4-BE49-F238E27FC236}">
                <a16:creationId xmlns:a16="http://schemas.microsoft.com/office/drawing/2014/main" id="{E5B0B263-0393-492F-9A2C-10ED4AB0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77152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35" name="圓角矩形 34">
            <a:extLst xmlns:a="http://schemas.openxmlformats.org/drawingml/2006/main">
              <a:ext uri="{FF2B5EF4-FFF2-40B4-BE49-F238E27FC236}">
                <a16:creationId xmlns:a16="http://schemas.microsoft.com/office/drawing/2014/main" id="{82DEB605-EA38-46B9-A060-531F36C9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81200"/>
            <a:ext cx="5905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29A94AEA-C0DC-41D5-9765-1AA38D27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933575"/>
            <a:ext cx="6429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量界智算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BC52415D-4233-465F-8F1D-50C30F43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6695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rPr>
              <a:t>理解活動情境，產生固定格式行動卡與限定追問</a:t>
            </a:r>
          </a:p>
        </p:txBody>
      </p:sp>
      <p:sp>
        <p:nvSpPr>
          <p:cNvPr id="38" name="圓角矩形 37">
            <a:extLst xmlns:a="http://schemas.openxmlformats.org/drawingml/2006/main">
              <a:ext uri="{FF2B5EF4-FFF2-40B4-BE49-F238E27FC236}">
                <a16:creationId xmlns:a16="http://schemas.microsoft.com/office/drawing/2014/main" id="{A8588F11-1D12-47B9-BC98-38077B24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9875"/>
            <a:ext cx="77152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39" name="圓角矩形 38">
            <a:extLst xmlns:a="http://schemas.openxmlformats.org/drawingml/2006/main">
              <a:ext uri="{FF2B5EF4-FFF2-40B4-BE49-F238E27FC236}">
                <a16:creationId xmlns:a16="http://schemas.microsoft.com/office/drawing/2014/main" id="{5344042F-ED1B-47D2-8F32-76CF8146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81325"/>
            <a:ext cx="5905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F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8D47E41D-B781-4B72-98D4-BCD7D7BD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33700"/>
            <a:ext cx="6429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Coolify API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D96E06CB-483C-49C9-B7B3-512475DF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6707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rPr>
              <a:t>承接 Web／App 共用的 Fastify API 與安全邊界</a:t>
            </a:r>
          </a:p>
        </p:txBody>
      </p:sp>
      <p:sp>
        <p:nvSpPr>
          <p:cNvPr id="42" name="圓角矩形 41">
            <a:extLst xmlns:a="http://schemas.openxmlformats.org/drawingml/2006/main">
              <a:ext uri="{FF2B5EF4-FFF2-40B4-BE49-F238E27FC236}">
                <a16:creationId xmlns:a16="http://schemas.microsoft.com/office/drawing/2014/main" id="{739929A6-61FD-4C67-B4CC-C30F93EA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77152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43" name="圓角矩形 42">
            <a:extLst xmlns:a="http://schemas.openxmlformats.org/drawingml/2006/main">
              <a:ext uri="{FF2B5EF4-FFF2-40B4-BE49-F238E27FC236}">
                <a16:creationId xmlns:a16="http://schemas.microsoft.com/office/drawing/2014/main" id="{3FE02B28-B9DD-4D59-9FB2-6D6AEC69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5905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B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F3B20351-025E-4690-A317-AEBD81EF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933825"/>
            <a:ext cx="6429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Nginx + Expo Web</a:t>
            </a: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903BE118-E638-488E-9A18-5565736A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6720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rPr>
              <a:t>只託管 Expo Web 靜態入口；原生 App 不經此服務</a:t>
            </a:r>
          </a:p>
        </p:txBody>
      </p:sp>
      <p:sp>
        <p:nvSpPr>
          <p:cNvPr id="46" name="圓角矩形 45">
            <a:extLst xmlns:a="http://schemas.openxmlformats.org/drawingml/2006/main">
              <a:ext uri="{FF2B5EF4-FFF2-40B4-BE49-F238E27FC236}">
                <a16:creationId xmlns:a16="http://schemas.microsoft.com/office/drawing/2014/main" id="{8A140A3E-92D9-4B3F-A594-1CD82BCF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77152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47" name="圓角矩形 46">
            <a:extLst xmlns:a="http://schemas.openxmlformats.org/drawingml/2006/main">
              <a:ext uri="{FF2B5EF4-FFF2-40B4-BE49-F238E27FC236}">
                <a16:creationId xmlns:a16="http://schemas.microsoft.com/office/drawing/2014/main" id="{7AF166AC-23C6-491B-AE34-71130C8E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81575"/>
            <a:ext cx="5905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D9C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0A33A3EB-2109-4884-86BE-461C7276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33950"/>
            <a:ext cx="6429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PostgreSQL</a:t>
            </a: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7497FBEE-41C9-42B0-ABB2-3D3E8673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267325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rPr>
              <a:t>保存共享環境快取與匿名技術事件，不存個人活動</a:t>
            </a:r>
          </a:p>
        </p:txBody>
      </p:sp>
      <p:sp>
        <p:nvSpPr>
          <p:cNvPr id="50" name="圓角矩形 49">
            <a:extLst xmlns:a="http://schemas.openxmlformats.org/drawingml/2006/main">
              <a:ext uri="{FF2B5EF4-FFF2-40B4-BE49-F238E27FC236}">
                <a16:creationId xmlns:a16="http://schemas.microsoft.com/office/drawing/2014/main" id="{AA4C373A-B43C-436A-828E-70A63DD3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09750"/>
            <a:ext cx="2952750" cy="38004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4563A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C94EBB4C-42EE-4725-9FE0-78215655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336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Web 與 App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不是兩套產品</a:t>
            </a: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85918B86-1583-4E53-9165-E1E19885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004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AEE6C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AEE6C5"/>
                </a:solidFill>
                <a:latin typeface="Arial Unicode MS"/>
                <a:ea typeface="Arial Unicode MS"/>
                <a:cs typeface="Arial Unicode MS"/>
              </a:rPr>
              <a:t>Web 專屬</a:t>
            </a: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637B344D-1E5E-4AA1-B444-EE52E165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0520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Coolify Web／Nginx</a:t>
            </a: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D319185E-3AAC-49E1-9C8D-752BCD86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957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AEE6C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AEE6C5"/>
                </a:solidFill>
                <a:latin typeface="Arial Unicode MS"/>
                <a:ea typeface="Arial Unicode MS"/>
                <a:cs typeface="Arial Unicode MS"/>
              </a:rPr>
              <a:t>Web／iOS／Android 共用</a:t>
            </a: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399A4C5D-7C35-4CA3-8ED5-0FA0FF09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00550"/>
            <a:ext cx="2305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Coolify API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量界｜PostgreSQL</a:t>
            </a: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87A76367-A0AF-4A5B-8ED1-2AD12FC4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219700"/>
            <a:ext cx="226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D6EFE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D6EFE1"/>
                </a:solidFill>
                <a:latin typeface="Arial Unicode MS"/>
                <a:ea typeface="Arial Unicode MS"/>
                <a:cs typeface="Arial Unicode MS"/>
              </a:rPr>
              <a:t>共用資料契約、規則與安全政策</a:t>
            </a:r>
          </a:p>
        </p:txBody>
      </p:sp>
      <p:sp>
        <p:nvSpPr>
          <p:cNvPr id="57" name="圓角矩形 56">
            <a:extLst xmlns:a="http://schemas.openxmlformats.org/drawingml/2006/main">
              <a:ext uri="{FF2B5EF4-FFF2-40B4-BE49-F238E27FC236}">
                <a16:creationId xmlns:a16="http://schemas.microsoft.com/office/drawing/2014/main" id="{547324B7-58B9-4572-AD77-A5A33DBC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409575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評估重點：核心流程，不是服務數量</a:t>
            </a:r>
          </a:p>
        </p:txBody>
      </p:sp>
    </p:spTree>
    <p:extLst>
      <p:ext uri="{BB962C8B-B14F-4D97-AF65-F5344CB8AC3E}">
        <p14:creationId xmlns:p14="http://schemas.microsoft.com/office/powerpoint/2010/main" val="6736990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直線接點 50">
            <a:extLst xmlns:a="http://schemas.openxmlformats.org/drawingml/2006/main">
              <a:ext uri="{FF2B5EF4-FFF2-40B4-BE49-F238E27FC236}">
                <a16:creationId xmlns:a16="http://schemas.microsoft.com/office/drawing/2014/main" id="{FD6AF948-5812-46A4-B9F8-C1C5463B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" name="直線接點 1">
            <a:extLst xmlns:a="http://schemas.openxmlformats.org/drawingml/2006/main">
              <a:ext uri="{FF2B5EF4-FFF2-40B4-BE49-F238E27FC236}">
                <a16:creationId xmlns:a16="http://schemas.microsoft.com/office/drawing/2014/main" id="{98F813A6-257C-4B4B-9EC5-3FF4E69C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FDE9AE31-5BAB-4FCE-862C-F2C45ACA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4" name="直線接點 3">
            <a:extLst xmlns:a="http://schemas.openxmlformats.org/drawingml/2006/main">
              <a:ext uri="{FF2B5EF4-FFF2-40B4-BE49-F238E27FC236}">
                <a16:creationId xmlns:a16="http://schemas.microsoft.com/office/drawing/2014/main" id="{7D18B841-29BE-473F-B281-B6B4F1B6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5" name="直線接點 4">
            <a:extLst xmlns:a="http://schemas.openxmlformats.org/drawingml/2006/main">
              <a:ext uri="{FF2B5EF4-FFF2-40B4-BE49-F238E27FC236}">
                <a16:creationId xmlns:a16="http://schemas.microsoft.com/office/drawing/2014/main" id="{3766CD19-07A2-4C79-8E20-B228E3F1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6" name="直線接點 5">
            <a:extLst xmlns:a="http://schemas.openxmlformats.org/drawingml/2006/main">
              <a:ext uri="{FF2B5EF4-FFF2-40B4-BE49-F238E27FC236}">
                <a16:creationId xmlns:a16="http://schemas.microsoft.com/office/drawing/2014/main" id="{9FAF3736-FD2C-4F43-AFA4-62D9FEA6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7" name="直線接點 6">
            <a:extLst xmlns:a="http://schemas.openxmlformats.org/drawingml/2006/main">
              <a:ext uri="{FF2B5EF4-FFF2-40B4-BE49-F238E27FC236}">
                <a16:creationId xmlns:a16="http://schemas.microsoft.com/office/drawing/2014/main" id="{03F75A2D-877D-4D4D-BFE1-697B5DA2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771BB07F-C12F-4723-9108-E8FD3294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1CE6D960-EB65-434C-BB5A-451EE39D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BFAC2944-C6AE-4A5A-886D-1A3634C2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59284C83-7BA7-4DE3-8A01-8E0FFDD1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3BD12AD2-A9C2-4920-A9B1-E61A3AB0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3" name="直線接點 12">
            <a:extLst xmlns:a="http://schemas.openxmlformats.org/drawingml/2006/main">
              <a:ext uri="{FF2B5EF4-FFF2-40B4-BE49-F238E27FC236}">
                <a16:creationId xmlns:a16="http://schemas.microsoft.com/office/drawing/2014/main" id="{3B67C783-509A-41CC-82C3-69766A8F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4" name="直線接點 13">
            <a:extLst xmlns:a="http://schemas.openxmlformats.org/drawingml/2006/main">
              <a:ext uri="{FF2B5EF4-FFF2-40B4-BE49-F238E27FC236}">
                <a16:creationId xmlns:a16="http://schemas.microsoft.com/office/drawing/2014/main" id="{037E7D2E-287D-4CBD-BD9E-5EFA59F4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5" name="直線接點 14">
            <a:extLst xmlns:a="http://schemas.openxmlformats.org/drawingml/2006/main">
              <a:ext uri="{FF2B5EF4-FFF2-40B4-BE49-F238E27FC236}">
                <a16:creationId xmlns:a16="http://schemas.microsoft.com/office/drawing/2014/main" id="{D3B70B61-C564-4576-988B-DDD22E21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6" name="直線接點 15">
            <a:extLst xmlns:a="http://schemas.openxmlformats.org/drawingml/2006/main">
              <a:ext uri="{FF2B5EF4-FFF2-40B4-BE49-F238E27FC236}">
                <a16:creationId xmlns:a16="http://schemas.microsoft.com/office/drawing/2014/main" id="{343E3F92-948D-4BF4-B2E3-356E5D6F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7" name="直線接點 16">
            <a:extLst xmlns:a="http://schemas.openxmlformats.org/drawingml/2006/main">
              <a:ext uri="{FF2B5EF4-FFF2-40B4-BE49-F238E27FC236}">
                <a16:creationId xmlns:a16="http://schemas.microsoft.com/office/drawing/2014/main" id="{04AC1B69-7EC5-46CD-8A88-0C8ABCDF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8" name="直線接點 17">
            <a:extLst xmlns:a="http://schemas.openxmlformats.org/drawingml/2006/main">
              <a:ext uri="{FF2B5EF4-FFF2-40B4-BE49-F238E27FC236}">
                <a16:creationId xmlns:a16="http://schemas.microsoft.com/office/drawing/2014/main" id="{DBBD33EB-9C44-441B-AFAC-AE25CDD4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9" name="直線接點 18">
            <a:extLst xmlns:a="http://schemas.openxmlformats.org/drawingml/2006/main">
              <a:ext uri="{FF2B5EF4-FFF2-40B4-BE49-F238E27FC236}">
                <a16:creationId xmlns:a16="http://schemas.microsoft.com/office/drawing/2014/main" id="{7976CAA4-C651-4855-A07B-D16590B0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0" name="直線接點 19">
            <a:extLst xmlns:a="http://schemas.openxmlformats.org/drawingml/2006/main">
              <a:ext uri="{FF2B5EF4-FFF2-40B4-BE49-F238E27FC236}">
                <a16:creationId xmlns:a16="http://schemas.microsoft.com/office/drawing/2014/main" id="{26350DFF-FD40-4F68-9179-1D14406B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1" name="直線接點 20">
            <a:extLst xmlns:a="http://schemas.openxmlformats.org/drawingml/2006/main">
              <a:ext uri="{FF2B5EF4-FFF2-40B4-BE49-F238E27FC236}">
                <a16:creationId xmlns:a16="http://schemas.microsoft.com/office/drawing/2014/main" id="{30C7D191-1097-4FE6-810A-EFE3C0BD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2" name="直線接點 21">
            <a:extLst xmlns:a="http://schemas.openxmlformats.org/drawingml/2006/main">
              <a:ext uri="{FF2B5EF4-FFF2-40B4-BE49-F238E27FC236}">
                <a16:creationId xmlns:a16="http://schemas.microsoft.com/office/drawing/2014/main" id="{760E4CAA-D0C8-4B15-8D00-0C097321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3" name="直線接點 22">
            <a:extLst xmlns:a="http://schemas.openxmlformats.org/drawingml/2006/main">
              <a:ext uri="{FF2B5EF4-FFF2-40B4-BE49-F238E27FC236}">
                <a16:creationId xmlns:a16="http://schemas.microsoft.com/office/drawing/2014/main" id="{CD0D65F7-BDBD-4CE9-AA52-2A856BA6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4" name="直線接點 23">
            <a:extLst xmlns:a="http://schemas.openxmlformats.org/drawingml/2006/main">
              <a:ext uri="{FF2B5EF4-FFF2-40B4-BE49-F238E27FC236}">
                <a16:creationId xmlns:a16="http://schemas.microsoft.com/office/drawing/2014/main" id="{676BF142-ECB7-4033-BD93-776A2641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5" name="直線接點 24">
            <a:extLst xmlns:a="http://schemas.openxmlformats.org/drawingml/2006/main">
              <a:ext uri="{FF2B5EF4-FFF2-40B4-BE49-F238E27FC236}">
                <a16:creationId xmlns:a16="http://schemas.microsoft.com/office/drawing/2014/main" id="{BDF134AA-521A-49C0-8016-4F421934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6" name="直線接點 25">
            <a:extLst xmlns:a="http://schemas.openxmlformats.org/drawingml/2006/main">
              <a:ext uri="{FF2B5EF4-FFF2-40B4-BE49-F238E27FC236}">
                <a16:creationId xmlns:a16="http://schemas.microsoft.com/office/drawing/2014/main" id="{900F4111-7AA0-495C-B4BA-3F019192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7" name="直線接點 26">
            <a:extLst xmlns:a="http://schemas.openxmlformats.org/drawingml/2006/main">
              <a:ext uri="{FF2B5EF4-FFF2-40B4-BE49-F238E27FC236}">
                <a16:creationId xmlns:a16="http://schemas.microsoft.com/office/drawing/2014/main" id="{C232AF81-9B85-41A6-B3F7-609B02F7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8" name="decor-bottom-left">
            <a:extLst xmlns:a="http://schemas.openxmlformats.org/drawingml/2006/main">
              <a:ext uri="{FF2B5EF4-FFF2-40B4-BE49-F238E27FC236}">
                <a16:creationId xmlns:a16="http://schemas.microsoft.com/office/drawing/2014/main" id="{083C733C-014E-46DA-9957-04815671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19750"/>
            <a:ext cx="14287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ecor-top-right">
            <a:extLst xmlns:a="http://schemas.openxmlformats.org/drawingml/2006/main">
              <a:ext uri="{FF2B5EF4-FFF2-40B4-BE49-F238E27FC236}">
                <a16:creationId xmlns:a16="http://schemas.microsoft.com/office/drawing/2014/main" id="{E5495A4F-DAE0-4085-84FF-DDCB9550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11430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圓角矩形 29">
            <a:extLst xmlns:a="http://schemas.openxmlformats.org/drawingml/2006/main">
              <a:ext uri="{FF2B5EF4-FFF2-40B4-BE49-F238E27FC236}">
                <a16:creationId xmlns:a16="http://schemas.microsoft.com/office/drawing/2014/main" id="{41B2B0F0-AF07-4E4D-A9AE-9A0AAF87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SYSTEM MAP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BF4408-1B55-4E49-B784-E1022846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Web 與 App 共用同一組後端、AI 與資料契約</a:t>
            </a:r>
          </a:p>
        </p:txBody>
      </p:sp>
      <p:sp>
        <p:nvSpPr>
          <p:cNvPr id="32" name="圓角矩形 31">
            <a:extLst xmlns:a="http://schemas.openxmlformats.org/drawingml/2006/main">
              <a:ext uri="{FF2B5EF4-FFF2-40B4-BE49-F238E27FC236}">
                <a16:creationId xmlns:a16="http://schemas.microsoft.com/office/drawing/2014/main" id="{C17F415D-E7ED-4340-84AC-42E43230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8001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7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圓角矩形 32">
            <a:extLst xmlns:a="http://schemas.openxmlformats.org/drawingml/2006/main">
              <a:ext uri="{FF2B5EF4-FFF2-40B4-BE49-F238E27FC236}">
                <a16:creationId xmlns:a16="http://schemas.microsoft.com/office/drawing/2014/main" id="{BABC03A3-21C0-4428-9075-F8656AFB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38275"/>
            <a:ext cx="2667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FD9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圓角矩形 33">
            <a:extLst xmlns:a="http://schemas.openxmlformats.org/drawingml/2006/main">
              <a:ext uri="{FF2B5EF4-FFF2-40B4-BE49-F238E27FC236}">
                <a16:creationId xmlns:a16="http://schemas.microsoft.com/office/drawing/2014/main" id="{677C46C3-8F57-47CE-9126-C51D5E4D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14287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  <p:txBody>
          <a:bodyPr xmlns:a="http://schemas.openxmlformats.org/drawingml/2006/main" lIns="38100" tIns="0" rIns="3810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使用者</a:t>
            </a:r>
          </a:p>
        </p:txBody>
      </p:sp>
      <p:sp>
        <p:nvSpPr>
          <p:cNvPr id="35" name="圓角矩形 34">
            <a:extLst xmlns:a="http://schemas.openxmlformats.org/drawingml/2006/main">
              <a:ext uri="{FF2B5EF4-FFF2-40B4-BE49-F238E27FC236}">
                <a16:creationId xmlns:a16="http://schemas.microsoft.com/office/drawing/2014/main" id="{A416A847-1F92-414E-B9DC-4B5E28F3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95500"/>
            <a:ext cx="2095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B8"/>
          </a:solidFill>
          <a:ln xmlns:a="http://schemas.openxmlformats.org/drawingml/2006/main" w="9525">
            <a:solidFill>
              <a:srgbClr val="E7C95A"/>
            </a:solidFill>
            <a:prstDash val="solid"/>
          </a:ln>
        </p:spPr>
        <p:txBody>
          <a:bodyPr xmlns:a="http://schemas.openxmlformats.org/drawingml/2006/main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Coolify Web／Nginx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只負責 Web 靜態入口</a:t>
            </a:r>
          </a:p>
        </p:txBody>
      </p:sp>
      <p:sp>
        <p:nvSpPr>
          <p:cNvPr id="36" name="圓角矩形 35">
            <a:extLst xmlns:a="http://schemas.openxmlformats.org/drawingml/2006/main">
              <a:ext uri="{FF2B5EF4-FFF2-40B4-BE49-F238E27FC236}">
                <a16:creationId xmlns:a16="http://schemas.microsoft.com/office/drawing/2014/main" id="{3D992C39-41EE-4B9E-BA9C-B9DD842A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10000"/>
            <a:ext cx="2095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9525">
            <a:solidFill>
              <a:srgbClr val="A9D5BC"/>
            </a:solidFill>
            <a:prstDash val="solid"/>
          </a:ln>
        </p:spPr>
        <p:txBody>
          <a:bodyPr xmlns:a="http://schemas.openxmlformats.org/drawingml/2006/main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Expo iOS／Android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原生 App 直接呼叫 API</a:t>
            </a:r>
          </a:p>
        </p:txBody>
      </p:sp>
      <p:sp>
        <p:nvSpPr>
          <p:cNvPr id="37" name="圓角矩形 36">
            <a:extLst xmlns:a="http://schemas.openxmlformats.org/drawingml/2006/main">
              <a:ext uri="{FF2B5EF4-FFF2-40B4-BE49-F238E27FC236}">
                <a16:creationId xmlns:a16="http://schemas.microsoft.com/office/drawing/2014/main" id="{4F163E00-18AF-48C1-BF88-3A6AA65B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857500"/>
            <a:ext cx="2381250" cy="1219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456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5250" tIns="76200" rIns="95250" bIns="762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Coolify API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Fastify 共用 API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驗證｜規則｜安全後處理</a:t>
            </a:r>
          </a:p>
        </p:txBody>
      </p:sp>
      <p:sp>
        <p:nvSpPr>
          <p:cNvPr id="38" name="圓角矩形 37">
            <a:extLst xmlns:a="http://schemas.openxmlformats.org/drawingml/2006/main">
              <a:ext uri="{FF2B5EF4-FFF2-40B4-BE49-F238E27FC236}">
                <a16:creationId xmlns:a16="http://schemas.microsoft.com/office/drawing/2014/main" id="{295BE868-E1B4-4D48-A54E-E80405A2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762125"/>
            <a:ext cx="2714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E2F8"/>
          </a:solidFill>
          <a:ln xmlns:a="http://schemas.openxmlformats.org/drawingml/2006/main" w="9525">
            <a:solidFill>
              <a:srgbClr val="CCBDE9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rPr>
              <a:t>量界智算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rPr>
              <a:t>結構化行動卡草稿</a:t>
            </a:r>
          </a:p>
        </p:txBody>
      </p:sp>
      <p:sp>
        <p:nvSpPr>
          <p:cNvPr id="39" name="圓角矩形 38">
            <a:extLst xmlns:a="http://schemas.openxmlformats.org/drawingml/2006/main">
              <a:ext uri="{FF2B5EF4-FFF2-40B4-BE49-F238E27FC236}">
                <a16:creationId xmlns:a16="http://schemas.microsoft.com/office/drawing/2014/main" id="{21F3D8BC-B2C4-4224-BC6C-BC1A9DFC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067050"/>
            <a:ext cx="2714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DCEFFC"/>
          </a:solidFill>
          <a:ln xmlns:a="http://schemas.openxmlformats.org/drawingml/2006/main" w="9525">
            <a:solidFill>
              <a:srgbClr val="B7DBEF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rPr>
              <a:t>環境部 AQI／中央氣象署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rPr>
              <a:t>具來源、時間與新鮮度</a:t>
            </a:r>
          </a:p>
        </p:txBody>
      </p:sp>
      <p:sp>
        <p:nvSpPr>
          <p:cNvPr id="40" name="圓角矩形 39">
            <a:extLst xmlns:a="http://schemas.openxmlformats.org/drawingml/2006/main">
              <a:ext uri="{FF2B5EF4-FFF2-40B4-BE49-F238E27FC236}">
                <a16:creationId xmlns:a16="http://schemas.microsoft.com/office/drawing/2014/main" id="{D51EDF5C-4BFF-4C37-AB2D-B932D502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371975"/>
            <a:ext cx="2714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7D9CE"/>
          </a:solidFill>
          <a:ln xmlns:a="http://schemas.openxmlformats.org/drawingml/2006/main" w="9525">
            <a:solidFill>
              <a:srgbClr val="EDC5B7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PostgreSQL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環境快取｜匿名技術事件</a:t>
            </a:r>
          </a:p>
        </p:txBody>
      </p:sp>
      <p:sp>
        <p:nvSpPr>
          <p:cNvPr id="41" name="圓角矩形 40">
            <a:extLst xmlns:a="http://schemas.openxmlformats.org/drawingml/2006/main">
              <a:ext uri="{FF2B5EF4-FFF2-40B4-BE49-F238E27FC236}">
                <a16:creationId xmlns:a16="http://schemas.microsoft.com/office/drawing/2014/main" id="{214EB08B-8B60-44AF-9488-45B26B77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572125"/>
            <a:ext cx="4381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37A50"/>
            </a:solidFill>
            <a:prstDash val="dash"/>
          </a:ln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裝置端：個人設定、Air 日誌與回饋</a:t>
            </a:r>
          </a:p>
        </p:txBody>
      </p:sp>
      <p:cxnSp>
        <p:nvCxnSpPr>
          <p:cNvPr id="191" name="肘形接點 91"/>
          <p:cNvCxnSpPr>
            <a:stCxn xmlns:a="http://schemas.openxmlformats.org/drawingml/2006/main" id="34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 flipV="1">
            <a:off x="2000250" y="2571750"/>
            <a:ext cx="619125" cy="8191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7A50"/>
            </a:solidFill>
            <a:prstDash val="solid"/>
            <a:tailEnd type="arrow" w="med" len="med"/>
          </a:ln>
        </p:spPr>
      </p:cxnSp>
      <p:cxnSp>
        <p:nvCxnSpPr>
          <p:cNvPr id="192" name="肘形接點 92"/>
          <p:cNvCxnSpPr>
            <a:stCxn xmlns:a="http://schemas.openxmlformats.org/drawingml/2006/main" id="34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2000250" y="3390900"/>
            <a:ext cx="619125" cy="8953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7A50"/>
            </a:solidFill>
            <a:prstDash val="solid"/>
            <a:tailEnd type="arrow" w="med" len="med"/>
          </a:ln>
        </p:spPr>
      </p:cxnSp>
      <p:cxnSp>
        <p:nvCxnSpPr>
          <p:cNvPr id="193" name="肘形接點 93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4714875" y="2571750"/>
            <a:ext cx="809625" cy="8953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7A50"/>
            </a:solidFill>
            <a:prstDash val="solid"/>
            <a:tailEnd type="arrow" w="med" len="med"/>
          </a:ln>
        </p:spPr>
      </p:cxnSp>
      <p:cxnSp>
        <p:nvCxnSpPr>
          <p:cNvPr id="194" name="肘形接點 94"/>
          <p:cNvCxnSpPr>
            <a:stCxn xmlns:a="http://schemas.openxmlformats.org/drawingml/2006/main" id="36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 flipV="1">
            <a:off x="4714875" y="3467100"/>
            <a:ext cx="809625" cy="8191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7A50"/>
            </a:solidFill>
            <a:prstDash val="solid"/>
            <a:tailEnd type="arrow" w="med" len="med"/>
          </a:ln>
        </p:spPr>
      </p:cxnSp>
      <p:cxnSp>
        <p:nvCxnSpPr>
          <p:cNvPr id="195" name="肘形接點 95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 flipV="1">
            <a:off x="7905750" y="2200275"/>
            <a:ext cx="904875" cy="12668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694B93"/>
            </a:solidFill>
            <a:prstDash val="solid"/>
            <a:tailEnd type="arrow" w="med" len="med"/>
          </a:ln>
        </p:spPr>
      </p:cxnSp>
      <p:cxnSp>
        <p:nvCxnSpPr>
          <p:cNvPr id="196" name="直線箭頭接點 96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7905750" y="3467100"/>
            <a:ext cx="904875" cy="38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6B91"/>
            </a:solidFill>
            <a:prstDash val="solid"/>
            <a:tailEnd type="arrow" w="med" len="med"/>
          </a:ln>
        </p:spPr>
      </p:cxnSp>
      <p:cxnSp>
        <p:nvCxnSpPr>
          <p:cNvPr id="197" name="肘形接點 97"/>
          <p:cNvCxnSpPr>
            <a:stCxn xmlns:a="http://schemas.openxmlformats.org/drawingml/2006/main" id="37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7905750" y="3467100"/>
            <a:ext cx="904875" cy="13430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A94C2E"/>
            </a:solidFill>
            <a:prstDash val="solid"/>
            <a:tailEnd type="arrow" w="med" len="med"/>
          </a:ln>
        </p:spPr>
      </p:cxnSp>
      <p:cxnSp>
        <p:nvCxnSpPr>
          <p:cNvPr id="198" name="肘形接點 98"/>
          <p:cNvCxnSpPr>
            <a:stCxn xmlns:a="http://schemas.openxmlformats.org/drawingml/2006/main" id="36" idx="2"/>
            <a:endCxn xmlns:a="http://schemas.openxmlformats.org/drawingml/2006/main" id="41" idx="1"/>
          </p:cNvCxnSpPr>
          <p:nvPr/>
        </p:nvCxnSpPr>
        <p:spPr>
          <a:xfrm xmlns:a="http://schemas.openxmlformats.org/drawingml/2006/main" rot="5400000">
            <a:off x="3048000" y="5286375"/>
            <a:ext cx="1143000" cy="95250"/>
          </a:xfrm>
          <a:prstGeom xmlns:a="http://schemas.openxmlformats.org/drawingml/2006/main" prst="bentConnector4">
            <a:avLst>
              <a:gd name="adj1" fmla="val 34676"/>
              <a:gd name="adj2" fmla="val 659999"/>
            </a:avLst>
          </a:prstGeom>
          <a:ln xmlns:a="http://schemas.openxmlformats.org/drawingml/2006/main" w="19050">
            <a:solidFill>
              <a:srgbClr val="237A50"/>
            </a:solidFill>
            <a:prstDash val="dash"/>
            <a:tailEnd type="arrow" w="sm" len="sm"/>
          </a:ln>
        </p:spPr>
      </p:cxnSp>
      <p:cxnSp>
        <p:nvCxnSpPr>
          <p:cNvPr id="199" name="肘形接點 53"/>
          <p:cNvCxnSpPr>
            <a:stCxn xmlns:a="http://schemas.openxmlformats.org/drawingml/2006/main" id="35" idx="2"/>
            <a:endCxn xmlns:a="http://schemas.openxmlformats.org/drawingml/2006/main" id="41" idx="1"/>
          </p:cNvCxnSpPr>
          <p:nvPr/>
        </p:nvCxnSpPr>
        <p:spPr>
          <a:xfrm xmlns:a="http://schemas.openxmlformats.org/drawingml/2006/main" rot="5400000">
            <a:off x="2190750" y="4429125"/>
            <a:ext cx="2857500" cy="95250"/>
          </a:xfrm>
          <a:prstGeom xmlns:a="http://schemas.openxmlformats.org/drawingml/2006/main" prst="bentConnector4">
            <a:avLst>
              <a:gd name="adj1" fmla="val 19278"/>
              <a:gd name="adj2" fmla="val 1300000"/>
            </a:avLst>
          </a:prstGeom>
          <a:ln xmlns:a="http://schemas.openxmlformats.org/drawingml/2006/main" w="19050">
            <a:solidFill>
              <a:srgbClr val="237A50"/>
            </a:solidFill>
            <a:prstDash val="dash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13724667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直線接點 57">
            <a:extLst xmlns:a="http://schemas.openxmlformats.org/drawingml/2006/main">
              <a:ext uri="{FF2B5EF4-FFF2-40B4-BE49-F238E27FC236}">
                <a16:creationId xmlns:a16="http://schemas.microsoft.com/office/drawing/2014/main" id="{E383899A-556E-47CE-9F30-C49EFF4E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" name="直線接點 1">
            <a:extLst xmlns:a="http://schemas.openxmlformats.org/drawingml/2006/main">
              <a:ext uri="{FF2B5EF4-FFF2-40B4-BE49-F238E27FC236}">
                <a16:creationId xmlns:a16="http://schemas.microsoft.com/office/drawing/2014/main" id="{83152BB1-8240-47ED-83CB-BDD8D720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3508AED1-6254-4EF9-BF96-05D14449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4" name="直線接點 3">
            <a:extLst xmlns:a="http://schemas.openxmlformats.org/drawingml/2006/main">
              <a:ext uri="{FF2B5EF4-FFF2-40B4-BE49-F238E27FC236}">
                <a16:creationId xmlns:a16="http://schemas.microsoft.com/office/drawing/2014/main" id="{E7189D9B-CD38-4A47-B889-7D2C4271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5" name="直線接點 4">
            <a:extLst xmlns:a="http://schemas.openxmlformats.org/drawingml/2006/main">
              <a:ext uri="{FF2B5EF4-FFF2-40B4-BE49-F238E27FC236}">
                <a16:creationId xmlns:a16="http://schemas.microsoft.com/office/drawing/2014/main" id="{A3790AF1-3721-4B9E-BB8A-374A12D9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6" name="直線接點 5">
            <a:extLst xmlns:a="http://schemas.openxmlformats.org/drawingml/2006/main">
              <a:ext uri="{FF2B5EF4-FFF2-40B4-BE49-F238E27FC236}">
                <a16:creationId xmlns:a16="http://schemas.microsoft.com/office/drawing/2014/main" id="{F3F2336C-7669-469C-8814-4C9808BA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7" name="直線接點 6">
            <a:extLst xmlns:a="http://schemas.openxmlformats.org/drawingml/2006/main">
              <a:ext uri="{FF2B5EF4-FFF2-40B4-BE49-F238E27FC236}">
                <a16:creationId xmlns:a16="http://schemas.microsoft.com/office/drawing/2014/main" id="{DDF43969-46C4-4FBC-B605-52A156F7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DA9FDD44-1AFD-4C9D-884B-03EE76BD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4BB7A98D-6AF8-4B7D-8883-078E0D36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6B674965-1998-41EE-8F0B-7C3108B0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72467020-760D-4A9E-842C-3C784BAA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47EF3BF0-CDA6-4095-9E32-39AAA5CA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3" name="直線接點 12">
            <a:extLst xmlns:a="http://schemas.openxmlformats.org/drawingml/2006/main">
              <a:ext uri="{FF2B5EF4-FFF2-40B4-BE49-F238E27FC236}">
                <a16:creationId xmlns:a16="http://schemas.microsoft.com/office/drawing/2014/main" id="{1EDB5111-C0AF-4114-A133-DF76BA7C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4" name="直線接點 13">
            <a:extLst xmlns:a="http://schemas.openxmlformats.org/drawingml/2006/main">
              <a:ext uri="{FF2B5EF4-FFF2-40B4-BE49-F238E27FC236}">
                <a16:creationId xmlns:a16="http://schemas.microsoft.com/office/drawing/2014/main" id="{5F6DB285-8A8F-4948-B257-C8534FDB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5" name="直線接點 14">
            <a:extLst xmlns:a="http://schemas.openxmlformats.org/drawingml/2006/main">
              <a:ext uri="{FF2B5EF4-FFF2-40B4-BE49-F238E27FC236}">
                <a16:creationId xmlns:a16="http://schemas.microsoft.com/office/drawing/2014/main" id="{594698F8-80A8-4C3D-B26C-3F883A70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6" name="直線接點 15">
            <a:extLst xmlns:a="http://schemas.openxmlformats.org/drawingml/2006/main">
              <a:ext uri="{FF2B5EF4-FFF2-40B4-BE49-F238E27FC236}">
                <a16:creationId xmlns:a16="http://schemas.microsoft.com/office/drawing/2014/main" id="{BAF0B63E-8683-44F9-95AF-3DEB68DD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7" name="直線接點 16">
            <a:extLst xmlns:a="http://schemas.openxmlformats.org/drawingml/2006/main">
              <a:ext uri="{FF2B5EF4-FFF2-40B4-BE49-F238E27FC236}">
                <a16:creationId xmlns:a16="http://schemas.microsoft.com/office/drawing/2014/main" id="{865B57F7-4344-4C9D-9DE1-0B5DC86D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8" name="直線接點 17">
            <a:extLst xmlns:a="http://schemas.openxmlformats.org/drawingml/2006/main">
              <a:ext uri="{FF2B5EF4-FFF2-40B4-BE49-F238E27FC236}">
                <a16:creationId xmlns:a16="http://schemas.microsoft.com/office/drawing/2014/main" id="{B6B5AD18-3A5D-4CB8-B714-11862212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9" name="直線接點 18">
            <a:extLst xmlns:a="http://schemas.openxmlformats.org/drawingml/2006/main">
              <a:ext uri="{FF2B5EF4-FFF2-40B4-BE49-F238E27FC236}">
                <a16:creationId xmlns:a16="http://schemas.microsoft.com/office/drawing/2014/main" id="{FCC3F8BD-9DAC-4300-B7B0-5B10E6AD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0" name="直線接點 19">
            <a:extLst xmlns:a="http://schemas.openxmlformats.org/drawingml/2006/main">
              <a:ext uri="{FF2B5EF4-FFF2-40B4-BE49-F238E27FC236}">
                <a16:creationId xmlns:a16="http://schemas.microsoft.com/office/drawing/2014/main" id="{C33A990B-0213-4F76-B2B1-9DAEB774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1" name="直線接點 20">
            <a:extLst xmlns:a="http://schemas.openxmlformats.org/drawingml/2006/main">
              <a:ext uri="{FF2B5EF4-FFF2-40B4-BE49-F238E27FC236}">
                <a16:creationId xmlns:a16="http://schemas.microsoft.com/office/drawing/2014/main" id="{618226CD-93CF-496E-B3DD-660F2367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2" name="直線接點 21">
            <a:extLst xmlns:a="http://schemas.openxmlformats.org/drawingml/2006/main">
              <a:ext uri="{FF2B5EF4-FFF2-40B4-BE49-F238E27FC236}">
                <a16:creationId xmlns:a16="http://schemas.microsoft.com/office/drawing/2014/main" id="{06B67C99-9982-46B6-BAB4-29F0F378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3" name="直線接點 22">
            <a:extLst xmlns:a="http://schemas.openxmlformats.org/drawingml/2006/main">
              <a:ext uri="{FF2B5EF4-FFF2-40B4-BE49-F238E27FC236}">
                <a16:creationId xmlns:a16="http://schemas.microsoft.com/office/drawing/2014/main" id="{1BFA7759-C449-4062-A29B-ADDF410D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4" name="直線接點 23">
            <a:extLst xmlns:a="http://schemas.openxmlformats.org/drawingml/2006/main">
              <a:ext uri="{FF2B5EF4-FFF2-40B4-BE49-F238E27FC236}">
                <a16:creationId xmlns:a16="http://schemas.microsoft.com/office/drawing/2014/main" id="{C4235057-7C26-47B5-AA25-C2202A19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5" name="直線接點 24">
            <a:extLst xmlns:a="http://schemas.openxmlformats.org/drawingml/2006/main">
              <a:ext uri="{FF2B5EF4-FFF2-40B4-BE49-F238E27FC236}">
                <a16:creationId xmlns:a16="http://schemas.microsoft.com/office/drawing/2014/main" id="{B02B459F-569A-4EC6-9E79-EAEC7877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6" name="直線接點 25">
            <a:extLst xmlns:a="http://schemas.openxmlformats.org/drawingml/2006/main">
              <a:ext uri="{FF2B5EF4-FFF2-40B4-BE49-F238E27FC236}">
                <a16:creationId xmlns:a16="http://schemas.microsoft.com/office/drawing/2014/main" id="{FEEB9F29-0520-4E86-AD8D-FDD49B55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7" name="直線接點 26">
            <a:extLst xmlns:a="http://schemas.openxmlformats.org/drawingml/2006/main">
              <a:ext uri="{FF2B5EF4-FFF2-40B4-BE49-F238E27FC236}">
                <a16:creationId xmlns:a16="http://schemas.microsoft.com/office/drawing/2014/main" id="{81CA5C13-7172-4247-BD3F-3AC702AC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8" name="decor-bottom-left">
            <a:extLst xmlns:a="http://schemas.openxmlformats.org/drawingml/2006/main">
              <a:ext uri="{FF2B5EF4-FFF2-40B4-BE49-F238E27FC236}">
                <a16:creationId xmlns:a16="http://schemas.microsoft.com/office/drawing/2014/main" id="{11E7C471-A53C-449C-8573-F26CA602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19750"/>
            <a:ext cx="14287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ecor-top-right">
            <a:extLst xmlns:a="http://schemas.openxmlformats.org/drawingml/2006/main">
              <a:ext uri="{FF2B5EF4-FFF2-40B4-BE49-F238E27FC236}">
                <a16:creationId xmlns:a16="http://schemas.microsoft.com/office/drawing/2014/main" id="{D0155A93-A3FE-47D1-96C9-3E401F25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11430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圓角矩形 29">
            <a:extLst xmlns:a="http://schemas.openxmlformats.org/drawingml/2006/main">
              <a:ext uri="{FF2B5EF4-FFF2-40B4-BE49-F238E27FC236}">
                <a16:creationId xmlns:a16="http://schemas.microsoft.com/office/drawing/2014/main" id="{77C42F8E-96CF-40AE-9DA2-BD40E812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rPr>
              <a:t>01 · AI CORE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FC843E-262D-4179-8C04-BD476619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量界智算：AI 只生成可驗證的行動卡草稿</a:t>
            </a:r>
          </a:p>
        </p:txBody>
      </p:sp>
      <p:sp>
        <p:nvSpPr>
          <p:cNvPr id="32" name="圓角矩形 31">
            <a:extLst xmlns:a="http://schemas.openxmlformats.org/drawingml/2006/main">
              <a:ext uri="{FF2B5EF4-FFF2-40B4-BE49-F238E27FC236}">
                <a16:creationId xmlns:a16="http://schemas.microsoft.com/office/drawing/2014/main" id="{90B24CA0-6F06-47D6-BAAF-FA021FB2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8001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94B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圓角矩形 32">
            <a:extLst xmlns:a="http://schemas.openxmlformats.org/drawingml/2006/main">
              <a:ext uri="{FF2B5EF4-FFF2-40B4-BE49-F238E27FC236}">
                <a16:creationId xmlns:a16="http://schemas.microsoft.com/office/drawing/2014/main" id="{ED7B9DFF-60D0-49D8-A855-B294F9B0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38275"/>
            <a:ext cx="2667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FD9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圓角矩形 33">
            <a:extLst xmlns:a="http://schemas.openxmlformats.org/drawingml/2006/main">
              <a:ext uri="{FF2B5EF4-FFF2-40B4-BE49-F238E27FC236}">
                <a16:creationId xmlns:a16="http://schemas.microsoft.com/office/drawing/2014/main" id="{F11D72C7-9B84-4C94-8EB4-C060A8E8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2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rPr>
              <a:t>驗證目標</a:t>
            </a: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E9C5CD36-E329-4D3A-8C5E-D9C4A974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3571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把自然語言活動、環境與最低限度個人條件整理成固定格式方案；模型不得降低官方規則底線。</a:t>
            </a:r>
          </a:p>
        </p:txBody>
      </p:sp>
      <p:sp>
        <p:nvSpPr>
          <p:cNvPr id="36" name="圓角矩形 35">
            <a:extLst xmlns:a="http://schemas.openxmlformats.org/drawingml/2006/main">
              <a:ext uri="{FF2B5EF4-FFF2-40B4-BE49-F238E27FC236}">
                <a16:creationId xmlns:a16="http://schemas.microsoft.com/office/drawing/2014/main" id="{CF1CB397-3173-48C7-9D49-E0958FB2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驗證過程</a:t>
            </a:r>
          </a:p>
        </p:txBody>
      </p:sp>
      <p:sp>
        <p:nvSpPr>
          <p:cNvPr id="37" name="圓角矩形 36">
            <a:extLst xmlns:a="http://schemas.openxmlformats.org/drawingml/2006/main">
              <a:ext uri="{FF2B5EF4-FFF2-40B4-BE49-F238E27FC236}">
                <a16:creationId xmlns:a16="http://schemas.microsoft.com/office/drawing/2014/main" id="{B155D72F-4043-4D43-8E54-C31042C6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3571875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38" name="橢圓 37">
            <a:extLst xmlns:a="http://schemas.openxmlformats.org/drawingml/2006/main">
              <a:ext uri="{FF2B5EF4-FFF2-40B4-BE49-F238E27FC236}">
                <a16:creationId xmlns:a16="http://schemas.microsoft.com/office/drawing/2014/main" id="{51925785-B677-458F-9385-00E617F1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385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6E482930-92BF-4A38-B320-D83F959D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385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B7A52385-65EC-4664-A2F3-99A80CD5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90950"/>
            <a:ext cx="2790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最小化情境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520E148A-6A20-4D7E-B89E-939567F0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67175"/>
            <a:ext cx="2790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rPr>
              <a:t>活動＋AQI／天氣＋規則底線</a:t>
            </a:r>
          </a:p>
        </p:txBody>
      </p:sp>
      <p:sp>
        <p:nvSpPr>
          <p:cNvPr id="42" name="圓角矩形 41">
            <a:extLst xmlns:a="http://schemas.openxmlformats.org/drawingml/2006/main">
              <a:ext uri="{FF2B5EF4-FFF2-40B4-BE49-F238E27FC236}">
                <a16:creationId xmlns:a16="http://schemas.microsoft.com/office/drawing/2014/main" id="{143267D1-BB51-451F-A282-AB2ACFAB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57700"/>
            <a:ext cx="3571875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43" name="橢圓 42">
            <a:extLst xmlns:a="http://schemas.openxmlformats.org/drawingml/2006/main">
              <a:ext uri="{FF2B5EF4-FFF2-40B4-BE49-F238E27FC236}">
                <a16:creationId xmlns:a16="http://schemas.microsoft.com/office/drawing/2014/main" id="{BC461C27-B6C8-4196-BA7F-A988D0D1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800D6F7C-DC95-4B04-875E-83CA4A3D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2FB4D55F-EBDA-42FA-AA3C-20616A29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72000"/>
            <a:ext cx="2790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Structured Output</a:t>
            </a: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2E9AAF7B-9E4C-49EB-B73C-5D79C652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48225"/>
            <a:ext cx="2790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rPr>
              <a:t>以 strict JSON Schema 收斂欄位</a:t>
            </a:r>
          </a:p>
        </p:txBody>
      </p:sp>
      <p:sp>
        <p:nvSpPr>
          <p:cNvPr id="47" name="圓角矩形 46">
            <a:extLst xmlns:a="http://schemas.openxmlformats.org/drawingml/2006/main">
              <a:ext uri="{FF2B5EF4-FFF2-40B4-BE49-F238E27FC236}">
                <a16:creationId xmlns:a16="http://schemas.microsoft.com/office/drawing/2014/main" id="{E348F0F4-AAA2-4D1D-A639-A4A3B753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3571875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48" name="橢圓 47">
            <a:extLst xmlns:a="http://schemas.openxmlformats.org/drawingml/2006/main">
              <a:ext uri="{FF2B5EF4-FFF2-40B4-BE49-F238E27FC236}">
                <a16:creationId xmlns:a16="http://schemas.microsoft.com/office/drawing/2014/main" id="{D873DFC1-BDE4-4A60-9EC9-CDC57808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006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7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59960AEA-BFE8-4EED-A622-41607C41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006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EF519BB1-5C9C-4444-9A75-7B3EFB45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53050"/>
            <a:ext cx="2790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安全後處理</a:t>
            </a:r>
          </a:p>
        </p:txBody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B6858739-6002-4F20-A123-426C82EF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29275"/>
            <a:ext cx="2790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rPr>
              <a:t>Zod、醫療界線與事實引用複驗</a:t>
            </a:r>
          </a:p>
        </p:txBody>
      </p:sp>
      <p:sp>
        <p:nvSpPr>
          <p:cNvPr id="52" name="ai-screen-shadow">
            <a:extLst xmlns:a="http://schemas.openxmlformats.org/drawingml/2006/main">
              <a:ext uri="{FF2B5EF4-FFF2-40B4-BE49-F238E27FC236}">
                <a16:creationId xmlns:a16="http://schemas.microsoft.com/office/drawing/2014/main" id="{6C5F040E-5930-49A7-804D-34A038CF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530350"/>
            <a:ext cx="7143750" cy="4010025"/>
          </a:xfrm>
          <a:prstGeom xmlns:a="http://schemas.openxmlformats.org/drawingml/2006/main" prst="roundRect">
            <a:avLst>
              <a:gd name="adj" fmla="val 3800"/>
            </a:avLst>
          </a:prstGeom>
          <a:solidFill xmlns:a="http://schemas.openxmlformats.org/drawingml/2006/main">
            <a:srgbClr val="BFD8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ai-screen-frame">
            <a:extLst xmlns:a="http://schemas.openxmlformats.org/drawingml/2006/main">
              <a:ext uri="{FF2B5EF4-FFF2-40B4-BE49-F238E27FC236}">
                <a16:creationId xmlns:a16="http://schemas.microsoft.com/office/drawing/2014/main" id="{C53F9A2E-A34F-40F3-B19B-4D7B5937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435100"/>
            <a:ext cx="7143750" cy="4010025"/>
          </a:xfrm>
          <a:prstGeom xmlns:a="http://schemas.openxmlformats.org/drawingml/2006/main" prst="roundRect">
            <a:avLst>
              <a:gd name="adj" fmla="val 3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pic>
        <p:nvPicPr>
          <p:cNvPr id="113" name="圖片 1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86398a96942cb"/>
          <a:srcRect xmlns:a="http://schemas.openxmlformats.org/drawingml/2006/main" l="0" t="954" r="0" b="9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52950" y="1511300"/>
            <a:ext cx="6991350" cy="3857625"/>
          </a:xfrm>
          <a:prstGeom xmlns:a="http://schemas.openxmlformats.org/drawingml/2006/main" prst="roundRect">
            <a:avLst>
              <a:gd name="adj" fmla="val 2963"/>
            </a:avLst>
          </a:prstGeom>
        </p:spPr>
      </p:pic>
      <p:sp>
        <p:nvSpPr>
          <p:cNvPr id="55" name="圓角矩形 54">
            <a:extLst xmlns:a="http://schemas.openxmlformats.org/drawingml/2006/main">
              <a:ext uri="{FF2B5EF4-FFF2-40B4-BE49-F238E27FC236}">
                <a16:creationId xmlns:a16="http://schemas.microsoft.com/office/drawing/2014/main" id="{055C472D-56A1-4B9D-AD42-FFD5731B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683244"/>
            <a:ext cx="7143750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E9E2F8"/>
          </a:solidFill>
          <a:ln xmlns:a="http://schemas.openxmlformats.org/drawingml/2006/main" w="9525">
            <a:solidFill>
              <a:srgbClr val="CCBDE9"/>
            </a:solidFill>
            <a:prstDash val="solid"/>
          </a:ln>
        </p:spPr>
      </p:sp>
      <p:sp>
        <p:nvSpPr>
          <p:cNvPr id="56" name="圓角矩形 55">
            <a:extLst xmlns:a="http://schemas.openxmlformats.org/drawingml/2006/main">
              <a:ext uri="{FF2B5EF4-FFF2-40B4-BE49-F238E27FC236}">
                <a16:creationId xmlns:a16="http://schemas.microsoft.com/office/drawing/2014/main" id="{4D36A52C-B074-48A9-9F8E-3CB7CA30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877979"/>
            <a:ext cx="1295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雛形驗證結果</a:t>
            </a: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8A232462-DE23-4C68-AA61-281C8A92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26119"/>
            <a:ext cx="5334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rPr>
              <a:t>OpenAI 相容 Chat Completions、JSON object 與 Zod 安全後驗證已實作；固定安全評估 30／30 通過。</a:t>
            </a:r>
          </a:p>
        </p:txBody>
      </p:sp>
    </p:spTree>
    <p:extLst>
      <p:ext uri="{BB962C8B-B14F-4D97-AF65-F5344CB8AC3E}">
        <p14:creationId xmlns:p14="http://schemas.microsoft.com/office/powerpoint/2010/main" val="18868713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直線接點 54">
            <a:extLst xmlns:a="http://schemas.openxmlformats.org/drawingml/2006/main">
              <a:ext uri="{FF2B5EF4-FFF2-40B4-BE49-F238E27FC236}">
                <a16:creationId xmlns:a16="http://schemas.microsoft.com/office/drawing/2014/main" id="{522E29D3-9C87-4F1B-A800-FF10FE1E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" name="直線接點 1">
            <a:extLst xmlns:a="http://schemas.openxmlformats.org/drawingml/2006/main">
              <a:ext uri="{FF2B5EF4-FFF2-40B4-BE49-F238E27FC236}">
                <a16:creationId xmlns:a16="http://schemas.microsoft.com/office/drawing/2014/main" id="{035361E4-D8DD-46AA-A145-707E28A1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CE96959C-DCD1-45FE-BB84-48BB309D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4" name="直線接點 3">
            <a:extLst xmlns:a="http://schemas.openxmlformats.org/drawingml/2006/main">
              <a:ext uri="{FF2B5EF4-FFF2-40B4-BE49-F238E27FC236}">
                <a16:creationId xmlns:a16="http://schemas.microsoft.com/office/drawing/2014/main" id="{BDE063CA-7882-4818-B14A-1249C288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5" name="直線接點 4">
            <a:extLst xmlns:a="http://schemas.openxmlformats.org/drawingml/2006/main">
              <a:ext uri="{FF2B5EF4-FFF2-40B4-BE49-F238E27FC236}">
                <a16:creationId xmlns:a16="http://schemas.microsoft.com/office/drawing/2014/main" id="{695AB16F-822C-4569-9A35-9CAABF1C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6" name="直線接點 5">
            <a:extLst xmlns:a="http://schemas.openxmlformats.org/drawingml/2006/main">
              <a:ext uri="{FF2B5EF4-FFF2-40B4-BE49-F238E27FC236}">
                <a16:creationId xmlns:a16="http://schemas.microsoft.com/office/drawing/2014/main" id="{05AC7945-C164-4D6A-9AFB-5D74379B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7" name="直線接點 6">
            <a:extLst xmlns:a="http://schemas.openxmlformats.org/drawingml/2006/main">
              <a:ext uri="{FF2B5EF4-FFF2-40B4-BE49-F238E27FC236}">
                <a16:creationId xmlns:a16="http://schemas.microsoft.com/office/drawing/2014/main" id="{7CDD29D4-95A7-4E26-B196-D629ADA7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0BE245B1-1EB2-478F-9145-B5C1849A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16DC74D7-7C9C-4D02-B7AD-7C1F8BBA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BDDE62F1-8507-4D16-8617-F33374E1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92F0A25D-27BB-4FC9-A009-BA4E38EA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252BB22B-E89A-4DED-8B4E-4009A3D2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3" name="直線接點 12">
            <a:extLst xmlns:a="http://schemas.openxmlformats.org/drawingml/2006/main">
              <a:ext uri="{FF2B5EF4-FFF2-40B4-BE49-F238E27FC236}">
                <a16:creationId xmlns:a16="http://schemas.microsoft.com/office/drawing/2014/main" id="{034EEBA8-560A-487F-9C17-665A734F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4" name="直線接點 13">
            <a:extLst xmlns:a="http://schemas.openxmlformats.org/drawingml/2006/main">
              <a:ext uri="{FF2B5EF4-FFF2-40B4-BE49-F238E27FC236}">
                <a16:creationId xmlns:a16="http://schemas.microsoft.com/office/drawing/2014/main" id="{71F428C0-3C28-43D2-BC74-ABA13244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5" name="直線接點 14">
            <a:extLst xmlns:a="http://schemas.openxmlformats.org/drawingml/2006/main">
              <a:ext uri="{FF2B5EF4-FFF2-40B4-BE49-F238E27FC236}">
                <a16:creationId xmlns:a16="http://schemas.microsoft.com/office/drawing/2014/main" id="{2EAD36E0-2C8F-4149-9844-0EE345A3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6" name="直線接點 15">
            <a:extLst xmlns:a="http://schemas.openxmlformats.org/drawingml/2006/main">
              <a:ext uri="{FF2B5EF4-FFF2-40B4-BE49-F238E27FC236}">
                <a16:creationId xmlns:a16="http://schemas.microsoft.com/office/drawing/2014/main" id="{BB70CEFE-9D05-4A2C-AACF-5BB5D43D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7" name="直線接點 16">
            <a:extLst xmlns:a="http://schemas.openxmlformats.org/drawingml/2006/main">
              <a:ext uri="{FF2B5EF4-FFF2-40B4-BE49-F238E27FC236}">
                <a16:creationId xmlns:a16="http://schemas.microsoft.com/office/drawing/2014/main" id="{8BDE150F-015B-4A36-AB41-13C5800C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8" name="直線接點 17">
            <a:extLst xmlns:a="http://schemas.openxmlformats.org/drawingml/2006/main">
              <a:ext uri="{FF2B5EF4-FFF2-40B4-BE49-F238E27FC236}">
                <a16:creationId xmlns:a16="http://schemas.microsoft.com/office/drawing/2014/main" id="{A36FEF56-21F8-4C16-9CD4-B4F561DE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9" name="直線接點 18">
            <a:extLst xmlns:a="http://schemas.openxmlformats.org/drawingml/2006/main">
              <a:ext uri="{FF2B5EF4-FFF2-40B4-BE49-F238E27FC236}">
                <a16:creationId xmlns:a16="http://schemas.microsoft.com/office/drawing/2014/main" id="{17A72979-02BD-48BD-B3B4-51FF7EDB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0" name="直線接點 19">
            <a:extLst xmlns:a="http://schemas.openxmlformats.org/drawingml/2006/main">
              <a:ext uri="{FF2B5EF4-FFF2-40B4-BE49-F238E27FC236}">
                <a16:creationId xmlns:a16="http://schemas.microsoft.com/office/drawing/2014/main" id="{895FF1A3-04C6-49A0-BDA0-B42AB1CB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1" name="直線接點 20">
            <a:extLst xmlns:a="http://schemas.openxmlformats.org/drawingml/2006/main">
              <a:ext uri="{FF2B5EF4-FFF2-40B4-BE49-F238E27FC236}">
                <a16:creationId xmlns:a16="http://schemas.microsoft.com/office/drawing/2014/main" id="{84B96FB4-A960-451A-B113-009634FD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2" name="直線接點 21">
            <a:extLst xmlns:a="http://schemas.openxmlformats.org/drawingml/2006/main">
              <a:ext uri="{FF2B5EF4-FFF2-40B4-BE49-F238E27FC236}">
                <a16:creationId xmlns:a16="http://schemas.microsoft.com/office/drawing/2014/main" id="{DDA711C2-762C-4B06-BD95-B8B8B2F0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3" name="直線接點 22">
            <a:extLst xmlns:a="http://schemas.openxmlformats.org/drawingml/2006/main">
              <a:ext uri="{FF2B5EF4-FFF2-40B4-BE49-F238E27FC236}">
                <a16:creationId xmlns:a16="http://schemas.microsoft.com/office/drawing/2014/main" id="{79FAD8F1-E4EF-4CBE-91B3-128EAE32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4" name="直線接點 23">
            <a:extLst xmlns:a="http://schemas.openxmlformats.org/drawingml/2006/main">
              <a:ext uri="{FF2B5EF4-FFF2-40B4-BE49-F238E27FC236}">
                <a16:creationId xmlns:a16="http://schemas.microsoft.com/office/drawing/2014/main" id="{37F5C786-FDE8-431F-B52C-B31E720D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5" name="直線接點 24">
            <a:extLst xmlns:a="http://schemas.openxmlformats.org/drawingml/2006/main">
              <a:ext uri="{FF2B5EF4-FFF2-40B4-BE49-F238E27FC236}">
                <a16:creationId xmlns:a16="http://schemas.microsoft.com/office/drawing/2014/main" id="{19E0D704-7453-48B3-9C46-F54E57E0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6" name="直線接點 25">
            <a:extLst xmlns:a="http://schemas.openxmlformats.org/drawingml/2006/main">
              <a:ext uri="{FF2B5EF4-FFF2-40B4-BE49-F238E27FC236}">
                <a16:creationId xmlns:a16="http://schemas.microsoft.com/office/drawing/2014/main" id="{2BB98AC3-0AF3-41DF-A855-62DAAAAA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7" name="直線接點 26">
            <a:extLst xmlns:a="http://schemas.openxmlformats.org/drawingml/2006/main">
              <a:ext uri="{FF2B5EF4-FFF2-40B4-BE49-F238E27FC236}">
                <a16:creationId xmlns:a16="http://schemas.microsoft.com/office/drawing/2014/main" id="{FC3FCCD9-2F2B-42D2-A549-ED9E8C52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8" name="decor-bottom-left">
            <a:extLst xmlns:a="http://schemas.openxmlformats.org/drawingml/2006/main">
              <a:ext uri="{FF2B5EF4-FFF2-40B4-BE49-F238E27FC236}">
                <a16:creationId xmlns:a16="http://schemas.microsoft.com/office/drawing/2014/main" id="{13DFF291-1E1F-4729-A2C2-CAC5654B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19750"/>
            <a:ext cx="14287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ecor-top-right">
            <a:extLst xmlns:a="http://schemas.openxmlformats.org/drawingml/2006/main">
              <a:ext uri="{FF2B5EF4-FFF2-40B4-BE49-F238E27FC236}">
                <a16:creationId xmlns:a16="http://schemas.microsoft.com/office/drawing/2014/main" id="{DD54D34B-AB04-4449-B46D-2381FCEE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11430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圓角矩形 29">
            <a:extLst xmlns:a="http://schemas.openxmlformats.org/drawingml/2006/main">
              <a:ext uri="{FF2B5EF4-FFF2-40B4-BE49-F238E27FC236}">
                <a16:creationId xmlns:a16="http://schemas.microsoft.com/office/drawing/2014/main" id="{1CC127C5-9340-491D-A55C-3D51B164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rPr>
              <a:t>02 · SHARED API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FE0395-002B-414C-9AE5-193E1726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Coolify API：Web 與 App 共用同一個安全後端</a:t>
            </a:r>
          </a:p>
        </p:txBody>
      </p:sp>
      <p:sp>
        <p:nvSpPr>
          <p:cNvPr id="32" name="圓角矩形 31">
            <a:extLst xmlns:a="http://schemas.openxmlformats.org/drawingml/2006/main">
              <a:ext uri="{FF2B5EF4-FFF2-40B4-BE49-F238E27FC236}">
                <a16:creationId xmlns:a16="http://schemas.microsoft.com/office/drawing/2014/main" id="{704BA880-0A46-437B-9624-7D97432D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8001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6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圓角矩形 32">
            <a:extLst xmlns:a="http://schemas.openxmlformats.org/drawingml/2006/main">
              <a:ext uri="{FF2B5EF4-FFF2-40B4-BE49-F238E27FC236}">
                <a16:creationId xmlns:a16="http://schemas.microsoft.com/office/drawing/2014/main" id="{5E4185BA-18F0-458F-BD2F-4440202E2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38275"/>
            <a:ext cx="2667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FD9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api-screen-shadow">
            <a:extLst xmlns:a="http://schemas.openxmlformats.org/drawingml/2006/main">
              <a:ext uri="{FF2B5EF4-FFF2-40B4-BE49-F238E27FC236}">
                <a16:creationId xmlns:a16="http://schemas.microsoft.com/office/drawing/2014/main" id="{7FA7D805-846F-4F96-B312-67B66E55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6334125" cy="39624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BFD8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api-screen-frame">
            <a:extLst xmlns:a="http://schemas.openxmlformats.org/drawingml/2006/main">
              <a:ext uri="{FF2B5EF4-FFF2-40B4-BE49-F238E27FC236}">
                <a16:creationId xmlns:a16="http://schemas.microsoft.com/office/drawing/2014/main" id="{9ECA180E-1E53-452E-B182-5109EEBE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6334125" cy="39624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pic>
        <p:nvPicPr>
          <p:cNvPr id="92" name="圖片 8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b46a76b0645a3"/>
          <a:stretch xmlns:a="http://schemas.openxmlformats.org/drawingml/2006/main"/>
        </p:blipFill>
        <p:spPr>
          <a:xfrm xmlns:a="http://schemas.openxmlformats.org/drawingml/2006/main">
            <a:off x="690563" y="1885950"/>
            <a:ext cx="6096000" cy="3810000"/>
          </a:xfrm>
          <a:prstGeom xmlns:a="http://schemas.openxmlformats.org/drawingml/2006/main" prst="roundRect">
            <a:avLst>
              <a:gd name="adj" fmla="val 3000"/>
            </a:avLst>
          </a:prstGeom>
        </p:spPr>
      </p:pic>
      <p:sp>
        <p:nvSpPr>
          <p:cNvPr id="37" name="圓角矩形 36">
            <a:extLst xmlns:a="http://schemas.openxmlformats.org/drawingml/2006/main">
              <a:ext uri="{FF2B5EF4-FFF2-40B4-BE49-F238E27FC236}">
                <a16:creationId xmlns:a16="http://schemas.microsoft.com/office/drawing/2014/main" id="{5AFC9BB4-4F95-4316-B0BB-50B76B8B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097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F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rPr>
              <a:t>驗證目標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4E52B637-2CD2-40CA-BFE0-BD2BB82D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6695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AI、政府資料與資料庫存取集中在可信任後端；前端只接收通過共用 Schema 的結果。</a:t>
            </a:r>
          </a:p>
        </p:txBody>
      </p:sp>
      <p:sp>
        <p:nvSpPr>
          <p:cNvPr id="39" name="圓角矩形 38">
            <a:extLst xmlns:a="http://schemas.openxmlformats.org/drawingml/2006/main">
              <a:ext uri="{FF2B5EF4-FFF2-40B4-BE49-F238E27FC236}">
                <a16:creationId xmlns:a16="http://schemas.microsoft.com/office/drawing/2014/main" id="{DB1D5D8E-2DF5-4F1C-8DF2-A269D2C3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432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驗證過程</a:t>
            </a:r>
          </a:p>
        </p:txBody>
      </p:sp>
      <p:sp>
        <p:nvSpPr>
          <p:cNvPr id="40" name="橢圓 39">
            <a:extLst xmlns:a="http://schemas.openxmlformats.org/drawingml/2006/main">
              <a:ext uri="{FF2B5EF4-FFF2-40B4-BE49-F238E27FC236}">
                <a16:creationId xmlns:a16="http://schemas.microsoft.com/office/drawing/2014/main" id="{2A2D5C5B-EEC4-4BC6-AD2C-4B7CA5E7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099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38405F96-8A07-4EC3-9E0B-B2CEAF3B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09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D5B62080-0C43-4DF1-9B62-00295B03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290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Web／App 送出 HTTPS JSON</a:t>
            </a:r>
          </a:p>
        </p:txBody>
      </p:sp>
      <p:sp>
        <p:nvSpPr>
          <p:cNvPr id="43" name="橢圓 42">
            <a:extLst xmlns:a="http://schemas.openxmlformats.org/drawingml/2006/main">
              <a:ext uri="{FF2B5EF4-FFF2-40B4-BE49-F238E27FC236}">
                <a16:creationId xmlns:a16="http://schemas.microsoft.com/office/drawing/2014/main" id="{73C07224-F31C-4909-8BFE-2558B73A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38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6FAC86B0-9EC9-40BB-A913-34EEEBF3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386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F057776D-E288-4071-B677-412F8E9A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Zod 驗證、CORS、32KB body gate</a:t>
            </a:r>
          </a:p>
        </p:txBody>
      </p:sp>
      <p:sp>
        <p:nvSpPr>
          <p:cNvPr id="46" name="橢圓 45">
            <a:extLst xmlns:a="http://schemas.openxmlformats.org/drawingml/2006/main">
              <a:ext uri="{FF2B5EF4-FFF2-40B4-BE49-F238E27FC236}">
                <a16:creationId xmlns:a16="http://schemas.microsoft.com/office/drawing/2014/main" id="{B0F0A5E0-D481-4188-A6CD-ED0D88AA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672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矩形 46">
            <a:extLst xmlns:a="http://schemas.openxmlformats.org/drawingml/2006/main">
              <a:ext uri="{FF2B5EF4-FFF2-40B4-BE49-F238E27FC236}">
                <a16:creationId xmlns:a16="http://schemas.microsoft.com/office/drawing/2014/main" id="{E0DA47C1-894F-4080-86FC-AE1FDC33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672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0F108FCB-E5C9-470A-B41B-D0F016CB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8627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協調環境、規則、AI 與 PostgreSQL</a:t>
            </a:r>
          </a:p>
        </p:txBody>
      </p:sp>
      <p:sp>
        <p:nvSpPr>
          <p:cNvPr id="49" name="橢圓 48">
            <a:extLst xmlns:a="http://schemas.openxmlformats.org/drawingml/2006/main">
              <a:ext uri="{FF2B5EF4-FFF2-40B4-BE49-F238E27FC236}">
                <a16:creationId xmlns:a16="http://schemas.microsoft.com/office/drawing/2014/main" id="{BF159C1B-ABBD-4C4E-BAA9-CD3BF5FD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95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6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15D47B61-3F44-486A-BE17-88F51D52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958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6EF8F5D4-506F-444C-8655-572911FB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9149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回傳穩定錯誤碼與安全資料契約</a:t>
            </a:r>
          </a:p>
        </p:txBody>
      </p:sp>
      <p:sp>
        <p:nvSpPr>
          <p:cNvPr id="52" name="圓角矩形 51">
            <a:extLst xmlns:a="http://schemas.openxmlformats.org/drawingml/2006/main">
              <a:ext uri="{FF2B5EF4-FFF2-40B4-BE49-F238E27FC236}">
                <a16:creationId xmlns:a16="http://schemas.microsoft.com/office/drawing/2014/main" id="{8B1CD567-58BC-47B1-B6CA-32E589ED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CEFFC"/>
          </a:solidFill>
          <a:ln xmlns:a="http://schemas.openxmlformats.org/drawingml/2006/main" w="9525">
            <a:solidFill>
              <a:srgbClr val="B7DBEF"/>
            </a:solidFill>
            <a:prstDash val="solid"/>
          </a:ln>
        </p:spPr>
      </p:sp>
      <p:sp>
        <p:nvSpPr>
          <p:cNvPr id="53" name="圓角矩形 52">
            <a:extLst xmlns:a="http://schemas.openxmlformats.org/drawingml/2006/main">
              <a:ext uri="{FF2B5EF4-FFF2-40B4-BE49-F238E27FC236}">
                <a16:creationId xmlns:a16="http://schemas.microsoft.com/office/drawing/2014/main" id="{027C2030-B149-4FAB-A816-41594DCB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05525"/>
            <a:ext cx="1295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雛形驗證結果</a:t>
            </a: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75EAE282-3B39-4EFF-B4FE-01A653FF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09600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rPr>
              <a:t>5 條核心 API 路由、production build 與 170／170 自動化測試均通過；Web／App 共用相同 client 與安全政策。</a:t>
            </a:r>
          </a:p>
        </p:txBody>
      </p:sp>
    </p:spTree>
    <p:extLst>
      <p:ext uri="{BB962C8B-B14F-4D97-AF65-F5344CB8AC3E}">
        <p14:creationId xmlns:p14="http://schemas.microsoft.com/office/powerpoint/2010/main" val="21150637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直線接點 48">
            <a:extLst xmlns:a="http://schemas.openxmlformats.org/drawingml/2006/main">
              <a:ext uri="{FF2B5EF4-FFF2-40B4-BE49-F238E27FC236}">
                <a16:creationId xmlns:a16="http://schemas.microsoft.com/office/drawing/2014/main" id="{2617CCB5-7F9A-43A3-AD8A-40268176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" name="直線接點 1">
            <a:extLst xmlns:a="http://schemas.openxmlformats.org/drawingml/2006/main">
              <a:ext uri="{FF2B5EF4-FFF2-40B4-BE49-F238E27FC236}">
                <a16:creationId xmlns:a16="http://schemas.microsoft.com/office/drawing/2014/main" id="{CF195BAA-5D49-4FBA-8DCA-CDF9A2FE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1D5ADD9B-E649-4B62-AE3D-91B9EBEE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4" name="直線接點 3">
            <a:extLst xmlns:a="http://schemas.openxmlformats.org/drawingml/2006/main">
              <a:ext uri="{FF2B5EF4-FFF2-40B4-BE49-F238E27FC236}">
                <a16:creationId xmlns:a16="http://schemas.microsoft.com/office/drawing/2014/main" id="{F92FE38E-CC74-48E5-AF86-0C20924C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5" name="直線接點 4">
            <a:extLst xmlns:a="http://schemas.openxmlformats.org/drawingml/2006/main">
              <a:ext uri="{FF2B5EF4-FFF2-40B4-BE49-F238E27FC236}">
                <a16:creationId xmlns:a16="http://schemas.microsoft.com/office/drawing/2014/main" id="{34F26D44-1AB2-40AC-B806-4DA44859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6" name="直線接點 5">
            <a:extLst xmlns:a="http://schemas.openxmlformats.org/drawingml/2006/main">
              <a:ext uri="{FF2B5EF4-FFF2-40B4-BE49-F238E27FC236}">
                <a16:creationId xmlns:a16="http://schemas.microsoft.com/office/drawing/2014/main" id="{44D652D6-2182-4C52-94FB-B0D8C7B1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7" name="直線接點 6">
            <a:extLst xmlns:a="http://schemas.openxmlformats.org/drawingml/2006/main">
              <a:ext uri="{FF2B5EF4-FFF2-40B4-BE49-F238E27FC236}">
                <a16:creationId xmlns:a16="http://schemas.microsoft.com/office/drawing/2014/main" id="{823A70E4-75C7-4720-9C9E-CF472FCA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A6813093-4A84-4BD6-9C19-4B02D9A2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8ED56700-5108-4D86-93DE-EE481E08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5AAAADC8-687E-48BA-97B7-1BE63329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F385A2FB-F7C4-4D9B-A19E-0E53E054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8B771D39-D061-4342-B359-951A6C4E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3" name="直線接點 12">
            <a:extLst xmlns:a="http://schemas.openxmlformats.org/drawingml/2006/main">
              <a:ext uri="{FF2B5EF4-FFF2-40B4-BE49-F238E27FC236}">
                <a16:creationId xmlns:a16="http://schemas.microsoft.com/office/drawing/2014/main" id="{8C8AE490-AB2E-4EB6-A2E5-C2F83EBE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4" name="直線接點 13">
            <a:extLst xmlns:a="http://schemas.openxmlformats.org/drawingml/2006/main">
              <a:ext uri="{FF2B5EF4-FFF2-40B4-BE49-F238E27FC236}">
                <a16:creationId xmlns:a16="http://schemas.microsoft.com/office/drawing/2014/main" id="{3BEAFE05-761A-48A0-8DD5-BDA9E822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5" name="直線接點 14">
            <a:extLst xmlns:a="http://schemas.openxmlformats.org/drawingml/2006/main">
              <a:ext uri="{FF2B5EF4-FFF2-40B4-BE49-F238E27FC236}">
                <a16:creationId xmlns:a16="http://schemas.microsoft.com/office/drawing/2014/main" id="{50B11A53-7E0B-40A7-8800-DD282D5B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6" name="直線接點 15">
            <a:extLst xmlns:a="http://schemas.openxmlformats.org/drawingml/2006/main">
              <a:ext uri="{FF2B5EF4-FFF2-40B4-BE49-F238E27FC236}">
                <a16:creationId xmlns:a16="http://schemas.microsoft.com/office/drawing/2014/main" id="{D6D44583-5C97-444D-851F-E8A72684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7" name="直線接點 16">
            <a:extLst xmlns:a="http://schemas.openxmlformats.org/drawingml/2006/main">
              <a:ext uri="{FF2B5EF4-FFF2-40B4-BE49-F238E27FC236}">
                <a16:creationId xmlns:a16="http://schemas.microsoft.com/office/drawing/2014/main" id="{F839F785-4E1F-41EB-B042-69E7D51C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8" name="直線接點 17">
            <a:extLst xmlns:a="http://schemas.openxmlformats.org/drawingml/2006/main">
              <a:ext uri="{FF2B5EF4-FFF2-40B4-BE49-F238E27FC236}">
                <a16:creationId xmlns:a16="http://schemas.microsoft.com/office/drawing/2014/main" id="{8082BB58-A0EA-4AA1-9DB4-42C0A210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9" name="直線接點 18">
            <a:extLst xmlns:a="http://schemas.openxmlformats.org/drawingml/2006/main">
              <a:ext uri="{FF2B5EF4-FFF2-40B4-BE49-F238E27FC236}">
                <a16:creationId xmlns:a16="http://schemas.microsoft.com/office/drawing/2014/main" id="{20F2D416-7619-49F4-9453-8CA27C40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0" name="直線接點 19">
            <a:extLst xmlns:a="http://schemas.openxmlformats.org/drawingml/2006/main">
              <a:ext uri="{FF2B5EF4-FFF2-40B4-BE49-F238E27FC236}">
                <a16:creationId xmlns:a16="http://schemas.microsoft.com/office/drawing/2014/main" id="{0A92502B-D1E5-47D4-8B32-AFAA1E73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1" name="直線接點 20">
            <a:extLst xmlns:a="http://schemas.openxmlformats.org/drawingml/2006/main">
              <a:ext uri="{FF2B5EF4-FFF2-40B4-BE49-F238E27FC236}">
                <a16:creationId xmlns:a16="http://schemas.microsoft.com/office/drawing/2014/main" id="{C7D2FFC0-32DE-4271-894C-C3F488E1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2" name="直線接點 21">
            <a:extLst xmlns:a="http://schemas.openxmlformats.org/drawingml/2006/main">
              <a:ext uri="{FF2B5EF4-FFF2-40B4-BE49-F238E27FC236}">
                <a16:creationId xmlns:a16="http://schemas.microsoft.com/office/drawing/2014/main" id="{8596D13E-A9A5-4CBF-A1C2-64BCE42D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3" name="直線接點 22">
            <a:extLst xmlns:a="http://schemas.openxmlformats.org/drawingml/2006/main">
              <a:ext uri="{FF2B5EF4-FFF2-40B4-BE49-F238E27FC236}">
                <a16:creationId xmlns:a16="http://schemas.microsoft.com/office/drawing/2014/main" id="{A49BFF4F-418C-4DBE-BB78-6F30509B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4" name="直線接點 23">
            <a:extLst xmlns:a="http://schemas.openxmlformats.org/drawingml/2006/main">
              <a:ext uri="{FF2B5EF4-FFF2-40B4-BE49-F238E27FC236}">
                <a16:creationId xmlns:a16="http://schemas.microsoft.com/office/drawing/2014/main" id="{06CC331E-6891-4E37-992C-035D092C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5" name="直線接點 24">
            <a:extLst xmlns:a="http://schemas.openxmlformats.org/drawingml/2006/main">
              <a:ext uri="{FF2B5EF4-FFF2-40B4-BE49-F238E27FC236}">
                <a16:creationId xmlns:a16="http://schemas.microsoft.com/office/drawing/2014/main" id="{89C26447-FF93-444A-97B3-A0DE983C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6" name="直線接點 25">
            <a:extLst xmlns:a="http://schemas.openxmlformats.org/drawingml/2006/main">
              <a:ext uri="{FF2B5EF4-FFF2-40B4-BE49-F238E27FC236}">
                <a16:creationId xmlns:a16="http://schemas.microsoft.com/office/drawing/2014/main" id="{340107F5-1EAD-412C-AA1A-E999391D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7" name="直線接點 26">
            <a:extLst xmlns:a="http://schemas.openxmlformats.org/drawingml/2006/main">
              <a:ext uri="{FF2B5EF4-FFF2-40B4-BE49-F238E27FC236}">
                <a16:creationId xmlns:a16="http://schemas.microsoft.com/office/drawing/2014/main" id="{0BFC5032-2A61-467F-B644-BD9C607D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8" name="decor-bottom-left">
            <a:extLst xmlns:a="http://schemas.openxmlformats.org/drawingml/2006/main">
              <a:ext uri="{FF2B5EF4-FFF2-40B4-BE49-F238E27FC236}">
                <a16:creationId xmlns:a16="http://schemas.microsoft.com/office/drawing/2014/main" id="{84E1D914-3D3B-469A-9DA1-5BE0CE5C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19750"/>
            <a:ext cx="14287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ecor-top-right">
            <a:extLst xmlns:a="http://schemas.openxmlformats.org/drawingml/2006/main">
              <a:ext uri="{FF2B5EF4-FFF2-40B4-BE49-F238E27FC236}">
                <a16:creationId xmlns:a16="http://schemas.microsoft.com/office/drawing/2014/main" id="{6332302F-8827-418D-B31C-54C17306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11430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圓角矩形 29">
            <a:extLst xmlns:a="http://schemas.openxmlformats.org/drawingml/2006/main">
              <a:ext uri="{FF2B5EF4-FFF2-40B4-BE49-F238E27FC236}">
                <a16:creationId xmlns:a16="http://schemas.microsoft.com/office/drawing/2014/main" id="{B9890151-AA9E-47DB-BDBF-511C9997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rPr>
              <a:t>03 · WEB ENTRY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1319C3-910E-4636-B9AB-49D95B36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Nginx Web：同一套產品的 Web 入口</a:t>
            </a:r>
          </a:p>
        </p:txBody>
      </p:sp>
      <p:sp>
        <p:nvSpPr>
          <p:cNvPr id="32" name="圓角矩形 31">
            <a:extLst xmlns:a="http://schemas.openxmlformats.org/drawingml/2006/main">
              <a:ext uri="{FF2B5EF4-FFF2-40B4-BE49-F238E27FC236}">
                <a16:creationId xmlns:a16="http://schemas.microsoft.com/office/drawing/2014/main" id="{C6CF2C3A-13FC-40E5-B3E0-BF1FB686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8001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9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圓角矩形 32">
            <a:extLst xmlns:a="http://schemas.openxmlformats.org/drawingml/2006/main">
              <a:ext uri="{FF2B5EF4-FFF2-40B4-BE49-F238E27FC236}">
                <a16:creationId xmlns:a16="http://schemas.microsoft.com/office/drawing/2014/main" id="{8B610EB2-20DE-49D7-A8AF-6E57534B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38275"/>
            <a:ext cx="2667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FD9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圓角矩形 34">
            <a:extLst xmlns:a="http://schemas.openxmlformats.org/drawingml/2006/main">
              <a:ext uri="{FF2B5EF4-FFF2-40B4-BE49-F238E27FC236}">
                <a16:creationId xmlns:a16="http://schemas.microsoft.com/office/drawing/2014/main" id="{73A4AD1A-D9A8-4788-82ED-AD09655E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B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rPr>
              <a:t>驗證目標</a:t>
            </a: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EAC3A289-A41A-4679-B132-F0077046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57425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同一套 Expo 專案輸出可部署的 Web 靜態版本。</a:t>
            </a:r>
          </a:p>
        </p:txBody>
      </p:sp>
      <p:sp>
        <p:nvSpPr>
          <p:cNvPr id="37" name="圓角矩形 36">
            <a:extLst xmlns:a="http://schemas.openxmlformats.org/drawingml/2006/main">
              <a:ext uri="{FF2B5EF4-FFF2-40B4-BE49-F238E27FC236}">
                <a16:creationId xmlns:a16="http://schemas.microsoft.com/office/drawing/2014/main" id="{1799399C-0102-4BD5-8463-8257D321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097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驗證過程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DFA80314-DFAE-4E89-9EB5-402E8C10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57425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F7669"/>
                </a:solidFill>
                <a:latin typeface="Arial Unicode MS"/>
                <a:ea typeface="Arial Unicode MS"/>
                <a:cs typeface="Arial Unicode MS"/>
              </a:rPr>
              <a:t>Expo Router → static export → HTTPS 呼叫共用 API。</a:t>
            </a:r>
          </a:p>
        </p:txBody>
      </p:sp>
      <p:sp>
        <p:nvSpPr>
          <p:cNvPr id="39" name="圓角矩形 38">
            <a:extLst xmlns:a="http://schemas.openxmlformats.org/drawingml/2006/main">
              <a:ext uri="{FF2B5EF4-FFF2-40B4-BE49-F238E27FC236}">
                <a16:creationId xmlns:a16="http://schemas.microsoft.com/office/drawing/2014/main" id="{DE91A807-E0EC-4E2D-BC44-B39A2007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1181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B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rPr>
              <a:t>雛形結果</a:t>
            </a: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B4A8FE6B-B44B-4044-AC9B-3281A102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57425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8 個靜態路由完成建置；桌面與 390px 流程完成響應式驗證。</a:t>
            </a:r>
          </a:p>
        </p:txBody>
      </p:sp>
      <p:sp>
        <p:nvSpPr>
          <p:cNvPr id="41" name="swa-screen-shadow">
            <a:extLst xmlns:a="http://schemas.openxmlformats.org/drawingml/2006/main">
              <a:ext uri="{FF2B5EF4-FFF2-40B4-BE49-F238E27FC236}">
                <a16:creationId xmlns:a16="http://schemas.microsoft.com/office/drawing/2014/main" id="{F83FEA20-974C-41CB-AB61-421C72C9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6667500" cy="3238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BFD8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swa-screen-frame">
            <a:extLst xmlns:a="http://schemas.openxmlformats.org/drawingml/2006/main">
              <a:ext uri="{FF2B5EF4-FFF2-40B4-BE49-F238E27FC236}">
                <a16:creationId xmlns:a16="http://schemas.microsoft.com/office/drawing/2014/main" id="{A1B3A9BC-45A3-496B-86FB-852CABE1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6667500" cy="3238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pic>
        <p:nvPicPr>
          <p:cNvPr id="92" name="圖片 9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14369264504483"/>
          <a:stretch xmlns:a="http://schemas.openxmlformats.org/drawingml/2006/main"/>
        </p:blipFill>
        <p:spPr>
          <a:xfrm xmlns:a="http://schemas.openxmlformats.org/drawingml/2006/main">
            <a:off x="1436370" y="3219450"/>
            <a:ext cx="4937760" cy="3086100"/>
          </a:xfrm>
          <a:prstGeom xmlns:a="http://schemas.openxmlformats.org/drawingml/2006/main" prst="roundRect">
            <a:avLst>
              <a:gd name="adj" fmla="val 3704"/>
            </a:avLst>
          </a:prstGeom>
        </p:spPr>
      </p:pic>
      <p:sp>
        <p:nvSpPr>
          <p:cNvPr id="44" name="圓角矩形 43">
            <a:extLst xmlns:a="http://schemas.openxmlformats.org/drawingml/2006/main">
              <a:ext uri="{FF2B5EF4-FFF2-40B4-BE49-F238E27FC236}">
                <a16:creationId xmlns:a16="http://schemas.microsoft.com/office/drawing/2014/main" id="{4F914AE2-38AC-4952-850E-E7CD6EE1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4000500" cy="3238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45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51C35B1C-CF1B-4C35-8C97-7DA65EB9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380312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AEE6C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AEE6C5"/>
                </a:solidFill>
                <a:latin typeface="Arial Unicode MS"/>
                <a:ea typeface="Arial Unicode MS"/>
                <a:cs typeface="Arial Unicode MS"/>
              </a:rPr>
              <a:t>Web 專屬責任</a:t>
            </a: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FDE92F70-2F30-4909-8367-A69C31E1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04187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託管 Expo Web 靜態檔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提供桌面與手機瀏覽器入口</a:t>
            </a:r>
          </a:p>
        </p:txBody>
      </p:sp>
      <p:sp>
        <p:nvSpPr>
          <p:cNvPr id="47" name="矩形 46">
            <a:extLst xmlns:a="http://schemas.openxmlformats.org/drawingml/2006/main">
              <a:ext uri="{FF2B5EF4-FFF2-40B4-BE49-F238E27FC236}">
                <a16:creationId xmlns:a16="http://schemas.microsoft.com/office/drawing/2014/main" id="{030A91FD-32F5-45F5-9FDE-F86BC0C5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51937"/>
            <a:ext cx="320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>
                <a:solidFill>
                  <a:srgbClr val="DDF4E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DDF4E7"/>
                </a:solidFill>
                <a:latin typeface="Arial Unicode MS"/>
                <a:ea typeface="Arial Unicode MS"/>
                <a:cs typeface="Arial Unicode MS"/>
              </a:rPr>
              <a:t>iOS／Android 不由 Web container 託管；直接呼叫 Coolify API，仍共用 UI、契約與 AI 核心。</a:t>
            </a:r>
          </a:p>
        </p:txBody>
      </p:sp>
      <p:sp>
        <p:nvSpPr>
          <p:cNvPr id="48" name="圓角矩形 47">
            <a:extLst xmlns:a="http://schemas.openxmlformats.org/drawingml/2006/main">
              <a:ext uri="{FF2B5EF4-FFF2-40B4-BE49-F238E27FC236}">
                <a16:creationId xmlns:a16="http://schemas.microsoft.com/office/drawing/2014/main" id="{88048179-105C-4868-A3A9-9B1291B4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809187"/>
            <a:ext cx="26289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B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456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4563A"/>
                </a:solidFill>
                <a:latin typeface="Arial Unicode MS"/>
                <a:ea typeface="Arial Unicode MS"/>
                <a:cs typeface="Arial Unicode MS"/>
              </a:rPr>
              <a:t>8 個靜態路由完成建置</a:t>
            </a:r>
          </a:p>
        </p:txBody>
      </p:sp>
    </p:spTree>
    <p:extLst>
      <p:ext uri="{BB962C8B-B14F-4D97-AF65-F5344CB8AC3E}">
        <p14:creationId xmlns:p14="http://schemas.microsoft.com/office/powerpoint/2010/main" val="9819201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直線接點 47">
            <a:extLst xmlns:a="http://schemas.openxmlformats.org/drawingml/2006/main">
              <a:ext uri="{FF2B5EF4-FFF2-40B4-BE49-F238E27FC236}">
                <a16:creationId xmlns:a16="http://schemas.microsoft.com/office/drawing/2014/main" id="{6DEE218F-FA8B-45BF-B477-42A10C36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" name="直線接點 1">
            <a:extLst xmlns:a="http://schemas.openxmlformats.org/drawingml/2006/main">
              <a:ext uri="{FF2B5EF4-FFF2-40B4-BE49-F238E27FC236}">
                <a16:creationId xmlns:a16="http://schemas.microsoft.com/office/drawing/2014/main" id="{3C249E5B-1A33-4CD7-8433-74480FFD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EAF461CE-3477-4D6E-A60D-0B25B000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4" name="直線接點 3">
            <a:extLst xmlns:a="http://schemas.openxmlformats.org/drawingml/2006/main">
              <a:ext uri="{FF2B5EF4-FFF2-40B4-BE49-F238E27FC236}">
                <a16:creationId xmlns:a16="http://schemas.microsoft.com/office/drawing/2014/main" id="{155C842E-B39F-4051-9853-BE95E188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5" name="直線接點 4">
            <a:extLst xmlns:a="http://schemas.openxmlformats.org/drawingml/2006/main">
              <a:ext uri="{FF2B5EF4-FFF2-40B4-BE49-F238E27FC236}">
                <a16:creationId xmlns:a16="http://schemas.microsoft.com/office/drawing/2014/main" id="{65DE1E1B-F099-48AA-9DCD-381800B0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6" name="直線接點 5">
            <a:extLst xmlns:a="http://schemas.openxmlformats.org/drawingml/2006/main">
              <a:ext uri="{FF2B5EF4-FFF2-40B4-BE49-F238E27FC236}">
                <a16:creationId xmlns:a16="http://schemas.microsoft.com/office/drawing/2014/main" id="{7062DBBE-E63E-43C1-9738-741407A1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7" name="直線接點 6">
            <a:extLst xmlns:a="http://schemas.openxmlformats.org/drawingml/2006/main">
              <a:ext uri="{FF2B5EF4-FFF2-40B4-BE49-F238E27FC236}">
                <a16:creationId xmlns:a16="http://schemas.microsoft.com/office/drawing/2014/main" id="{23B6D48F-4A45-4CC0-BF30-AA0FB673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C6D78625-4FC2-463F-BB8A-A42C78C1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67B568F3-E6AF-422E-B953-194B4908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4370720F-831D-4449-80A5-C1F8DF674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BD21F029-07B5-4A25-BA09-8AC02094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FFA04743-C18A-4AB5-BF63-0FBF9F1C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3" name="直線接點 12">
            <a:extLst xmlns:a="http://schemas.openxmlformats.org/drawingml/2006/main">
              <a:ext uri="{FF2B5EF4-FFF2-40B4-BE49-F238E27FC236}">
                <a16:creationId xmlns:a16="http://schemas.microsoft.com/office/drawing/2014/main" id="{6B4DC30B-CA91-4F1E-8E9B-0E60FFA7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4" name="直線接點 13">
            <a:extLst xmlns:a="http://schemas.openxmlformats.org/drawingml/2006/main">
              <a:ext uri="{FF2B5EF4-FFF2-40B4-BE49-F238E27FC236}">
                <a16:creationId xmlns:a16="http://schemas.microsoft.com/office/drawing/2014/main" id="{8C6BD837-066D-4B5A-A68E-ECAFE8F4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5" name="直線接點 14">
            <a:extLst xmlns:a="http://schemas.openxmlformats.org/drawingml/2006/main">
              <a:ext uri="{FF2B5EF4-FFF2-40B4-BE49-F238E27FC236}">
                <a16:creationId xmlns:a16="http://schemas.microsoft.com/office/drawing/2014/main" id="{DB9F9344-BD08-433B-9888-CAE21471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6" name="直線接點 15">
            <a:extLst xmlns:a="http://schemas.openxmlformats.org/drawingml/2006/main">
              <a:ext uri="{FF2B5EF4-FFF2-40B4-BE49-F238E27FC236}">
                <a16:creationId xmlns:a16="http://schemas.microsoft.com/office/drawing/2014/main" id="{7D15A6EB-FD53-4909-BB78-BBEF0E0E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7" name="直線接點 16">
            <a:extLst xmlns:a="http://schemas.openxmlformats.org/drawingml/2006/main">
              <a:ext uri="{FF2B5EF4-FFF2-40B4-BE49-F238E27FC236}">
                <a16:creationId xmlns:a16="http://schemas.microsoft.com/office/drawing/2014/main" id="{D0FCFDD3-3C44-4EFA-8D70-4D268BF0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8" name="直線接點 17">
            <a:extLst xmlns:a="http://schemas.openxmlformats.org/drawingml/2006/main">
              <a:ext uri="{FF2B5EF4-FFF2-40B4-BE49-F238E27FC236}">
                <a16:creationId xmlns:a16="http://schemas.microsoft.com/office/drawing/2014/main" id="{80CE83F0-55BD-476B-9BDC-877A30EA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9" name="直線接點 18">
            <a:extLst xmlns:a="http://schemas.openxmlformats.org/drawingml/2006/main">
              <a:ext uri="{FF2B5EF4-FFF2-40B4-BE49-F238E27FC236}">
                <a16:creationId xmlns:a16="http://schemas.microsoft.com/office/drawing/2014/main" id="{3EE6343B-89DB-40AC-BEBD-6A370792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0" name="直線接點 19">
            <a:extLst xmlns:a="http://schemas.openxmlformats.org/drawingml/2006/main">
              <a:ext uri="{FF2B5EF4-FFF2-40B4-BE49-F238E27FC236}">
                <a16:creationId xmlns:a16="http://schemas.microsoft.com/office/drawing/2014/main" id="{EBC4E5C1-126F-4FA0-BB55-AFB1FF2F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1" name="直線接點 20">
            <a:extLst xmlns:a="http://schemas.openxmlformats.org/drawingml/2006/main">
              <a:ext uri="{FF2B5EF4-FFF2-40B4-BE49-F238E27FC236}">
                <a16:creationId xmlns:a16="http://schemas.microsoft.com/office/drawing/2014/main" id="{A89A39E8-6EDD-4332-AB9E-6AD796D2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2" name="直線接點 21">
            <a:extLst xmlns:a="http://schemas.openxmlformats.org/drawingml/2006/main">
              <a:ext uri="{FF2B5EF4-FFF2-40B4-BE49-F238E27FC236}">
                <a16:creationId xmlns:a16="http://schemas.microsoft.com/office/drawing/2014/main" id="{F9D67828-22D6-4541-8727-B1FD8BA9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3" name="直線接點 22">
            <a:extLst xmlns:a="http://schemas.openxmlformats.org/drawingml/2006/main">
              <a:ext uri="{FF2B5EF4-FFF2-40B4-BE49-F238E27FC236}">
                <a16:creationId xmlns:a16="http://schemas.microsoft.com/office/drawing/2014/main" id="{90F78EDC-A885-4991-8B72-7D1ED3F0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4" name="直線接點 23">
            <a:extLst xmlns:a="http://schemas.openxmlformats.org/drawingml/2006/main">
              <a:ext uri="{FF2B5EF4-FFF2-40B4-BE49-F238E27FC236}">
                <a16:creationId xmlns:a16="http://schemas.microsoft.com/office/drawing/2014/main" id="{FC2E83AB-7927-481B-BC93-68B42665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5" name="直線接點 24">
            <a:extLst xmlns:a="http://schemas.openxmlformats.org/drawingml/2006/main">
              <a:ext uri="{FF2B5EF4-FFF2-40B4-BE49-F238E27FC236}">
                <a16:creationId xmlns:a16="http://schemas.microsoft.com/office/drawing/2014/main" id="{06D1C8CA-F5FC-415C-85F2-BECE334A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6" name="直線接點 25">
            <a:extLst xmlns:a="http://schemas.openxmlformats.org/drawingml/2006/main">
              <a:ext uri="{FF2B5EF4-FFF2-40B4-BE49-F238E27FC236}">
                <a16:creationId xmlns:a16="http://schemas.microsoft.com/office/drawing/2014/main" id="{E7AB9113-98FB-4C13-BC9B-806C3AAE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7" name="直線接點 26">
            <a:extLst xmlns:a="http://schemas.openxmlformats.org/drawingml/2006/main">
              <a:ext uri="{FF2B5EF4-FFF2-40B4-BE49-F238E27FC236}">
                <a16:creationId xmlns:a16="http://schemas.microsoft.com/office/drawing/2014/main" id="{2CB251EC-33CC-489A-8EFD-3FC63223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8" name="decor-bottom-left">
            <a:extLst xmlns:a="http://schemas.openxmlformats.org/drawingml/2006/main">
              <a:ext uri="{FF2B5EF4-FFF2-40B4-BE49-F238E27FC236}">
                <a16:creationId xmlns:a16="http://schemas.microsoft.com/office/drawing/2014/main" id="{08B4D7D7-A43E-4EC5-BD4B-5EE0DDCD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19750"/>
            <a:ext cx="14287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ecor-top-right">
            <a:extLst xmlns:a="http://schemas.openxmlformats.org/drawingml/2006/main">
              <a:ext uri="{FF2B5EF4-FFF2-40B4-BE49-F238E27FC236}">
                <a16:creationId xmlns:a16="http://schemas.microsoft.com/office/drawing/2014/main" id="{DC394B1E-E8DA-47D6-830F-794972B8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11430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圓角矩形 29">
            <a:extLst xmlns:a="http://schemas.openxmlformats.org/drawingml/2006/main">
              <a:ext uri="{FF2B5EF4-FFF2-40B4-BE49-F238E27FC236}">
                <a16:creationId xmlns:a16="http://schemas.microsoft.com/office/drawing/2014/main" id="{05FC9726-DBEB-497C-8441-125BBAE5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04 · DATA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43B9DA-D4EB-4B73-8C81-243E1A12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PostgreSQL：只存營運資料，不存個人活動</a:t>
            </a:r>
          </a:p>
        </p:txBody>
      </p:sp>
      <p:sp>
        <p:nvSpPr>
          <p:cNvPr id="32" name="圓角矩形 31">
            <a:extLst xmlns:a="http://schemas.openxmlformats.org/drawingml/2006/main">
              <a:ext uri="{FF2B5EF4-FFF2-40B4-BE49-F238E27FC236}">
                <a16:creationId xmlns:a16="http://schemas.microsoft.com/office/drawing/2014/main" id="{96AA0136-1FB5-4461-89D7-BB9413AF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8001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94C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圓角矩形 32">
            <a:extLst xmlns:a="http://schemas.openxmlformats.org/drawingml/2006/main">
              <a:ext uri="{FF2B5EF4-FFF2-40B4-BE49-F238E27FC236}">
                <a16:creationId xmlns:a16="http://schemas.microsoft.com/office/drawing/2014/main" id="{AE42E376-7277-44B7-A01B-545926E3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38275"/>
            <a:ext cx="2667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FD9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b-boundary-screen-shadow">
            <a:extLst xmlns:a="http://schemas.openxmlformats.org/drawingml/2006/main">
              <a:ext uri="{FF2B5EF4-FFF2-40B4-BE49-F238E27FC236}">
                <a16:creationId xmlns:a16="http://schemas.microsoft.com/office/drawing/2014/main" id="{9F599EBA-6596-40B6-8132-6179CF39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5950"/>
            <a:ext cx="5715000" cy="3219450"/>
          </a:xfrm>
          <a:prstGeom xmlns:a="http://schemas.openxmlformats.org/drawingml/2006/main" prst="roundRect">
            <a:avLst>
              <a:gd name="adj" fmla="val 4734"/>
            </a:avLst>
          </a:prstGeom>
          <a:solidFill xmlns:a="http://schemas.openxmlformats.org/drawingml/2006/main">
            <a:srgbClr val="BFD8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b-boundary-screen-frame">
            <a:extLst xmlns:a="http://schemas.openxmlformats.org/drawingml/2006/main">
              <a:ext uri="{FF2B5EF4-FFF2-40B4-BE49-F238E27FC236}">
                <a16:creationId xmlns:a16="http://schemas.microsoft.com/office/drawing/2014/main" id="{732C59D3-D187-424B-BBAF-5D937C49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90700"/>
            <a:ext cx="5715000" cy="3219450"/>
          </a:xfrm>
          <a:prstGeom xmlns:a="http://schemas.openxmlformats.org/drawingml/2006/main" prst="roundRect">
            <a:avLst>
              <a:gd name="adj" fmla="val 47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pic>
        <p:nvPicPr>
          <p:cNvPr id="85" name="圖片 8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68ffbfe3d457f"/>
          <a:srcRect xmlns:a="http://schemas.openxmlformats.org/drawingml/2006/main" l="0" t="989" r="0" b="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866900"/>
            <a:ext cx="5562600" cy="3067050"/>
          </a:xfrm>
          <a:prstGeom xmlns:a="http://schemas.openxmlformats.org/drawingml/2006/main" prst="roundRect">
            <a:avLst>
              <a:gd name="adj" fmla="val 3727"/>
            </a:avLst>
          </a:prstGeom>
        </p:spPr>
      </p:pic>
      <p:sp>
        <p:nvSpPr>
          <p:cNvPr id="37" name="圓角矩形 36">
            <a:extLst xmlns:a="http://schemas.openxmlformats.org/drawingml/2006/main">
              <a:ext uri="{FF2B5EF4-FFF2-40B4-BE49-F238E27FC236}">
                <a16:creationId xmlns:a16="http://schemas.microsoft.com/office/drawing/2014/main" id="{19D2EBEF-6149-4B03-A01D-70ED4A52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D9C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驗證目標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A23E0E07-E334-478F-8096-E36E7394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4790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雲端資料庫只支援跨請求需要的共享資料；未成年人個人情境不進入雲端個人資料庫。</a:t>
            </a:r>
          </a:p>
        </p:txBody>
      </p:sp>
      <p:sp>
        <p:nvSpPr>
          <p:cNvPr id="39" name="圓角矩形 38">
            <a:extLst xmlns:a="http://schemas.openxmlformats.org/drawingml/2006/main">
              <a:ext uri="{FF2B5EF4-FFF2-40B4-BE49-F238E27FC236}">
                <a16:creationId xmlns:a16="http://schemas.microsoft.com/office/drawing/2014/main" id="{F51DDF5B-E958-44AB-8A36-93821865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762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7D9CE"/>
          </a:solidFill>
          <a:ln xmlns:a="http://schemas.openxmlformats.org/drawingml/2006/main" w="9525">
            <a:solidFill>
              <a:srgbClr val="EDC5B7"/>
            </a:solidFill>
            <a:prstDash val="solid"/>
          </a:ln>
        </p:spPr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E23BFC9D-D8BB-48E3-B4EF-A0BB591F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956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PostgreSQL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C203F031-3492-4332-A17A-E1974F65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90925"/>
            <a:ext cx="432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environment_cache｜service_events｜schema_migrations</a:t>
            </a:r>
          </a:p>
        </p:txBody>
      </p:sp>
      <p:sp>
        <p:nvSpPr>
          <p:cNvPr id="42" name="圓角矩形 41">
            <a:extLst xmlns:a="http://schemas.openxmlformats.org/drawingml/2006/main">
              <a:ext uri="{FF2B5EF4-FFF2-40B4-BE49-F238E27FC236}">
                <a16:creationId xmlns:a16="http://schemas.microsoft.com/office/drawing/2014/main" id="{E175417E-6362-4196-9B15-64DB8AF4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47625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9525">
            <a:solidFill>
              <a:srgbClr val="A9D5BC"/>
            </a:solidFill>
            <a:prstDash val="solid"/>
          </a:ln>
        </p:spPr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88F4DBB3-9ACD-4E0C-A0F4-3187DB17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24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裝置端</a:t>
            </a: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32F354BD-2665-428E-BFCB-6112342E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19625"/>
            <a:ext cx="432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個人設定｜活動摘要｜回饋｜路線輸入</a:t>
            </a:r>
          </a:p>
        </p:txBody>
      </p:sp>
      <p:sp>
        <p:nvSpPr>
          <p:cNvPr id="45" name="圓角矩形 44">
            <a:extLst xmlns:a="http://schemas.openxmlformats.org/drawingml/2006/main">
              <a:ext uri="{FF2B5EF4-FFF2-40B4-BE49-F238E27FC236}">
                <a16:creationId xmlns:a16="http://schemas.microsoft.com/office/drawing/2014/main" id="{8C5AFCBE-2494-4D49-BE7B-25276B85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10490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D9CE"/>
          </a:solidFill>
          <a:ln xmlns:a="http://schemas.openxmlformats.org/drawingml/2006/main" w="9525">
            <a:solidFill>
              <a:srgbClr val="EDC5B7"/>
            </a:solidFill>
            <a:prstDash val="solid"/>
          </a:ln>
        </p:spPr>
      </p:sp>
      <p:sp>
        <p:nvSpPr>
          <p:cNvPr id="46" name="圓角矩形 45">
            <a:extLst xmlns:a="http://schemas.openxmlformats.org/drawingml/2006/main">
              <a:ext uri="{FF2B5EF4-FFF2-40B4-BE49-F238E27FC236}">
                <a16:creationId xmlns:a16="http://schemas.microsoft.com/office/drawing/2014/main" id="{52049D4D-1595-47D2-9425-1CAE3F20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1" y="5667375"/>
            <a:ext cx="1295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雛形驗證結果</a:t>
            </a:r>
          </a:p>
        </p:txBody>
      </p:sp>
      <p:sp>
        <p:nvSpPr>
          <p:cNvPr id="47" name="矩形 46">
            <a:extLst xmlns:a="http://schemas.openxmlformats.org/drawingml/2006/main">
              <a:ext uri="{FF2B5EF4-FFF2-40B4-BE49-F238E27FC236}">
                <a16:creationId xmlns:a16="http://schemas.microsoft.com/office/drawing/2014/main" id="{1F11AD4C-34FD-4591-84F7-248A1D1D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476875"/>
            <a:ext cx="923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migration、快取讀寫、readiness</a:t>
            </a:r>
            <a:r>
              <a:rPr sz="15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 </a:t>
            </a:r>
            <a:r>
              <a:rPr sz="15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與匿名事件欄位已完成驗證；資料庫明確排除活動文字、profile</a:t>
            </a:r>
            <a:r>
              <a:rPr sz="15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、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回饋與模型全文</a:t>
            </a:r>
            <a:r>
              <a:rPr sz="1500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307145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直線接點 59">
            <a:extLst xmlns:a="http://schemas.openxmlformats.org/drawingml/2006/main">
              <a:ext uri="{FF2B5EF4-FFF2-40B4-BE49-F238E27FC236}">
                <a16:creationId xmlns:a16="http://schemas.microsoft.com/office/drawing/2014/main" id="{3DC8C190-B709-4685-852A-93241859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" name="直線接點 1">
            <a:extLst xmlns:a="http://schemas.openxmlformats.org/drawingml/2006/main">
              <a:ext uri="{FF2B5EF4-FFF2-40B4-BE49-F238E27FC236}">
                <a16:creationId xmlns:a16="http://schemas.microsoft.com/office/drawing/2014/main" id="{98806069-E347-42F4-843B-01F52A0C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562B951B-ACDC-4931-8226-17E63C7B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4" name="直線接點 3">
            <a:extLst xmlns:a="http://schemas.openxmlformats.org/drawingml/2006/main">
              <a:ext uri="{FF2B5EF4-FFF2-40B4-BE49-F238E27FC236}">
                <a16:creationId xmlns:a16="http://schemas.microsoft.com/office/drawing/2014/main" id="{605AFF7B-BF94-4361-AAC6-10BA8DE0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5" name="直線接點 4">
            <a:extLst xmlns:a="http://schemas.openxmlformats.org/drawingml/2006/main">
              <a:ext uri="{FF2B5EF4-FFF2-40B4-BE49-F238E27FC236}">
                <a16:creationId xmlns:a16="http://schemas.microsoft.com/office/drawing/2014/main" id="{BEBA197D-58A6-4F40-B445-13FAA3E7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6" name="直線接點 5">
            <a:extLst xmlns:a="http://schemas.openxmlformats.org/drawingml/2006/main">
              <a:ext uri="{FF2B5EF4-FFF2-40B4-BE49-F238E27FC236}">
                <a16:creationId xmlns:a16="http://schemas.microsoft.com/office/drawing/2014/main" id="{130B2DCB-DC42-49A5-A83F-A3BA9ED4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7" name="直線接點 6">
            <a:extLst xmlns:a="http://schemas.openxmlformats.org/drawingml/2006/main">
              <a:ext uri="{FF2B5EF4-FFF2-40B4-BE49-F238E27FC236}">
                <a16:creationId xmlns:a16="http://schemas.microsoft.com/office/drawing/2014/main" id="{1B9655BE-CABC-4562-B658-F8F0608E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CD8EC508-4863-4FF9-B8ED-A5DA40CE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F4015143-822C-4080-BD71-F5B0A37E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9E7B53EE-088F-42A3-8DE5-E5F5F1B5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1C92603C-CCC5-46A5-8084-B9712360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BDE9B90B-5ACA-4868-BA8B-33EDF31B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3" name="直線接點 12">
            <a:extLst xmlns:a="http://schemas.openxmlformats.org/drawingml/2006/main">
              <a:ext uri="{FF2B5EF4-FFF2-40B4-BE49-F238E27FC236}">
                <a16:creationId xmlns:a16="http://schemas.microsoft.com/office/drawing/2014/main" id="{E01EB2ED-7A01-4DB2-A9C0-5BF73E88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4" name="直線接點 13">
            <a:extLst xmlns:a="http://schemas.openxmlformats.org/drawingml/2006/main">
              <a:ext uri="{FF2B5EF4-FFF2-40B4-BE49-F238E27FC236}">
                <a16:creationId xmlns:a16="http://schemas.microsoft.com/office/drawing/2014/main" id="{C205F575-F3A2-456A-967A-123D75F4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5" name="直線接點 14">
            <a:extLst xmlns:a="http://schemas.openxmlformats.org/drawingml/2006/main">
              <a:ext uri="{FF2B5EF4-FFF2-40B4-BE49-F238E27FC236}">
                <a16:creationId xmlns:a16="http://schemas.microsoft.com/office/drawing/2014/main" id="{56690368-6478-4BF7-866A-0F4D5655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6" name="直線接點 15">
            <a:extLst xmlns:a="http://schemas.openxmlformats.org/drawingml/2006/main">
              <a:ext uri="{FF2B5EF4-FFF2-40B4-BE49-F238E27FC236}">
                <a16:creationId xmlns:a16="http://schemas.microsoft.com/office/drawing/2014/main" id="{4E6E0AC3-B81F-453B-B8DF-17ED7B2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7" name="直線接點 16">
            <a:extLst xmlns:a="http://schemas.openxmlformats.org/drawingml/2006/main">
              <a:ext uri="{FF2B5EF4-FFF2-40B4-BE49-F238E27FC236}">
                <a16:creationId xmlns:a16="http://schemas.microsoft.com/office/drawing/2014/main" id="{1EABB1B1-2823-4002-873F-44B8214C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8" name="直線接點 17">
            <a:extLst xmlns:a="http://schemas.openxmlformats.org/drawingml/2006/main">
              <a:ext uri="{FF2B5EF4-FFF2-40B4-BE49-F238E27FC236}">
                <a16:creationId xmlns:a16="http://schemas.microsoft.com/office/drawing/2014/main" id="{F67BAAB0-5ACD-4205-91DB-45D0297F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9" name="直線接點 18">
            <a:extLst xmlns:a="http://schemas.openxmlformats.org/drawingml/2006/main">
              <a:ext uri="{FF2B5EF4-FFF2-40B4-BE49-F238E27FC236}">
                <a16:creationId xmlns:a16="http://schemas.microsoft.com/office/drawing/2014/main" id="{F93C121F-FA7B-46BD-8CC5-15F0AE5A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0" name="直線接點 19">
            <a:extLst xmlns:a="http://schemas.openxmlformats.org/drawingml/2006/main">
              <a:ext uri="{FF2B5EF4-FFF2-40B4-BE49-F238E27FC236}">
                <a16:creationId xmlns:a16="http://schemas.microsoft.com/office/drawing/2014/main" id="{82A438BE-F14A-42A3-8E7E-7F8D4F03D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1" name="直線接點 20">
            <a:extLst xmlns:a="http://schemas.openxmlformats.org/drawingml/2006/main">
              <a:ext uri="{FF2B5EF4-FFF2-40B4-BE49-F238E27FC236}">
                <a16:creationId xmlns:a16="http://schemas.microsoft.com/office/drawing/2014/main" id="{151DD8AF-D235-412F-8C5E-3597670E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2" name="直線接點 21">
            <a:extLst xmlns:a="http://schemas.openxmlformats.org/drawingml/2006/main">
              <a:ext uri="{FF2B5EF4-FFF2-40B4-BE49-F238E27FC236}">
                <a16:creationId xmlns:a16="http://schemas.microsoft.com/office/drawing/2014/main" id="{BBC4ABAC-0C66-4604-AA01-917206D9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3" name="直線接點 22">
            <a:extLst xmlns:a="http://schemas.openxmlformats.org/drawingml/2006/main">
              <a:ext uri="{FF2B5EF4-FFF2-40B4-BE49-F238E27FC236}">
                <a16:creationId xmlns:a16="http://schemas.microsoft.com/office/drawing/2014/main" id="{F0405821-0D18-49E2-9F9A-0F445377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4" name="直線接點 23">
            <a:extLst xmlns:a="http://schemas.openxmlformats.org/drawingml/2006/main">
              <a:ext uri="{FF2B5EF4-FFF2-40B4-BE49-F238E27FC236}">
                <a16:creationId xmlns:a16="http://schemas.microsoft.com/office/drawing/2014/main" id="{17AE655A-710B-434B-BE53-AC64AAA1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5" name="直線接點 24">
            <a:extLst xmlns:a="http://schemas.openxmlformats.org/drawingml/2006/main">
              <a:ext uri="{FF2B5EF4-FFF2-40B4-BE49-F238E27FC236}">
                <a16:creationId xmlns:a16="http://schemas.microsoft.com/office/drawing/2014/main" id="{EBF5F5CA-119F-4869-BCB1-A2AB9179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6" name="直線接點 25">
            <a:extLst xmlns:a="http://schemas.openxmlformats.org/drawingml/2006/main">
              <a:ext uri="{FF2B5EF4-FFF2-40B4-BE49-F238E27FC236}">
                <a16:creationId xmlns:a16="http://schemas.microsoft.com/office/drawing/2014/main" id="{857E1C0A-A1B5-4A11-8824-52BC1F46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7" name="直線接點 26">
            <a:extLst xmlns:a="http://schemas.openxmlformats.org/drawingml/2006/main">
              <a:ext uri="{FF2B5EF4-FFF2-40B4-BE49-F238E27FC236}">
                <a16:creationId xmlns:a16="http://schemas.microsoft.com/office/drawing/2014/main" id="{C8CF12E7-0544-4008-88DD-82FA20B0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8" name="decor-bottom-left">
            <a:extLst xmlns:a="http://schemas.openxmlformats.org/drawingml/2006/main">
              <a:ext uri="{FF2B5EF4-FFF2-40B4-BE49-F238E27FC236}">
                <a16:creationId xmlns:a16="http://schemas.microsoft.com/office/drawing/2014/main" id="{B20850D4-E56C-499F-80DF-51BCFAB8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19750"/>
            <a:ext cx="14287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ecor-top-right">
            <a:extLst xmlns:a="http://schemas.openxmlformats.org/drawingml/2006/main">
              <a:ext uri="{FF2B5EF4-FFF2-40B4-BE49-F238E27FC236}">
                <a16:creationId xmlns:a16="http://schemas.microsoft.com/office/drawing/2014/main" id="{BB4D9299-7B17-4B16-8854-C9C798A6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11430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圓角矩形 29">
            <a:extLst xmlns:a="http://schemas.openxmlformats.org/drawingml/2006/main">
              <a:ext uri="{FF2B5EF4-FFF2-40B4-BE49-F238E27FC236}">
                <a16:creationId xmlns:a16="http://schemas.microsoft.com/office/drawing/2014/main" id="{6CF44DD7-234C-4F7D-94B6-2936BBD6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END-TO-END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D87465-0C0F-4A0F-A8BB-3801FCAC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完整流程把輸入、生成、保存與後續使用串在一起</a:t>
            </a:r>
          </a:p>
        </p:txBody>
      </p:sp>
      <p:sp>
        <p:nvSpPr>
          <p:cNvPr id="32" name="圓角矩形 31">
            <a:extLst xmlns:a="http://schemas.openxmlformats.org/drawingml/2006/main">
              <a:ext uri="{FF2B5EF4-FFF2-40B4-BE49-F238E27FC236}">
                <a16:creationId xmlns:a16="http://schemas.microsoft.com/office/drawing/2014/main" id="{76CB6D8B-D8FD-4A49-8D2B-9308B9ED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8001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7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圓角矩形 32">
            <a:extLst xmlns:a="http://schemas.openxmlformats.org/drawingml/2006/main">
              <a:ext uri="{FF2B5EF4-FFF2-40B4-BE49-F238E27FC236}">
                <a16:creationId xmlns:a16="http://schemas.microsoft.com/office/drawing/2014/main" id="{DD2BC46D-060F-4567-A7F5-0B7DEEEA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38275"/>
            <a:ext cx="2667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FD9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圓角矩形 33">
            <a:extLst xmlns:a="http://schemas.openxmlformats.org/drawingml/2006/main">
              <a:ext uri="{FF2B5EF4-FFF2-40B4-BE49-F238E27FC236}">
                <a16:creationId xmlns:a16="http://schemas.microsoft.com/office/drawing/2014/main" id="{B166ACED-8931-4C4C-983E-A02FE8CE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18669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  <p:txBody>
          <a:bodyPr xmlns:a="http://schemas.openxmlformats.org/drawingml/2006/main" lIns="47625" tIns="0" rIns="47625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01  建立裝置檔案</a:t>
            </a:r>
          </a:p>
        </p:txBody>
      </p:sp>
      <p:sp>
        <p:nvSpPr>
          <p:cNvPr id="35" name="圓角矩形 34">
            <a:extLst xmlns:a="http://schemas.openxmlformats.org/drawingml/2006/main">
              <a:ext uri="{FF2B5EF4-FFF2-40B4-BE49-F238E27FC236}">
                <a16:creationId xmlns:a16="http://schemas.microsoft.com/office/drawing/2014/main" id="{F4B56F87-733C-44E2-80B6-FEBC6D63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14500"/>
            <a:ext cx="18669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  <p:txBody>
          <a:bodyPr xmlns:a="http://schemas.openxmlformats.org/drawingml/2006/main" lIns="47625" tIns="0" rIns="47625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02  描述活動</a:t>
            </a:r>
          </a:p>
        </p:txBody>
      </p:sp>
      <p:sp>
        <p:nvSpPr>
          <p:cNvPr id="36" name="圓角矩形 35">
            <a:extLst xmlns:a="http://schemas.openxmlformats.org/drawingml/2006/main">
              <a:ext uri="{FF2B5EF4-FFF2-40B4-BE49-F238E27FC236}">
                <a16:creationId xmlns:a16="http://schemas.microsoft.com/office/drawing/2014/main" id="{4D00C776-7104-4A09-A292-C913467E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14500"/>
            <a:ext cx="18669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  <p:txBody>
          <a:bodyPr xmlns:a="http://schemas.openxmlformats.org/drawingml/2006/main" lIns="47625" tIns="0" rIns="47625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03  先確認理解</a:t>
            </a:r>
          </a:p>
        </p:txBody>
      </p:sp>
      <p:sp>
        <p:nvSpPr>
          <p:cNvPr id="37" name="圓角矩形 36">
            <a:extLst xmlns:a="http://schemas.openxmlformats.org/drawingml/2006/main">
              <a:ext uri="{FF2B5EF4-FFF2-40B4-BE49-F238E27FC236}">
                <a16:creationId xmlns:a16="http://schemas.microsoft.com/office/drawing/2014/main" id="{E9CFCFFD-29B1-42FD-886F-637CE0C7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14500"/>
            <a:ext cx="18669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563A"/>
          </a:solidFill>
          <a:ln xmlns:a="http://schemas.openxmlformats.org/drawingml/2006/main" w="9525">
            <a:solidFill>
              <a:srgbClr val="14563A"/>
            </a:solidFill>
            <a:prstDash val="solid"/>
          </a:ln>
        </p:spPr>
        <p:txBody>
          <a:bodyPr xmlns:a="http://schemas.openxmlformats.org/drawingml/2006/main" lIns="47625" tIns="0" rIns="47625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04  產生行動卡</a:t>
            </a:r>
          </a:p>
        </p:txBody>
      </p:sp>
      <p:sp>
        <p:nvSpPr>
          <p:cNvPr id="38" name="圓角矩形 37">
            <a:extLst xmlns:a="http://schemas.openxmlformats.org/drawingml/2006/main">
              <a:ext uri="{FF2B5EF4-FFF2-40B4-BE49-F238E27FC236}">
                <a16:creationId xmlns:a16="http://schemas.microsoft.com/office/drawing/2014/main" id="{76DDC68D-3412-4BCD-ADFE-A5DE92E1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714500"/>
            <a:ext cx="18669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  <p:txBody>
          <a:bodyPr xmlns:a="http://schemas.openxmlformats.org/drawingml/2006/main" lIns="47625" tIns="0" rIns="47625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05  留存 Air 日誌</a:t>
            </a:r>
          </a:p>
        </p:txBody>
      </p:sp>
      <p:cxnSp>
        <p:nvCxnSpPr>
          <p:cNvPr id="192" name="直線箭頭接點 97"/>
          <p:cNvCxnSpPr>
            <a:stCxn xmlns:a="http://schemas.openxmlformats.org/drawingml/2006/main" id="34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2438400" y="19240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7A50"/>
            </a:solidFill>
            <a:prstDash val="solid"/>
            <a:tailEnd type="arrow" w="sm" len="sm"/>
          </a:ln>
        </p:spPr>
      </p:cxnSp>
      <p:cxnSp>
        <p:nvCxnSpPr>
          <p:cNvPr id="193" name="直線箭頭接點 98"/>
          <p:cNvCxnSpPr>
            <a:stCxn xmlns:a="http://schemas.openxmlformats.org/drawingml/2006/main" id="35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4686300" y="19240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7A50"/>
            </a:solidFill>
            <a:prstDash val="solid"/>
            <a:tailEnd type="arrow" w="sm" len="sm"/>
          </a:ln>
        </p:spPr>
      </p:cxnSp>
      <p:cxnSp>
        <p:nvCxnSpPr>
          <p:cNvPr id="194" name="直線箭頭接點 99"/>
          <p:cNvCxnSpPr>
            <a:stCxn xmlns:a="http://schemas.openxmlformats.org/drawingml/2006/main" id="36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6934200" y="19240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7A50"/>
            </a:solidFill>
            <a:prstDash val="solid"/>
            <a:tailEnd type="arrow" w="sm" len="sm"/>
          </a:ln>
        </p:spPr>
      </p:cxnSp>
      <p:cxnSp>
        <p:nvCxnSpPr>
          <p:cNvPr id="195" name="直線箭頭接點 100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9182100" y="19240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7A50"/>
            </a:solidFill>
            <a:prstDash val="solid"/>
            <a:tailEnd type="arrow" w="sm" len="sm"/>
          </a:ln>
        </p:spPr>
      </p:cxnSp>
      <p:sp>
        <p:nvSpPr>
          <p:cNvPr id="43" name="flow-1-shadow">
            <a:extLst xmlns:a="http://schemas.openxmlformats.org/drawingml/2006/main">
              <a:ext uri="{FF2B5EF4-FFF2-40B4-BE49-F238E27FC236}">
                <a16:creationId xmlns:a16="http://schemas.microsoft.com/office/drawing/2014/main" id="{365211D0-1BA8-4304-A768-E48CCE3C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BFD8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flow-1-frame">
            <a:extLst xmlns:a="http://schemas.openxmlformats.org/drawingml/2006/main">
              <a:ext uri="{FF2B5EF4-FFF2-40B4-BE49-F238E27FC236}">
                <a16:creationId xmlns:a16="http://schemas.microsoft.com/office/drawing/2014/main" id="{9A81FF5A-A8A5-427D-B75F-A6162896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2410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pic>
        <p:nvPicPr>
          <p:cNvPr id="198" name="圖片 10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80d1ae84a4d72"/>
          <a:srcRect xmlns:a="http://schemas.openxmlformats.org/drawingml/2006/main" l="0" t="11236" r="0" b="112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2400300"/>
            <a:ext cx="1714500" cy="287655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46" name="flow-2-shadow">
            <a:extLst xmlns:a="http://schemas.openxmlformats.org/drawingml/2006/main">
              <a:ext uri="{FF2B5EF4-FFF2-40B4-BE49-F238E27FC236}">
                <a16:creationId xmlns:a16="http://schemas.microsoft.com/office/drawing/2014/main" id="{8842A069-CE37-460C-9990-823D4876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1935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BFD8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flow-2-frame">
            <a:extLst xmlns:a="http://schemas.openxmlformats.org/drawingml/2006/main">
              <a:ext uri="{FF2B5EF4-FFF2-40B4-BE49-F238E27FC236}">
                <a16:creationId xmlns:a16="http://schemas.microsoft.com/office/drawing/2014/main" id="{BEBDCA1E-3EAD-49B8-A3C2-7ED925BE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2410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pic>
        <p:nvPicPr>
          <p:cNvPr id="201" name="圖片 10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6447dc1814d71"/>
          <a:srcRect xmlns:a="http://schemas.openxmlformats.org/drawingml/2006/main" l="0" t="11236" r="0" b="112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95600" y="2400300"/>
            <a:ext cx="1714500" cy="287655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49" name="flow-3-shadow">
            <a:extLst xmlns:a="http://schemas.openxmlformats.org/drawingml/2006/main">
              <a:ext uri="{FF2B5EF4-FFF2-40B4-BE49-F238E27FC236}">
                <a16:creationId xmlns:a16="http://schemas.microsoft.com/office/drawing/2014/main" id="{BDDB3006-71A5-46A9-A69F-FD7343DE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1935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BFD8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flow-3-frame">
            <a:extLst xmlns:a="http://schemas.openxmlformats.org/drawingml/2006/main">
              <a:ext uri="{FF2B5EF4-FFF2-40B4-BE49-F238E27FC236}">
                <a16:creationId xmlns:a16="http://schemas.microsoft.com/office/drawing/2014/main" id="{C99DBC5E-DC1C-42EA-9E4D-E71F1BF1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2410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pic>
        <p:nvPicPr>
          <p:cNvPr id="204" name="圖片 10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4fb574e7464f15"/>
          <a:srcRect xmlns:a="http://schemas.openxmlformats.org/drawingml/2006/main" l="0" t="11236" r="0" b="112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0" y="2400300"/>
            <a:ext cx="1714500" cy="287655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52" name="flow-4-shadow">
            <a:extLst xmlns:a="http://schemas.openxmlformats.org/drawingml/2006/main">
              <a:ext uri="{FF2B5EF4-FFF2-40B4-BE49-F238E27FC236}">
                <a16:creationId xmlns:a16="http://schemas.microsoft.com/office/drawing/2014/main" id="{CB00B5E9-B7FE-4A49-A6BB-46086521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1935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BFD8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flow-4-frame">
            <a:extLst xmlns:a="http://schemas.openxmlformats.org/drawingml/2006/main">
              <a:ext uri="{FF2B5EF4-FFF2-40B4-BE49-F238E27FC236}">
                <a16:creationId xmlns:a16="http://schemas.microsoft.com/office/drawing/2014/main" id="{6A0184DA-7D44-4110-8DF4-4ED4C1D5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2410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pic>
        <p:nvPicPr>
          <p:cNvPr id="207" name="圖片 1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d270fe0d7f4ea1"/>
          <a:srcRect xmlns:a="http://schemas.openxmlformats.org/drawingml/2006/main" l="0" t="11236" r="0" b="112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91400" y="2400300"/>
            <a:ext cx="1714500" cy="287655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55" name="flow-5-shadow">
            <a:extLst xmlns:a="http://schemas.openxmlformats.org/drawingml/2006/main">
              <a:ext uri="{FF2B5EF4-FFF2-40B4-BE49-F238E27FC236}">
                <a16:creationId xmlns:a16="http://schemas.microsoft.com/office/drawing/2014/main" id="{DC9FE4D0-F541-4EE6-BE52-630A5285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1935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BFD8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flow-5-frame">
            <a:extLst xmlns:a="http://schemas.openxmlformats.org/drawingml/2006/main">
              <a:ext uri="{FF2B5EF4-FFF2-40B4-BE49-F238E27FC236}">
                <a16:creationId xmlns:a16="http://schemas.microsoft.com/office/drawing/2014/main" id="{E39756EB-CCC2-4BD0-BD22-DF534D03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24100"/>
            <a:ext cx="1866900" cy="30289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pic>
        <p:nvPicPr>
          <p:cNvPr id="210" name="圖片 1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43b78c08b445d3"/>
          <a:srcRect xmlns:a="http://schemas.openxmlformats.org/drawingml/2006/main" l="0" t="11236" r="0" b="112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39300" y="2400300"/>
            <a:ext cx="1714500" cy="287655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58" name="圓角矩形 57">
            <a:extLst xmlns:a="http://schemas.openxmlformats.org/drawingml/2006/main">
              <a:ext uri="{FF2B5EF4-FFF2-40B4-BE49-F238E27FC236}">
                <a16:creationId xmlns:a16="http://schemas.microsoft.com/office/drawing/2014/main" id="{9BBD82EB-1339-470B-944B-F19DEF2E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11049000" cy="742950"/>
          </a:xfrm>
          <a:prstGeom xmlns:a="http://schemas.openxmlformats.org/drawingml/2006/main" prst="roundRect">
            <a:avLst>
              <a:gd name="adj" fmla="val 20513"/>
            </a:avLst>
          </a:prstGeom>
          <a:solidFill xmlns:a="http://schemas.openxmlformats.org/drawingml/2006/main">
            <a:srgbClr val="145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432B54C2-40DE-4D41-981B-81E32323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57875"/>
            <a:ext cx="1051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服務串接｜Web → Coolify API → 量界智算 → PostgreSQL；日誌與回饋留在裝置。</a:t>
            </a:r>
          </a:p>
        </p:txBody>
      </p:sp>
    </p:spTree>
    <p:extLst>
      <p:ext uri="{BB962C8B-B14F-4D97-AF65-F5344CB8AC3E}">
        <p14:creationId xmlns:p14="http://schemas.microsoft.com/office/powerpoint/2010/main" val="13922613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直線接點 51">
            <a:extLst xmlns:a="http://schemas.openxmlformats.org/drawingml/2006/main">
              <a:ext uri="{FF2B5EF4-FFF2-40B4-BE49-F238E27FC236}">
                <a16:creationId xmlns:a16="http://schemas.microsoft.com/office/drawing/2014/main" id="{01737B18-7D96-4EC6-9270-E6DC6726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" name="直線接點 1">
            <a:extLst xmlns:a="http://schemas.openxmlformats.org/drawingml/2006/main">
              <a:ext uri="{FF2B5EF4-FFF2-40B4-BE49-F238E27FC236}">
                <a16:creationId xmlns:a16="http://schemas.microsoft.com/office/drawing/2014/main" id="{3966EE09-CDB7-4D5B-B60C-6ACE15A9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5118A781-2324-43A3-ABB2-CFED2560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4" name="直線接點 3">
            <a:extLst xmlns:a="http://schemas.openxmlformats.org/drawingml/2006/main">
              <a:ext uri="{FF2B5EF4-FFF2-40B4-BE49-F238E27FC236}">
                <a16:creationId xmlns:a16="http://schemas.microsoft.com/office/drawing/2014/main" id="{319FC2C8-D299-4DF9-8769-D51C186F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5" name="直線接點 4">
            <a:extLst xmlns:a="http://schemas.openxmlformats.org/drawingml/2006/main">
              <a:ext uri="{FF2B5EF4-FFF2-40B4-BE49-F238E27FC236}">
                <a16:creationId xmlns:a16="http://schemas.microsoft.com/office/drawing/2014/main" id="{15435A28-7D18-4F67-8953-013D8969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6" name="直線接點 5">
            <a:extLst xmlns:a="http://schemas.openxmlformats.org/drawingml/2006/main">
              <a:ext uri="{FF2B5EF4-FFF2-40B4-BE49-F238E27FC236}">
                <a16:creationId xmlns:a16="http://schemas.microsoft.com/office/drawing/2014/main" id="{C9930537-6B90-4B50-A308-241AEEB7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7" name="直線接點 6">
            <a:extLst xmlns:a="http://schemas.openxmlformats.org/drawingml/2006/main">
              <a:ext uri="{FF2B5EF4-FFF2-40B4-BE49-F238E27FC236}">
                <a16:creationId xmlns:a16="http://schemas.microsoft.com/office/drawing/2014/main" id="{BE125B4C-A83E-478C-AFA7-29B82FA9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2CAE9A14-106B-4D69-87FF-06F461DA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BA3FC44D-3CDC-41B1-8C6A-BE9BC879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D0CD578A-95C6-4D44-8962-C5B5A733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A81BAD52-DA94-4BF2-8E59-95D6EE70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2F74096C-56F1-457A-8DC2-163CDE39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3" name="直線接點 12">
            <a:extLst xmlns:a="http://schemas.openxmlformats.org/drawingml/2006/main">
              <a:ext uri="{FF2B5EF4-FFF2-40B4-BE49-F238E27FC236}">
                <a16:creationId xmlns:a16="http://schemas.microsoft.com/office/drawing/2014/main" id="{1759DE28-F092-4F86-A6C5-C0437A1C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4" name="直線接點 13">
            <a:extLst xmlns:a="http://schemas.openxmlformats.org/drawingml/2006/main">
              <a:ext uri="{FF2B5EF4-FFF2-40B4-BE49-F238E27FC236}">
                <a16:creationId xmlns:a16="http://schemas.microsoft.com/office/drawing/2014/main" id="{743875C1-DC60-4FE8-A325-A030C7EA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5" name="直線接點 14">
            <a:extLst xmlns:a="http://schemas.openxmlformats.org/drawingml/2006/main">
              <a:ext uri="{FF2B5EF4-FFF2-40B4-BE49-F238E27FC236}">
                <a16:creationId xmlns:a16="http://schemas.microsoft.com/office/drawing/2014/main" id="{7C8156E0-CDF5-4326-BA7C-FE8B10A4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6" name="直線接點 15">
            <a:extLst xmlns:a="http://schemas.openxmlformats.org/drawingml/2006/main">
              <a:ext uri="{FF2B5EF4-FFF2-40B4-BE49-F238E27FC236}">
                <a16:creationId xmlns:a16="http://schemas.microsoft.com/office/drawing/2014/main" id="{5DBF59CC-815F-4B75-8283-A72ABA25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7" name="直線接點 16">
            <a:extLst xmlns:a="http://schemas.openxmlformats.org/drawingml/2006/main">
              <a:ext uri="{FF2B5EF4-FFF2-40B4-BE49-F238E27FC236}">
                <a16:creationId xmlns:a16="http://schemas.microsoft.com/office/drawing/2014/main" id="{C637A70B-9B3E-4109-A2E1-534CCC55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8" name="直線接點 17">
            <a:extLst xmlns:a="http://schemas.openxmlformats.org/drawingml/2006/main">
              <a:ext uri="{FF2B5EF4-FFF2-40B4-BE49-F238E27FC236}">
                <a16:creationId xmlns:a16="http://schemas.microsoft.com/office/drawing/2014/main" id="{C121B8E5-A1A8-4F2C-BD5C-6CB97625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19" name="直線接點 18">
            <a:extLst xmlns:a="http://schemas.openxmlformats.org/drawingml/2006/main">
              <a:ext uri="{FF2B5EF4-FFF2-40B4-BE49-F238E27FC236}">
                <a16:creationId xmlns:a16="http://schemas.microsoft.com/office/drawing/2014/main" id="{D6D90205-6FB5-41F8-A732-0FF59D0C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0" name="直線接點 19">
            <a:extLst xmlns:a="http://schemas.openxmlformats.org/drawingml/2006/main">
              <a:ext uri="{FF2B5EF4-FFF2-40B4-BE49-F238E27FC236}">
                <a16:creationId xmlns:a16="http://schemas.microsoft.com/office/drawing/2014/main" id="{B9F90275-7A17-4BC3-85F6-AF8C313D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1" name="直線接點 20">
            <a:extLst xmlns:a="http://schemas.openxmlformats.org/drawingml/2006/main">
              <a:ext uri="{FF2B5EF4-FFF2-40B4-BE49-F238E27FC236}">
                <a16:creationId xmlns:a16="http://schemas.microsoft.com/office/drawing/2014/main" id="{902E584F-CB44-46F1-BC09-C7B12462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2" name="直線接點 21">
            <a:extLst xmlns:a="http://schemas.openxmlformats.org/drawingml/2006/main">
              <a:ext uri="{FF2B5EF4-FFF2-40B4-BE49-F238E27FC236}">
                <a16:creationId xmlns:a16="http://schemas.microsoft.com/office/drawing/2014/main" id="{D4E4042C-5D60-4F32-B461-D851F1A3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3" name="直線接點 22">
            <a:extLst xmlns:a="http://schemas.openxmlformats.org/drawingml/2006/main">
              <a:ext uri="{FF2B5EF4-FFF2-40B4-BE49-F238E27FC236}">
                <a16:creationId xmlns:a16="http://schemas.microsoft.com/office/drawing/2014/main" id="{F81C71B5-9DB9-45D1-AB80-A42365C7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4" name="直線接點 23">
            <a:extLst xmlns:a="http://schemas.openxmlformats.org/drawingml/2006/main">
              <a:ext uri="{FF2B5EF4-FFF2-40B4-BE49-F238E27FC236}">
                <a16:creationId xmlns:a16="http://schemas.microsoft.com/office/drawing/2014/main" id="{0215C643-3510-4634-B842-F62202A9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5" name="直線接點 24">
            <a:extLst xmlns:a="http://schemas.openxmlformats.org/drawingml/2006/main">
              <a:ext uri="{FF2B5EF4-FFF2-40B4-BE49-F238E27FC236}">
                <a16:creationId xmlns:a16="http://schemas.microsoft.com/office/drawing/2014/main" id="{92B5B1CD-3629-43FB-9003-B9E0EECA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6" name="直線接點 25">
            <a:extLst xmlns:a="http://schemas.openxmlformats.org/drawingml/2006/main">
              <a:ext uri="{FF2B5EF4-FFF2-40B4-BE49-F238E27FC236}">
                <a16:creationId xmlns:a16="http://schemas.microsoft.com/office/drawing/2014/main" id="{588068F7-B1B6-4B0F-A629-35DF53C5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7" name="直線接點 26">
            <a:extLst xmlns:a="http://schemas.openxmlformats.org/drawingml/2006/main">
              <a:ext uri="{FF2B5EF4-FFF2-40B4-BE49-F238E27FC236}">
                <a16:creationId xmlns:a16="http://schemas.microsoft.com/office/drawing/2014/main" id="{39889F4E-0437-4DC3-94E3-6C5807D7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7F2EC"/>
            </a:solidFill>
            <a:prstDash val="solid"/>
          </a:ln>
        </p:spPr>
      </p:sp>
      <p:sp>
        <p:nvSpPr>
          <p:cNvPr id="28" name="decor-bottom-left">
            <a:extLst xmlns:a="http://schemas.openxmlformats.org/drawingml/2006/main">
              <a:ext uri="{FF2B5EF4-FFF2-40B4-BE49-F238E27FC236}">
                <a16:creationId xmlns:a16="http://schemas.microsoft.com/office/drawing/2014/main" id="{FD5C96B8-9D72-45AC-8EA4-1F2676D4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19750"/>
            <a:ext cx="14287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ecor-top-right">
            <a:extLst xmlns:a="http://schemas.openxmlformats.org/drawingml/2006/main">
              <a:ext uri="{FF2B5EF4-FFF2-40B4-BE49-F238E27FC236}">
                <a16:creationId xmlns:a16="http://schemas.microsoft.com/office/drawing/2014/main" id="{5D1AEEE9-2FBB-4E1F-9090-41120DB7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0"/>
            <a:ext cx="11430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圓角矩形 29">
            <a:extLst xmlns:a="http://schemas.openxmlformats.org/drawingml/2006/main">
              <a:ext uri="{FF2B5EF4-FFF2-40B4-BE49-F238E27FC236}">
                <a16:creationId xmlns:a16="http://schemas.microsoft.com/office/drawing/2014/main" id="{A5284423-1349-4E47-894D-ACE7B928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REFLECTION</a:t>
            </a:r>
          </a:p>
        </p:txBody>
      </p:sp>
      <p:sp>
        <p:nvSpPr>
          <p:cNvPr id="3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F67605-F3C3-48AA-8DF9-B74C80FF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四項服務讓 AI 建議可生成、可驗證、可追溯、可保護</a:t>
            </a:r>
          </a:p>
        </p:txBody>
      </p:sp>
      <p:sp>
        <p:nvSpPr>
          <p:cNvPr id="32" name="圓角矩形 31">
            <a:extLst xmlns:a="http://schemas.openxmlformats.org/drawingml/2006/main">
              <a:ext uri="{FF2B5EF4-FFF2-40B4-BE49-F238E27FC236}">
                <a16:creationId xmlns:a16="http://schemas.microsoft.com/office/drawing/2014/main" id="{0EE36DE5-99D6-4B94-B1D3-5D050689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38275"/>
            <a:ext cx="8001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7A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圓角矩形 32">
            <a:extLst xmlns:a="http://schemas.openxmlformats.org/drawingml/2006/main">
              <a:ext uri="{FF2B5EF4-FFF2-40B4-BE49-F238E27FC236}">
                <a16:creationId xmlns:a16="http://schemas.microsoft.com/office/drawing/2014/main" id="{ACD32EE5-D35A-4852-B7A3-5D5F5602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438275"/>
            <a:ext cx="2667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FD9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圓角矩形 33">
            <a:extLst xmlns:a="http://schemas.openxmlformats.org/drawingml/2006/main">
              <a:ext uri="{FF2B5EF4-FFF2-40B4-BE49-F238E27FC236}">
                <a16:creationId xmlns:a16="http://schemas.microsoft.com/office/drawing/2014/main" id="{5902D7BD-F54B-4DD9-BB33-4BA3E999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7239000" cy="3000376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14563A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33C1628D-DF6D-48D2-AB8E-8E0AEFEF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AEE6C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AEE6C5"/>
                </a:solidFill>
                <a:latin typeface="Arial Unicode MS"/>
                <a:ea typeface="Arial Unicode MS"/>
                <a:cs typeface="Arial Unicode MS"/>
              </a:rPr>
              <a:t>這次雛形最大的收穫</a:t>
            </a: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1B5B03D1-EF85-46EA-B902-AD80A8C1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628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雲端不是堆疊服務</a:t>
            </a:r>
            <a:r>
              <a: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，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而是把敏感情境隔離在可信後端</a:t>
            </a:r>
            <a:r>
              <a: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，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讓</a:t>
            </a:r>
            <a:r>
              <a: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 AI </a:t>
            </a:r>
            <a:r>
              <a: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只在官方底線內工作</a:t>
            </a:r>
            <a:r>
              <a:rPr sz="26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37" name="圓角矩形 36">
            <a:extLst xmlns:a="http://schemas.openxmlformats.org/drawingml/2006/main">
              <a:ext uri="{FF2B5EF4-FFF2-40B4-BE49-F238E27FC236}">
                <a16:creationId xmlns:a16="http://schemas.microsoft.com/office/drawing/2014/main" id="{D23CCA1B-E4DC-4CB0-932C-E4045868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05000"/>
            <a:ext cx="34290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CC913B5B-FBBA-4AEB-9F34-1509F0BE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76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7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170／170</a:t>
            </a:r>
          </a:p>
        </p:txBody>
      </p:sp>
      <p:sp>
        <p:nvSpPr>
          <p:cNvPr id="39" name="圓角矩形 38">
            <a:extLst xmlns:a="http://schemas.openxmlformats.org/drawingml/2006/main">
              <a:ext uri="{FF2B5EF4-FFF2-40B4-BE49-F238E27FC236}">
                <a16:creationId xmlns:a16="http://schemas.microsoft.com/office/drawing/2014/main" id="{3B193838-5144-49E4-8442-5EB74A6C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133600"/>
            <a:ext cx="12573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F4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237A50"/>
                </a:solidFill>
                <a:latin typeface="Arial Unicode MS"/>
                <a:ea typeface="Arial Unicode MS"/>
                <a:cs typeface="Arial Unicode MS"/>
              </a:rPr>
              <a:t>自動化測試</a:t>
            </a:r>
          </a:p>
        </p:txBody>
      </p:sp>
      <p:sp>
        <p:nvSpPr>
          <p:cNvPr id="40" name="圓角矩形 39">
            <a:extLst xmlns:a="http://schemas.openxmlformats.org/drawingml/2006/main">
              <a:ext uri="{FF2B5EF4-FFF2-40B4-BE49-F238E27FC236}">
                <a16:creationId xmlns:a16="http://schemas.microsoft.com/office/drawing/2014/main" id="{8F1BE810-86F1-41E6-8A52-F9478FCE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71800"/>
            <a:ext cx="34290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253E4658-72DB-4895-A9BE-D67C374B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7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rPr>
              <a:t>30／30</a:t>
            </a:r>
          </a:p>
        </p:txBody>
      </p:sp>
      <p:sp>
        <p:nvSpPr>
          <p:cNvPr id="42" name="圓角矩形 41">
            <a:extLst xmlns:a="http://schemas.openxmlformats.org/drawingml/2006/main">
              <a:ext uri="{FF2B5EF4-FFF2-40B4-BE49-F238E27FC236}">
                <a16:creationId xmlns:a16="http://schemas.microsoft.com/office/drawing/2014/main" id="{DB9B0A3E-B2EC-467C-88CC-C89FA72B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200400"/>
            <a:ext cx="12573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2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rPr>
              <a:t>安全評估案例</a:t>
            </a:r>
          </a:p>
        </p:txBody>
      </p:sp>
      <p:sp>
        <p:nvSpPr>
          <p:cNvPr id="43" name="圓角矩形 42">
            <a:extLst xmlns:a="http://schemas.openxmlformats.org/drawingml/2006/main">
              <a:ext uri="{FF2B5EF4-FFF2-40B4-BE49-F238E27FC236}">
                <a16:creationId xmlns:a16="http://schemas.microsoft.com/office/drawing/2014/main" id="{C5D39395-C00C-4E98-8B06-84ACFEC1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38600"/>
            <a:ext cx="34290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A99C58AB-98B4-421D-A90E-F25258A1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100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7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  <p:sp>
        <p:nvSpPr>
          <p:cNvPr id="45" name="圓角矩形 44">
            <a:extLst xmlns:a="http://schemas.openxmlformats.org/drawingml/2006/main">
              <a:ext uri="{FF2B5EF4-FFF2-40B4-BE49-F238E27FC236}">
                <a16:creationId xmlns:a16="http://schemas.microsoft.com/office/drawing/2014/main" id="{02A7A269-FF87-49E6-9294-F02A41A7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267200"/>
            <a:ext cx="12573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B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rPr>
              <a:t>Web 靜態路由</a:t>
            </a:r>
          </a:p>
        </p:txBody>
      </p:sp>
      <p:sp>
        <p:nvSpPr>
          <p:cNvPr id="46" name="圓角矩形 45">
            <a:extLst xmlns:a="http://schemas.openxmlformats.org/drawingml/2006/main">
              <a:ext uri="{FF2B5EF4-FFF2-40B4-BE49-F238E27FC236}">
                <a16:creationId xmlns:a16="http://schemas.microsoft.com/office/drawing/2014/main" id="{0119544A-9ABF-4DB1-82C9-299D5E0D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2381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2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694B93"/>
                </a:solidFill>
                <a:latin typeface="Arial Unicode MS"/>
                <a:ea typeface="Arial Unicode MS"/>
                <a:cs typeface="Arial Unicode MS"/>
              </a:rPr>
              <a:t>量界智算</a:t>
            </a:r>
          </a:p>
        </p:txBody>
      </p:sp>
      <p:sp>
        <p:nvSpPr>
          <p:cNvPr id="47" name="圓角矩形 46">
            <a:extLst xmlns:a="http://schemas.openxmlformats.org/drawingml/2006/main">
              <a:ext uri="{FF2B5EF4-FFF2-40B4-BE49-F238E27FC236}">
                <a16:creationId xmlns:a16="http://schemas.microsoft.com/office/drawing/2014/main" id="{55BAD50B-A739-4C1A-A11D-3F230DFC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48250"/>
            <a:ext cx="2381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F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246B91"/>
                </a:solidFill>
                <a:latin typeface="Arial Unicode MS"/>
                <a:ea typeface="Arial Unicode MS"/>
                <a:cs typeface="Arial Unicode MS"/>
              </a:rPr>
              <a:t>Coolify API</a:t>
            </a:r>
          </a:p>
        </p:txBody>
      </p:sp>
      <p:sp>
        <p:nvSpPr>
          <p:cNvPr id="48" name="圓角矩形 47">
            <a:extLst xmlns:a="http://schemas.openxmlformats.org/drawingml/2006/main">
              <a:ext uri="{FF2B5EF4-FFF2-40B4-BE49-F238E27FC236}">
                <a16:creationId xmlns:a16="http://schemas.microsoft.com/office/drawing/2014/main" id="{68246217-5FF5-474C-B989-D08F553F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48250"/>
            <a:ext cx="2381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B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D89B18"/>
                </a:solidFill>
                <a:latin typeface="Arial Unicode MS"/>
                <a:ea typeface="Arial Unicode MS"/>
                <a:cs typeface="Arial Unicode MS"/>
              </a:rPr>
              <a:t>Nginx Web</a:t>
            </a:r>
          </a:p>
        </p:txBody>
      </p:sp>
      <p:sp>
        <p:nvSpPr>
          <p:cNvPr id="49" name="圓角矩形 48">
            <a:extLst xmlns:a="http://schemas.openxmlformats.org/drawingml/2006/main">
              <a:ext uri="{FF2B5EF4-FFF2-40B4-BE49-F238E27FC236}">
                <a16:creationId xmlns:a16="http://schemas.microsoft.com/office/drawing/2014/main" id="{77979B94-5173-4F3C-857F-CD14CE85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48250"/>
            <a:ext cx="2381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D9C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A94C2E"/>
                </a:solidFill>
                <a:latin typeface="Arial Unicode MS"/>
                <a:ea typeface="Arial Unicode MS"/>
                <a:cs typeface="Arial Unicode MS"/>
              </a:rPr>
              <a:t>PostgreSQL</a:t>
            </a:r>
          </a:p>
        </p:txBody>
      </p:sp>
      <p:sp>
        <p:nvSpPr>
          <p:cNvPr id="50" name="圓角矩形 49">
            <a:extLst xmlns:a="http://schemas.openxmlformats.org/drawingml/2006/main">
              <a:ext uri="{FF2B5EF4-FFF2-40B4-BE49-F238E27FC236}">
                <a16:creationId xmlns:a16="http://schemas.microsoft.com/office/drawing/2014/main" id="{65C054A6-0E47-4625-9E3A-8CAFE366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7375"/>
            <a:ext cx="11049000" cy="781050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E3D6"/>
            </a:solidFill>
            <a:prstDash val="solid"/>
          </a:ln>
        </p:spPr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5996A5BD-E20C-43B1-A9CF-D48B4197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48350"/>
            <a:ext cx="1043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結論｜AirMe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 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已把最重要的垂直流程做成可重播雛形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：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自然語言輸入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 → 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環境與規則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 → 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結構化行動卡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 → 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安全追問與裝置端紀錄</a:t>
            </a:r>
            <a:r>
              <a:rPr sz="1650" b="1">
                <a:solidFill>
                  <a:srgbClr val="173B2A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0712513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2026-07-19T04:38:07.8160000Z</dcterms:created>
  <dcterms:modified xsi:type="dcterms:W3CDTF">2026-07-19T04:38:07.8160000Z</dcterms:modified>
</coreProperties>
</file>